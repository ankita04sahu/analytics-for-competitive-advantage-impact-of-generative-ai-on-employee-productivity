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1" r:id="rId3"/>
    <p:sldId id="257" r:id="rId4"/>
    <p:sldId id="258" r:id="rId5"/>
    <p:sldId id="259" r:id="rId6"/>
    <p:sldId id="260" r:id="rId7"/>
    <p:sldId id="263" r:id="rId8"/>
    <p:sldId id="264" r:id="rId9"/>
    <p:sldId id="265" r:id="rId10"/>
    <p:sldId id="266" r:id="rId11"/>
    <p:sldId id="267" r:id="rId12"/>
    <p:sldId id="268" r:id="rId13"/>
    <p:sldId id="269" r:id="rId14"/>
    <p:sldId id="271" r:id="rId15"/>
    <p:sldId id="272" r:id="rId16"/>
    <p:sldId id="270" r:id="rId17"/>
    <p:sldId id="273" r:id="rId18"/>
    <p:sldId id="274" r:id="rId19"/>
    <p:sldId id="275" r:id="rId20"/>
    <p:sldId id="262"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snapToObjects="1">
      <p:cViewPr varScale="1">
        <p:scale>
          <a:sx n="78" d="100"/>
          <a:sy n="78" d="100"/>
        </p:scale>
        <p:origin x="15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5.svg"/><Relationship Id="rId5" Type="http://schemas.openxmlformats.org/officeDocument/2006/relationships/image" Target="../media/image16.svg"/><Relationship Id="rId4" Type="http://schemas.openxmlformats.org/officeDocument/2006/relationships/image" Target="../media/image15.svg"/></Relationships>
</file>

<file path=ppt/diagrams/_rels/data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16.svg"/><Relationship Id="rId5" Type="http://schemas.openxmlformats.org/officeDocument/2006/relationships/image" Target="../media/image28.svg"/><Relationship Id="rId4" Type="http://schemas.openxmlformats.org/officeDocument/2006/relationships/image" Target="../media/image27.svg"/></Relationships>
</file>

<file path=ppt/diagrams/_rels/data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5.svg"/><Relationship Id="rId5" Type="http://schemas.openxmlformats.org/officeDocument/2006/relationships/image" Target="../media/image16.svg"/><Relationship Id="rId4" Type="http://schemas.openxmlformats.org/officeDocument/2006/relationships/image" Target="../media/image1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16.svg"/><Relationship Id="rId5" Type="http://schemas.openxmlformats.org/officeDocument/2006/relationships/image" Target="../media/image28.svg"/><Relationship Id="rId4" Type="http://schemas.openxmlformats.org/officeDocument/2006/relationships/image" Target="../media/image27.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16261C-A406-4B59-B2C8-0BE2C33D9D2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E2687E4-F42A-458C-A3E5-CADB986AE717}">
      <dgm:prSet custT="1"/>
      <dgm:spPr/>
      <dgm:t>
        <a:bodyPr/>
        <a:lstStyle/>
        <a:p>
          <a:pPr>
            <a:lnSpc>
              <a:spcPct val="100000"/>
            </a:lnSpc>
          </a:pPr>
          <a:r>
            <a:rPr lang="en-US" sz="1800" dirty="0"/>
            <a:t>AI Transformation: Artificial Intelligence is reshaping the IT services sector by enhancing efficiency and enabling data-driven decision-making.</a:t>
          </a:r>
        </a:p>
        <a:p>
          <a:pPr>
            <a:lnSpc>
              <a:spcPct val="100000"/>
            </a:lnSpc>
          </a:pPr>
          <a:endParaRPr lang="en-US" sz="1800" dirty="0"/>
        </a:p>
      </dgm:t>
    </dgm:pt>
    <dgm:pt modelId="{2944F7CD-A588-4646-B919-54E4C694A867}" type="parTrans" cxnId="{B5C50D8B-31A1-4EF6-AD04-9B3A0B78D80B}">
      <dgm:prSet/>
      <dgm:spPr/>
      <dgm:t>
        <a:bodyPr/>
        <a:lstStyle/>
        <a:p>
          <a:endParaRPr lang="en-US"/>
        </a:p>
      </dgm:t>
    </dgm:pt>
    <dgm:pt modelId="{02C914FD-FB1A-4EC0-A495-9BBAC70E290F}" type="sibTrans" cxnId="{B5C50D8B-31A1-4EF6-AD04-9B3A0B78D80B}">
      <dgm:prSet/>
      <dgm:spPr/>
      <dgm:t>
        <a:bodyPr/>
        <a:lstStyle/>
        <a:p>
          <a:endParaRPr lang="en-US"/>
        </a:p>
      </dgm:t>
    </dgm:pt>
    <dgm:pt modelId="{2E8B3440-0E70-4A8A-AEFB-F8576C637EA0}">
      <dgm:prSet custT="1"/>
      <dgm:spPr/>
      <dgm:t>
        <a:bodyPr/>
        <a:lstStyle/>
        <a:p>
          <a:pPr>
            <a:lnSpc>
              <a:spcPct val="100000"/>
            </a:lnSpc>
          </a:pPr>
          <a:r>
            <a:rPr lang="en-US" sz="1800" kern="1200" dirty="0">
              <a:solidFill>
                <a:prstClr val="black">
                  <a:hueOff val="0"/>
                  <a:satOff val="0"/>
                  <a:lumOff val="0"/>
                  <a:alphaOff val="0"/>
                </a:prstClr>
              </a:solidFill>
              <a:latin typeface="Calibri"/>
              <a:ea typeface="+mn-ea"/>
              <a:cs typeface="+mn-cs"/>
            </a:rPr>
            <a:t>IT Industry Reliance: The sector depends on knowledge-based work like software development and data analysis, which are now being transformed by AI-driven automation.</a:t>
          </a:r>
          <a:endParaRPr lang="en-IN" sz="1800" kern="1200" dirty="0">
            <a:solidFill>
              <a:prstClr val="black">
                <a:hueOff val="0"/>
                <a:satOff val="0"/>
                <a:lumOff val="0"/>
                <a:alphaOff val="0"/>
              </a:prstClr>
            </a:solidFill>
            <a:latin typeface="Calibri"/>
            <a:ea typeface="+mn-ea"/>
            <a:cs typeface="+mn-cs"/>
          </a:endParaRPr>
        </a:p>
      </dgm:t>
    </dgm:pt>
    <dgm:pt modelId="{3F1F83F8-1592-4016-8EB6-C222A05F34D0}" type="parTrans" cxnId="{ABD9E366-5DE4-41EB-A20B-8ED0E4FD7BE6}">
      <dgm:prSet/>
      <dgm:spPr/>
      <dgm:t>
        <a:bodyPr/>
        <a:lstStyle/>
        <a:p>
          <a:endParaRPr lang="en-IN"/>
        </a:p>
      </dgm:t>
    </dgm:pt>
    <dgm:pt modelId="{1218A3D9-FEE1-43CC-9463-18F0FDA7FBEC}" type="sibTrans" cxnId="{ABD9E366-5DE4-41EB-A20B-8ED0E4FD7BE6}">
      <dgm:prSet/>
      <dgm:spPr/>
      <dgm:t>
        <a:bodyPr/>
        <a:lstStyle/>
        <a:p>
          <a:endParaRPr lang="en-IN"/>
        </a:p>
      </dgm:t>
    </dgm:pt>
    <dgm:pt modelId="{0120FC85-07D8-4381-BFFB-143DAD4D985E}">
      <dgm:prSet/>
      <dgm:spPr/>
      <dgm:t>
        <a:bodyPr/>
        <a:lstStyle/>
        <a:p>
          <a:pPr>
            <a:lnSpc>
              <a:spcPct val="100000"/>
            </a:lnSpc>
          </a:pPr>
          <a:r>
            <a:rPr lang="en-US"/>
            <a:t>Role of Generative AI: Unlike traditional AI, Generative AI creates content (text, code, insights), significantly reducing manual effort and improving output quality.</a:t>
          </a:r>
          <a:endParaRPr lang="en-IN"/>
        </a:p>
      </dgm:t>
    </dgm:pt>
    <dgm:pt modelId="{E233616B-D545-4D8A-9875-EA55DD94C8D8}" type="parTrans" cxnId="{1628D383-F405-43EA-B6B5-D452A7E00D1A}">
      <dgm:prSet/>
      <dgm:spPr/>
      <dgm:t>
        <a:bodyPr/>
        <a:lstStyle/>
        <a:p>
          <a:endParaRPr lang="en-IN"/>
        </a:p>
      </dgm:t>
    </dgm:pt>
    <dgm:pt modelId="{2AFD2E7C-88C3-4EB1-952D-9E459D21FC4D}" type="sibTrans" cxnId="{1628D383-F405-43EA-B6B5-D452A7E00D1A}">
      <dgm:prSet/>
      <dgm:spPr/>
      <dgm:t>
        <a:bodyPr/>
        <a:lstStyle/>
        <a:p>
          <a:endParaRPr lang="en-IN"/>
        </a:p>
      </dgm:t>
    </dgm:pt>
    <dgm:pt modelId="{1E6D59D9-2047-41A3-8F9D-6ADE04995107}" type="pres">
      <dgm:prSet presAssocID="{E716261C-A406-4B59-B2C8-0BE2C33D9D23}" presName="root" presStyleCnt="0">
        <dgm:presLayoutVars>
          <dgm:dir/>
          <dgm:resizeHandles val="exact"/>
        </dgm:presLayoutVars>
      </dgm:prSet>
      <dgm:spPr/>
    </dgm:pt>
    <dgm:pt modelId="{A495D8F5-B258-4F20-8C7B-5DE82CA811ED}" type="pres">
      <dgm:prSet presAssocID="{BE2687E4-F42A-458C-A3E5-CADB986AE717}" presName="compNode" presStyleCnt="0"/>
      <dgm:spPr/>
    </dgm:pt>
    <dgm:pt modelId="{CBD842FC-7692-4B4E-966A-CC3410238EFF}" type="pres">
      <dgm:prSet presAssocID="{BE2687E4-F42A-458C-A3E5-CADB986AE717}" presName="bgRect" presStyleLbl="bgShp" presStyleIdx="0" presStyleCnt="3" custLinFactNeighborX="5528" custLinFactNeighborY="-29157"/>
      <dgm:spPr/>
    </dgm:pt>
    <dgm:pt modelId="{B4AD163C-83EB-4E42-A4E5-008A6590A794}" type="pres">
      <dgm:prSet presAssocID="{BE2687E4-F42A-458C-A3E5-CADB986AE71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Japanese Dolls"/>
        </a:ext>
      </dgm:extLst>
    </dgm:pt>
    <dgm:pt modelId="{4617E4B4-D583-41B5-B715-491A1B6F2785}" type="pres">
      <dgm:prSet presAssocID="{BE2687E4-F42A-458C-A3E5-CADB986AE717}" presName="spaceRect" presStyleCnt="0"/>
      <dgm:spPr/>
    </dgm:pt>
    <dgm:pt modelId="{E5CD2C1C-C37B-4363-8C0F-658D9BC958A3}" type="pres">
      <dgm:prSet presAssocID="{BE2687E4-F42A-458C-A3E5-CADB986AE717}" presName="parTx" presStyleLbl="revTx" presStyleIdx="0" presStyleCnt="3" custLinFactNeighborX="-4357" custLinFactNeighborY="-37702">
        <dgm:presLayoutVars>
          <dgm:chMax val="0"/>
          <dgm:chPref val="0"/>
        </dgm:presLayoutVars>
      </dgm:prSet>
      <dgm:spPr/>
    </dgm:pt>
    <dgm:pt modelId="{5E61A2EF-5E3D-4272-AC9F-C150C28BAC7D}" type="pres">
      <dgm:prSet presAssocID="{02C914FD-FB1A-4EC0-A495-9BBAC70E290F}" presName="sibTrans" presStyleCnt="0"/>
      <dgm:spPr/>
    </dgm:pt>
    <dgm:pt modelId="{D63502AA-0E9F-4166-85BF-3962D2F64300}" type="pres">
      <dgm:prSet presAssocID="{2E8B3440-0E70-4A8A-AEFB-F8576C637EA0}" presName="compNode" presStyleCnt="0"/>
      <dgm:spPr/>
    </dgm:pt>
    <dgm:pt modelId="{E81DFD52-22C2-41CA-88F2-9C8908FA92B7}" type="pres">
      <dgm:prSet presAssocID="{2E8B3440-0E70-4A8A-AEFB-F8576C637EA0}" presName="bgRect" presStyleLbl="bgShp" presStyleIdx="1" presStyleCnt="3"/>
      <dgm:spPr/>
    </dgm:pt>
    <dgm:pt modelId="{5BF32FF6-7277-4760-8E0F-A6707B4B4F42}" type="pres">
      <dgm:prSet presAssocID="{2E8B3440-0E70-4A8A-AEFB-F8576C637EA0}"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r graph with upward trend with solid fill"/>
        </a:ext>
      </dgm:extLst>
    </dgm:pt>
    <dgm:pt modelId="{3B7710D8-3D6D-480E-977E-AE919CC274E1}" type="pres">
      <dgm:prSet presAssocID="{2E8B3440-0E70-4A8A-AEFB-F8576C637EA0}" presName="spaceRect" presStyleCnt="0"/>
      <dgm:spPr/>
    </dgm:pt>
    <dgm:pt modelId="{A195029D-A7BE-4227-93CA-1330E1D8886E}" type="pres">
      <dgm:prSet presAssocID="{2E8B3440-0E70-4A8A-AEFB-F8576C637EA0}" presName="parTx" presStyleLbl="revTx" presStyleIdx="1" presStyleCnt="3">
        <dgm:presLayoutVars>
          <dgm:chMax val="0"/>
          <dgm:chPref val="0"/>
        </dgm:presLayoutVars>
      </dgm:prSet>
      <dgm:spPr/>
    </dgm:pt>
    <dgm:pt modelId="{24F92FB0-48B7-4FD3-A516-F5C43334CEF9}" type="pres">
      <dgm:prSet presAssocID="{1218A3D9-FEE1-43CC-9463-18F0FDA7FBEC}" presName="sibTrans" presStyleCnt="0"/>
      <dgm:spPr/>
    </dgm:pt>
    <dgm:pt modelId="{D8A77CA0-E865-440B-9AC0-8C6A095C3B98}" type="pres">
      <dgm:prSet presAssocID="{0120FC85-07D8-4381-BFFB-143DAD4D985E}" presName="compNode" presStyleCnt="0"/>
      <dgm:spPr/>
    </dgm:pt>
    <dgm:pt modelId="{58886BFB-5769-4FD5-82AC-15034361683B}" type="pres">
      <dgm:prSet presAssocID="{0120FC85-07D8-4381-BFFB-143DAD4D985E}" presName="bgRect" presStyleLbl="bgShp" presStyleIdx="2" presStyleCnt="3"/>
      <dgm:spPr/>
    </dgm:pt>
    <dgm:pt modelId="{E21A1DA2-A3C1-4024-8F5B-8044BF07AFFD}" type="pres">
      <dgm:prSet presAssocID="{0120FC85-07D8-4381-BFFB-143DAD4D985E}"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Robot Hand with solid fill"/>
        </a:ext>
      </dgm:extLst>
    </dgm:pt>
    <dgm:pt modelId="{BAB5E4D1-F739-4D9F-B346-F18F9C6654D4}" type="pres">
      <dgm:prSet presAssocID="{0120FC85-07D8-4381-BFFB-143DAD4D985E}" presName="spaceRect" presStyleCnt="0"/>
      <dgm:spPr/>
    </dgm:pt>
    <dgm:pt modelId="{8EEE025A-C947-4F72-B956-02F290708703}" type="pres">
      <dgm:prSet presAssocID="{0120FC85-07D8-4381-BFFB-143DAD4D985E}" presName="parTx" presStyleLbl="revTx" presStyleIdx="2" presStyleCnt="3">
        <dgm:presLayoutVars>
          <dgm:chMax val="0"/>
          <dgm:chPref val="0"/>
        </dgm:presLayoutVars>
      </dgm:prSet>
      <dgm:spPr/>
    </dgm:pt>
  </dgm:ptLst>
  <dgm:cxnLst>
    <dgm:cxn modelId="{ABD9E366-5DE4-41EB-A20B-8ED0E4FD7BE6}" srcId="{E716261C-A406-4B59-B2C8-0BE2C33D9D23}" destId="{2E8B3440-0E70-4A8A-AEFB-F8576C637EA0}" srcOrd="1" destOrd="0" parTransId="{3F1F83F8-1592-4016-8EB6-C222A05F34D0}" sibTransId="{1218A3D9-FEE1-43CC-9463-18F0FDA7FBEC}"/>
    <dgm:cxn modelId="{CA439871-548B-452F-8070-8D9E23157B9E}" type="presOf" srcId="{2E8B3440-0E70-4A8A-AEFB-F8576C637EA0}" destId="{A195029D-A7BE-4227-93CA-1330E1D8886E}" srcOrd="0" destOrd="0" presId="urn:microsoft.com/office/officeart/2018/2/layout/IconVerticalSolidList"/>
    <dgm:cxn modelId="{1628D383-F405-43EA-B6B5-D452A7E00D1A}" srcId="{E716261C-A406-4B59-B2C8-0BE2C33D9D23}" destId="{0120FC85-07D8-4381-BFFB-143DAD4D985E}" srcOrd="2" destOrd="0" parTransId="{E233616B-D545-4D8A-9875-EA55DD94C8D8}" sibTransId="{2AFD2E7C-88C3-4EB1-952D-9E459D21FC4D}"/>
    <dgm:cxn modelId="{B5C50D8B-31A1-4EF6-AD04-9B3A0B78D80B}" srcId="{E716261C-A406-4B59-B2C8-0BE2C33D9D23}" destId="{BE2687E4-F42A-458C-A3E5-CADB986AE717}" srcOrd="0" destOrd="0" parTransId="{2944F7CD-A588-4646-B919-54E4C694A867}" sibTransId="{02C914FD-FB1A-4EC0-A495-9BBAC70E290F}"/>
    <dgm:cxn modelId="{8908139D-7C0F-41DC-9D18-A55A08B3CFB5}" type="presOf" srcId="{E716261C-A406-4B59-B2C8-0BE2C33D9D23}" destId="{1E6D59D9-2047-41A3-8F9D-6ADE04995107}" srcOrd="0" destOrd="0" presId="urn:microsoft.com/office/officeart/2018/2/layout/IconVerticalSolidList"/>
    <dgm:cxn modelId="{CB909B9D-EF11-4AAA-9ED7-F78C939378FA}" type="presOf" srcId="{0120FC85-07D8-4381-BFFB-143DAD4D985E}" destId="{8EEE025A-C947-4F72-B956-02F290708703}" srcOrd="0" destOrd="0" presId="urn:microsoft.com/office/officeart/2018/2/layout/IconVerticalSolidList"/>
    <dgm:cxn modelId="{83A9CDFF-7D25-4F6E-A1CA-0D4AEA40419E}" type="presOf" srcId="{BE2687E4-F42A-458C-A3E5-CADB986AE717}" destId="{E5CD2C1C-C37B-4363-8C0F-658D9BC958A3}" srcOrd="0" destOrd="0" presId="urn:microsoft.com/office/officeart/2018/2/layout/IconVerticalSolidList"/>
    <dgm:cxn modelId="{5CA08B72-C2F4-4F39-B27A-E77F3EE4945D}" type="presParOf" srcId="{1E6D59D9-2047-41A3-8F9D-6ADE04995107}" destId="{A495D8F5-B258-4F20-8C7B-5DE82CA811ED}" srcOrd="0" destOrd="0" presId="urn:microsoft.com/office/officeart/2018/2/layout/IconVerticalSolidList"/>
    <dgm:cxn modelId="{527CD302-21F8-42F5-A8B9-3716630C8BD6}" type="presParOf" srcId="{A495D8F5-B258-4F20-8C7B-5DE82CA811ED}" destId="{CBD842FC-7692-4B4E-966A-CC3410238EFF}" srcOrd="0" destOrd="0" presId="urn:microsoft.com/office/officeart/2018/2/layout/IconVerticalSolidList"/>
    <dgm:cxn modelId="{7B5E1897-AF8B-4259-A2AD-945755C0F064}" type="presParOf" srcId="{A495D8F5-B258-4F20-8C7B-5DE82CA811ED}" destId="{B4AD163C-83EB-4E42-A4E5-008A6590A794}" srcOrd="1" destOrd="0" presId="urn:microsoft.com/office/officeart/2018/2/layout/IconVerticalSolidList"/>
    <dgm:cxn modelId="{BAA98AA8-3D50-4B6C-8220-259D1796FB40}" type="presParOf" srcId="{A495D8F5-B258-4F20-8C7B-5DE82CA811ED}" destId="{4617E4B4-D583-41B5-B715-491A1B6F2785}" srcOrd="2" destOrd="0" presId="urn:microsoft.com/office/officeart/2018/2/layout/IconVerticalSolidList"/>
    <dgm:cxn modelId="{12E9E311-F87A-4718-8E7C-CF4BA7E32A72}" type="presParOf" srcId="{A495D8F5-B258-4F20-8C7B-5DE82CA811ED}" destId="{E5CD2C1C-C37B-4363-8C0F-658D9BC958A3}" srcOrd="3" destOrd="0" presId="urn:microsoft.com/office/officeart/2018/2/layout/IconVerticalSolidList"/>
    <dgm:cxn modelId="{38E68540-853B-4512-BA8D-C3C652BDAF67}" type="presParOf" srcId="{1E6D59D9-2047-41A3-8F9D-6ADE04995107}" destId="{5E61A2EF-5E3D-4272-AC9F-C150C28BAC7D}" srcOrd="1" destOrd="0" presId="urn:microsoft.com/office/officeart/2018/2/layout/IconVerticalSolidList"/>
    <dgm:cxn modelId="{B22433FA-AF5F-4F51-BBED-F6E84687661C}" type="presParOf" srcId="{1E6D59D9-2047-41A3-8F9D-6ADE04995107}" destId="{D63502AA-0E9F-4166-85BF-3962D2F64300}" srcOrd="2" destOrd="0" presId="urn:microsoft.com/office/officeart/2018/2/layout/IconVerticalSolidList"/>
    <dgm:cxn modelId="{A6E5385D-F37F-493A-A8E3-6C4AEA55C5B4}" type="presParOf" srcId="{D63502AA-0E9F-4166-85BF-3962D2F64300}" destId="{E81DFD52-22C2-41CA-88F2-9C8908FA92B7}" srcOrd="0" destOrd="0" presId="urn:microsoft.com/office/officeart/2018/2/layout/IconVerticalSolidList"/>
    <dgm:cxn modelId="{36445551-92A9-4D54-A369-61F945F32BE6}" type="presParOf" srcId="{D63502AA-0E9F-4166-85BF-3962D2F64300}" destId="{5BF32FF6-7277-4760-8E0F-A6707B4B4F42}" srcOrd="1" destOrd="0" presId="urn:microsoft.com/office/officeart/2018/2/layout/IconVerticalSolidList"/>
    <dgm:cxn modelId="{1932BFD4-6B6E-4FC2-AF61-7D3965E9F099}" type="presParOf" srcId="{D63502AA-0E9F-4166-85BF-3962D2F64300}" destId="{3B7710D8-3D6D-480E-977E-AE919CC274E1}" srcOrd="2" destOrd="0" presId="urn:microsoft.com/office/officeart/2018/2/layout/IconVerticalSolidList"/>
    <dgm:cxn modelId="{B963207E-8268-4A08-BF28-F027AE09F5C9}" type="presParOf" srcId="{D63502AA-0E9F-4166-85BF-3962D2F64300}" destId="{A195029D-A7BE-4227-93CA-1330E1D8886E}" srcOrd="3" destOrd="0" presId="urn:microsoft.com/office/officeart/2018/2/layout/IconVerticalSolidList"/>
    <dgm:cxn modelId="{5EC6389F-D148-45D3-84C8-F59F7FE2459C}" type="presParOf" srcId="{1E6D59D9-2047-41A3-8F9D-6ADE04995107}" destId="{24F92FB0-48B7-4FD3-A516-F5C43334CEF9}" srcOrd="3" destOrd="0" presId="urn:microsoft.com/office/officeart/2018/2/layout/IconVerticalSolidList"/>
    <dgm:cxn modelId="{AE65FC8A-F473-4D29-8AF3-9CAE8D62B2D1}" type="presParOf" srcId="{1E6D59D9-2047-41A3-8F9D-6ADE04995107}" destId="{D8A77CA0-E865-440B-9AC0-8C6A095C3B98}" srcOrd="4" destOrd="0" presId="urn:microsoft.com/office/officeart/2018/2/layout/IconVerticalSolidList"/>
    <dgm:cxn modelId="{F50B6475-4BD2-4E83-8834-C2D84AAE436B}" type="presParOf" srcId="{D8A77CA0-E865-440B-9AC0-8C6A095C3B98}" destId="{58886BFB-5769-4FD5-82AC-15034361683B}" srcOrd="0" destOrd="0" presId="urn:microsoft.com/office/officeart/2018/2/layout/IconVerticalSolidList"/>
    <dgm:cxn modelId="{59620F26-383E-4030-83BC-0E3732DB4458}" type="presParOf" srcId="{D8A77CA0-E865-440B-9AC0-8C6A095C3B98}" destId="{E21A1DA2-A3C1-4024-8F5B-8044BF07AFFD}" srcOrd="1" destOrd="0" presId="urn:microsoft.com/office/officeart/2018/2/layout/IconVerticalSolidList"/>
    <dgm:cxn modelId="{EFE7DA52-53A3-4315-BB12-F4D1A97C6507}" type="presParOf" srcId="{D8A77CA0-E865-440B-9AC0-8C6A095C3B98}" destId="{BAB5E4D1-F739-4D9F-B346-F18F9C6654D4}" srcOrd="2" destOrd="0" presId="urn:microsoft.com/office/officeart/2018/2/layout/IconVerticalSolidList"/>
    <dgm:cxn modelId="{29F39652-838A-4A20-8DDC-2D3573BC1338}" type="presParOf" srcId="{D8A77CA0-E865-440B-9AC0-8C6A095C3B98}" destId="{8EEE025A-C947-4F72-B956-02F29070870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64FA08-CCE9-4897-8674-80AAF3CEB30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464CD5F-DC78-4871-80ED-B53DBED39BB8}">
      <dgm:prSet/>
      <dgm:spPr/>
      <dgm:t>
        <a:bodyPr/>
        <a:lstStyle/>
        <a:p>
          <a:r>
            <a:rPr lang="en-US"/>
            <a:t>Subjectivity: Most current assessments are based on perceptions rather than objective, empirical data</a:t>
          </a:r>
        </a:p>
      </dgm:t>
    </dgm:pt>
    <dgm:pt modelId="{AB06EBAF-0061-4583-AAD9-9C8D02836416}" type="parTrans" cxnId="{2EAE0CC0-E008-4320-A52B-60CE7B0C4DF0}">
      <dgm:prSet/>
      <dgm:spPr/>
      <dgm:t>
        <a:bodyPr/>
        <a:lstStyle/>
        <a:p>
          <a:pPr algn="l"/>
          <a:endParaRPr lang="en-US" sz="1600"/>
        </a:p>
      </dgm:t>
    </dgm:pt>
    <dgm:pt modelId="{0FAC7107-952D-4535-9825-3260CF79CFA5}" type="sibTrans" cxnId="{2EAE0CC0-E008-4320-A52B-60CE7B0C4DF0}">
      <dgm:prSet/>
      <dgm:spPr/>
      <dgm:t>
        <a:bodyPr/>
        <a:lstStyle/>
        <a:p>
          <a:endParaRPr lang="en-US"/>
        </a:p>
      </dgm:t>
    </dgm:pt>
    <dgm:pt modelId="{1904F8D0-C500-433D-972A-EAB926C038C1}">
      <dgm:prSet/>
      <dgm:spPr/>
      <dgm:t>
        <a:bodyPr/>
        <a:lstStyle/>
        <a:p>
          <a:r>
            <a:rPr lang="en-IN" b="1" dirty="0"/>
            <a:t>Project Objectives</a:t>
          </a:r>
          <a:r>
            <a:rPr lang="en-US" b="1" dirty="0"/>
            <a:t>:</a:t>
          </a:r>
        </a:p>
      </dgm:t>
    </dgm:pt>
    <dgm:pt modelId="{D11D3EFB-C492-452B-A700-D2D289A337F2}" type="parTrans" cxnId="{D6F2214A-1A38-4DA8-B302-790EB7A9AA66}">
      <dgm:prSet/>
      <dgm:spPr/>
      <dgm:t>
        <a:bodyPr/>
        <a:lstStyle/>
        <a:p>
          <a:pPr algn="l"/>
          <a:endParaRPr lang="en-US" sz="1600"/>
        </a:p>
      </dgm:t>
    </dgm:pt>
    <dgm:pt modelId="{8C64853E-80E5-4FF9-A85E-D3EA307DB926}" type="sibTrans" cxnId="{D6F2214A-1A38-4DA8-B302-790EB7A9AA66}">
      <dgm:prSet/>
      <dgm:spPr/>
      <dgm:t>
        <a:bodyPr/>
        <a:lstStyle/>
        <a:p>
          <a:endParaRPr lang="en-US"/>
        </a:p>
      </dgm:t>
    </dgm:pt>
    <dgm:pt modelId="{F2E2A0E2-7D56-478C-8A6E-6D21EDE85CBF}">
      <dgm:prSet/>
      <dgm:spPr/>
      <dgm:t>
        <a:bodyPr/>
        <a:lstStyle/>
        <a:p>
          <a:r>
            <a:rPr lang="en-US" dirty="0"/>
            <a:t>Primary Goal: Evaluate how Generative AI influences productivity and contributes to competitive advantage using business analytics</a:t>
          </a:r>
        </a:p>
      </dgm:t>
    </dgm:pt>
    <dgm:pt modelId="{92D0C709-0418-4AAD-BA3A-F22684CE2844}" type="parTrans" cxnId="{8CD05818-367F-4DD4-964C-CAA5A2359BF1}">
      <dgm:prSet/>
      <dgm:spPr/>
      <dgm:t>
        <a:bodyPr/>
        <a:lstStyle/>
        <a:p>
          <a:pPr algn="l"/>
          <a:endParaRPr lang="en-US" sz="1600"/>
        </a:p>
      </dgm:t>
    </dgm:pt>
    <dgm:pt modelId="{A4F8F3C2-9468-42EC-A020-0B0736446549}" type="sibTrans" cxnId="{8CD05818-367F-4DD4-964C-CAA5A2359BF1}">
      <dgm:prSet/>
      <dgm:spPr/>
      <dgm:t>
        <a:bodyPr/>
        <a:lstStyle/>
        <a:p>
          <a:endParaRPr lang="en-US"/>
        </a:p>
      </dgm:t>
    </dgm:pt>
    <dgm:pt modelId="{ED95ABD2-2CC4-4B8D-9EDA-A6E85AB88B4A}">
      <dgm:prSet/>
      <dgm:spPr/>
      <dgm:t>
        <a:bodyPr/>
        <a:lstStyle/>
        <a:p>
          <a:r>
            <a:rPr lang="en-US" dirty="0"/>
            <a:t>Quantify Improvements: Analyze changes in task completion time, efficiency, and output quality</a:t>
          </a:r>
        </a:p>
      </dgm:t>
    </dgm:pt>
    <dgm:pt modelId="{5BA29BA8-FB58-48B0-BEFE-C3A688A537DB}" type="parTrans" cxnId="{6C270F5C-512C-4072-A070-60FCE37C73DF}">
      <dgm:prSet/>
      <dgm:spPr/>
      <dgm:t>
        <a:bodyPr/>
        <a:lstStyle/>
        <a:p>
          <a:pPr algn="l"/>
          <a:endParaRPr lang="en-US" sz="1600"/>
        </a:p>
      </dgm:t>
    </dgm:pt>
    <dgm:pt modelId="{DEB3F7CC-F440-4369-986B-1DBC791BC2D5}" type="sibTrans" cxnId="{6C270F5C-512C-4072-A070-60FCE37C73DF}">
      <dgm:prSet/>
      <dgm:spPr/>
      <dgm:t>
        <a:bodyPr/>
        <a:lstStyle/>
        <a:p>
          <a:endParaRPr lang="en-US"/>
        </a:p>
      </dgm:t>
    </dgm:pt>
    <dgm:pt modelId="{C5E79C8F-2F3F-40E3-BFDE-413B2CDCD77B}">
      <dgm:prSet/>
      <dgm:spPr/>
      <dgm:t>
        <a:bodyPr/>
        <a:lstStyle/>
        <a:p>
          <a:r>
            <a:rPr lang="en-US" dirty="0"/>
            <a:t>Comparative Analysis: Compare performance outcomes between AI-assisted and non-AI workflows.</a:t>
          </a:r>
        </a:p>
      </dgm:t>
    </dgm:pt>
    <dgm:pt modelId="{2018CCB3-95BD-414C-9644-2949C7B94766}" type="parTrans" cxnId="{013F9405-2BE0-46A2-B420-358826E1CD6F}">
      <dgm:prSet/>
      <dgm:spPr/>
      <dgm:t>
        <a:bodyPr/>
        <a:lstStyle/>
        <a:p>
          <a:pPr algn="l"/>
          <a:endParaRPr lang="en-US" sz="1600"/>
        </a:p>
      </dgm:t>
    </dgm:pt>
    <dgm:pt modelId="{E45E9C76-E545-43DA-94BB-C97643EFC69B}" type="sibTrans" cxnId="{013F9405-2BE0-46A2-B420-358826E1CD6F}">
      <dgm:prSet/>
      <dgm:spPr/>
      <dgm:t>
        <a:bodyPr/>
        <a:lstStyle/>
        <a:p>
          <a:endParaRPr lang="en-US"/>
        </a:p>
      </dgm:t>
    </dgm:pt>
    <dgm:pt modelId="{D36727D7-93CE-41AD-AE12-AC127E4EA4FF}">
      <dgm:prSet/>
      <dgm:spPr/>
      <dgm:t>
        <a:bodyPr/>
        <a:lstStyle/>
        <a:p>
          <a:r>
            <a:rPr lang="en-US" dirty="0"/>
            <a:t>Develop Indices: Create a composite productivity index and examine the relationship between AI usage intensity and performance</a:t>
          </a:r>
        </a:p>
      </dgm:t>
    </dgm:pt>
    <dgm:pt modelId="{B3FD4DA0-0E3B-43D2-BC28-153E5600AD84}" type="parTrans" cxnId="{DF6BE688-4682-4790-BF82-18FE8481B739}">
      <dgm:prSet/>
      <dgm:spPr/>
      <dgm:t>
        <a:bodyPr/>
        <a:lstStyle/>
        <a:p>
          <a:pPr algn="l"/>
          <a:endParaRPr lang="en-US" sz="1600"/>
        </a:p>
      </dgm:t>
    </dgm:pt>
    <dgm:pt modelId="{0C7DD7C5-0ADB-4A68-BBF4-9CCFE495BC6D}" type="sibTrans" cxnId="{DF6BE688-4682-4790-BF82-18FE8481B739}">
      <dgm:prSet/>
      <dgm:spPr/>
      <dgm:t>
        <a:bodyPr/>
        <a:lstStyle/>
        <a:p>
          <a:endParaRPr lang="en-US"/>
        </a:p>
      </dgm:t>
    </dgm:pt>
    <dgm:pt modelId="{06F5E7B8-D6D4-4364-BFB0-42F2AEBEA75E}">
      <dgm:prSet/>
      <dgm:spPr/>
      <dgm:t>
        <a:bodyPr/>
        <a:lstStyle/>
        <a:p>
          <a:pPr>
            <a:buFont typeface="+mj-lt"/>
            <a:buAutoNum type="arabicPeriod"/>
          </a:pPr>
          <a:endParaRPr lang="en-IN"/>
        </a:p>
      </dgm:t>
    </dgm:pt>
    <dgm:pt modelId="{C07705A4-1DFD-4A2F-BC1D-1284F5C3CE4F}" type="parTrans" cxnId="{19D62520-5CF3-48D5-82BF-E92B32557947}">
      <dgm:prSet/>
      <dgm:spPr/>
      <dgm:t>
        <a:bodyPr/>
        <a:lstStyle/>
        <a:p>
          <a:pPr algn="l"/>
          <a:endParaRPr lang="en-IN" sz="1600"/>
        </a:p>
      </dgm:t>
    </dgm:pt>
    <dgm:pt modelId="{0C762714-B9B3-4382-A5EE-15EF0BF1BBAF}" type="sibTrans" cxnId="{19D62520-5CF3-48D5-82BF-E92B32557947}">
      <dgm:prSet/>
      <dgm:spPr/>
      <dgm:t>
        <a:bodyPr/>
        <a:lstStyle/>
        <a:p>
          <a:endParaRPr lang="en-IN"/>
        </a:p>
      </dgm:t>
    </dgm:pt>
    <dgm:pt modelId="{417C05CB-21FE-420F-9EF9-B2B6760B6B4C}">
      <dgm:prSet/>
      <dgm:spPr/>
      <dgm:t>
        <a:bodyPr/>
        <a:lstStyle/>
        <a:p>
          <a:r>
            <a:rPr lang="en-IN" b="1"/>
            <a:t>Problem Statement</a:t>
          </a:r>
          <a:r>
            <a:rPr lang="en-US" b="1"/>
            <a:t>:</a:t>
          </a:r>
          <a:endParaRPr lang="en-IN" b="1"/>
        </a:p>
      </dgm:t>
    </dgm:pt>
    <dgm:pt modelId="{71F0E2AC-A7F9-4191-8C9F-3B0A15AB9E4F}" type="parTrans" cxnId="{CDCF8701-9C09-4043-9051-D9A66AFD73FE}">
      <dgm:prSet/>
      <dgm:spPr/>
      <dgm:t>
        <a:bodyPr/>
        <a:lstStyle/>
        <a:p>
          <a:pPr algn="l"/>
          <a:endParaRPr lang="en-IN" sz="1600"/>
        </a:p>
      </dgm:t>
    </dgm:pt>
    <dgm:pt modelId="{F11B30A2-E921-4DDB-A8E7-311E83041CEF}" type="sibTrans" cxnId="{CDCF8701-9C09-4043-9051-D9A66AFD73FE}">
      <dgm:prSet/>
      <dgm:spPr/>
      <dgm:t>
        <a:bodyPr/>
        <a:lstStyle/>
        <a:p>
          <a:endParaRPr lang="en-IN"/>
        </a:p>
      </dgm:t>
    </dgm:pt>
    <dgm:pt modelId="{C21540DA-B098-4200-8138-43BA0C896EE2}">
      <dgm:prSet/>
      <dgm:spPr/>
      <dgm:t>
        <a:bodyPr/>
        <a:lstStyle/>
        <a:p>
          <a:r>
            <a:rPr lang="en-US"/>
            <a:t>Measurement Challenge: Organizations face difficulty in systematically quantifying productivity improvements from AI adoption</a:t>
          </a:r>
        </a:p>
      </dgm:t>
    </dgm:pt>
    <dgm:pt modelId="{076EC60F-DC60-43D6-8683-FB9009C23D3B}" type="sibTrans" cxnId="{249B9549-63EC-4661-A1EC-B63B35B037D1}">
      <dgm:prSet/>
      <dgm:spPr/>
      <dgm:t>
        <a:bodyPr/>
        <a:lstStyle/>
        <a:p>
          <a:endParaRPr lang="en-US"/>
        </a:p>
      </dgm:t>
    </dgm:pt>
    <dgm:pt modelId="{F7FBCAA4-BEE3-4660-BF44-589974773211}" type="parTrans" cxnId="{249B9549-63EC-4661-A1EC-B63B35B037D1}">
      <dgm:prSet/>
      <dgm:spPr/>
      <dgm:t>
        <a:bodyPr/>
        <a:lstStyle/>
        <a:p>
          <a:pPr algn="l"/>
          <a:endParaRPr lang="en-US" sz="1600"/>
        </a:p>
      </dgm:t>
    </dgm:pt>
    <dgm:pt modelId="{DE677B06-F749-4DC4-8E6E-1ED0542839EF}">
      <dgm:prSet/>
      <dgm:spPr/>
      <dgm:t>
        <a:bodyPr/>
        <a:lstStyle/>
        <a:p>
          <a:pPr>
            <a:buNone/>
          </a:pPr>
          <a:endParaRPr lang="en-US" kern="1200" dirty="0">
            <a:latin typeface="Calibri"/>
            <a:ea typeface="+mn-ea"/>
            <a:cs typeface="+mn-cs"/>
          </a:endParaRPr>
        </a:p>
      </dgm:t>
    </dgm:pt>
    <dgm:pt modelId="{7B0459BF-716A-4147-8053-AD82B6ABA410}" type="parTrans" cxnId="{0ABD50D0-7FAC-49EC-A292-921B3EF87B99}">
      <dgm:prSet/>
      <dgm:spPr/>
      <dgm:t>
        <a:bodyPr/>
        <a:lstStyle/>
        <a:p>
          <a:endParaRPr lang="en-IN"/>
        </a:p>
      </dgm:t>
    </dgm:pt>
    <dgm:pt modelId="{25C5CFC5-B67F-45A5-9CCF-B806074FC785}" type="sibTrans" cxnId="{0ABD50D0-7FAC-49EC-A292-921B3EF87B99}">
      <dgm:prSet/>
      <dgm:spPr/>
      <dgm:t>
        <a:bodyPr/>
        <a:lstStyle/>
        <a:p>
          <a:endParaRPr lang="en-IN"/>
        </a:p>
      </dgm:t>
    </dgm:pt>
    <dgm:pt modelId="{7CD47908-B25F-42C4-8ABA-4B387A112C49}" type="pres">
      <dgm:prSet presAssocID="{D264FA08-CCE9-4897-8674-80AAF3CEB30D}" presName="vert0" presStyleCnt="0">
        <dgm:presLayoutVars>
          <dgm:dir/>
          <dgm:animOne val="branch"/>
          <dgm:animLvl val="lvl"/>
        </dgm:presLayoutVars>
      </dgm:prSet>
      <dgm:spPr/>
    </dgm:pt>
    <dgm:pt modelId="{82F7CB7C-6EC5-459A-A7F4-1866C35661BD}" type="pres">
      <dgm:prSet presAssocID="{417C05CB-21FE-420F-9EF9-B2B6760B6B4C}" presName="thickLine" presStyleLbl="alignNode1" presStyleIdx="0" presStyleCnt="10"/>
      <dgm:spPr/>
    </dgm:pt>
    <dgm:pt modelId="{20CDB0F1-A75A-4030-A079-BA7F5A578368}" type="pres">
      <dgm:prSet presAssocID="{417C05CB-21FE-420F-9EF9-B2B6760B6B4C}" presName="horz1" presStyleCnt="0"/>
      <dgm:spPr/>
    </dgm:pt>
    <dgm:pt modelId="{9328651F-87E1-469F-A482-51262284D310}" type="pres">
      <dgm:prSet presAssocID="{417C05CB-21FE-420F-9EF9-B2B6760B6B4C}" presName="tx1" presStyleLbl="revTx" presStyleIdx="0" presStyleCnt="10"/>
      <dgm:spPr/>
    </dgm:pt>
    <dgm:pt modelId="{A56966CD-47E5-4FC0-8F63-58428D5FEF5C}" type="pres">
      <dgm:prSet presAssocID="{417C05CB-21FE-420F-9EF9-B2B6760B6B4C}" presName="vert1" presStyleCnt="0"/>
      <dgm:spPr/>
    </dgm:pt>
    <dgm:pt modelId="{4E848711-D8AC-4A87-8B65-76A54F55A28D}" type="pres">
      <dgm:prSet presAssocID="{C21540DA-B098-4200-8138-43BA0C896EE2}" presName="thickLine" presStyleLbl="alignNode1" presStyleIdx="1" presStyleCnt="10"/>
      <dgm:spPr/>
    </dgm:pt>
    <dgm:pt modelId="{A3E7EEF9-CC25-4272-932E-FDBF68767BE5}" type="pres">
      <dgm:prSet presAssocID="{C21540DA-B098-4200-8138-43BA0C896EE2}" presName="horz1" presStyleCnt="0"/>
      <dgm:spPr/>
    </dgm:pt>
    <dgm:pt modelId="{D055F362-FC4F-46F4-A7F7-1070519808FC}" type="pres">
      <dgm:prSet presAssocID="{C21540DA-B098-4200-8138-43BA0C896EE2}" presName="tx1" presStyleLbl="revTx" presStyleIdx="1" presStyleCnt="10"/>
      <dgm:spPr/>
    </dgm:pt>
    <dgm:pt modelId="{B2AF84ED-27DB-4306-8478-95D927E0DFB4}" type="pres">
      <dgm:prSet presAssocID="{C21540DA-B098-4200-8138-43BA0C896EE2}" presName="vert1" presStyleCnt="0"/>
      <dgm:spPr/>
    </dgm:pt>
    <dgm:pt modelId="{E27BCD9A-C2B9-4725-BAE4-4ADC1D41DC04}" type="pres">
      <dgm:prSet presAssocID="{2464CD5F-DC78-4871-80ED-B53DBED39BB8}" presName="thickLine" presStyleLbl="alignNode1" presStyleIdx="2" presStyleCnt="10"/>
      <dgm:spPr/>
    </dgm:pt>
    <dgm:pt modelId="{2788FA18-33FD-40AF-AF64-45A82FFB76D5}" type="pres">
      <dgm:prSet presAssocID="{2464CD5F-DC78-4871-80ED-B53DBED39BB8}" presName="horz1" presStyleCnt="0"/>
      <dgm:spPr/>
    </dgm:pt>
    <dgm:pt modelId="{D16908E5-DDEF-407C-9E22-A53E97B825E9}" type="pres">
      <dgm:prSet presAssocID="{2464CD5F-DC78-4871-80ED-B53DBED39BB8}" presName="tx1" presStyleLbl="revTx" presStyleIdx="2" presStyleCnt="10"/>
      <dgm:spPr/>
    </dgm:pt>
    <dgm:pt modelId="{4DA6256F-B217-4ADF-B23D-2735D72DAEE3}" type="pres">
      <dgm:prSet presAssocID="{2464CD5F-DC78-4871-80ED-B53DBED39BB8}" presName="vert1" presStyleCnt="0"/>
      <dgm:spPr/>
    </dgm:pt>
    <dgm:pt modelId="{35ED4714-D5E2-4CD9-827D-EC9EEA19D9A6}" type="pres">
      <dgm:prSet presAssocID="{06F5E7B8-D6D4-4364-BFB0-42F2AEBEA75E}" presName="thickLine" presStyleLbl="alignNode1" presStyleIdx="3" presStyleCnt="10"/>
      <dgm:spPr/>
    </dgm:pt>
    <dgm:pt modelId="{17FF9941-18E2-4576-A4D7-1E271213A401}" type="pres">
      <dgm:prSet presAssocID="{06F5E7B8-D6D4-4364-BFB0-42F2AEBEA75E}" presName="horz1" presStyleCnt="0"/>
      <dgm:spPr/>
    </dgm:pt>
    <dgm:pt modelId="{F5833F97-7A44-4198-B2CE-0F18C9F692CD}" type="pres">
      <dgm:prSet presAssocID="{06F5E7B8-D6D4-4364-BFB0-42F2AEBEA75E}" presName="tx1" presStyleLbl="revTx" presStyleIdx="3" presStyleCnt="10"/>
      <dgm:spPr/>
    </dgm:pt>
    <dgm:pt modelId="{8B2F5E05-F162-47F9-BA33-5FF0BD9344AB}" type="pres">
      <dgm:prSet presAssocID="{06F5E7B8-D6D4-4364-BFB0-42F2AEBEA75E}" presName="vert1" presStyleCnt="0"/>
      <dgm:spPr/>
    </dgm:pt>
    <dgm:pt modelId="{FAF0DC19-0334-44DF-8D8F-494F3A5E44BC}" type="pres">
      <dgm:prSet presAssocID="{1904F8D0-C500-433D-972A-EAB926C038C1}" presName="thickLine" presStyleLbl="alignNode1" presStyleIdx="4" presStyleCnt="10"/>
      <dgm:spPr/>
    </dgm:pt>
    <dgm:pt modelId="{5A27115D-3118-49A6-A775-FE20D98734BE}" type="pres">
      <dgm:prSet presAssocID="{1904F8D0-C500-433D-972A-EAB926C038C1}" presName="horz1" presStyleCnt="0"/>
      <dgm:spPr/>
    </dgm:pt>
    <dgm:pt modelId="{3628B638-DB58-4D7D-B440-2C278A5ECF29}" type="pres">
      <dgm:prSet presAssocID="{1904F8D0-C500-433D-972A-EAB926C038C1}" presName="tx1" presStyleLbl="revTx" presStyleIdx="4" presStyleCnt="10"/>
      <dgm:spPr/>
    </dgm:pt>
    <dgm:pt modelId="{29756F78-378A-4D69-93C9-3869D50590A7}" type="pres">
      <dgm:prSet presAssocID="{1904F8D0-C500-433D-972A-EAB926C038C1}" presName="vert1" presStyleCnt="0"/>
      <dgm:spPr/>
    </dgm:pt>
    <dgm:pt modelId="{A193FC90-C6D6-45D0-A21E-0AEECF39B19E}" type="pres">
      <dgm:prSet presAssocID="{F2E2A0E2-7D56-478C-8A6E-6D21EDE85CBF}" presName="thickLine" presStyleLbl="alignNode1" presStyleIdx="5" presStyleCnt="10"/>
      <dgm:spPr/>
    </dgm:pt>
    <dgm:pt modelId="{1EB57DF8-8693-491B-B2C2-42D3521BA0E6}" type="pres">
      <dgm:prSet presAssocID="{F2E2A0E2-7D56-478C-8A6E-6D21EDE85CBF}" presName="horz1" presStyleCnt="0"/>
      <dgm:spPr/>
    </dgm:pt>
    <dgm:pt modelId="{D249C77C-E43B-40C1-9816-509B585F43E5}" type="pres">
      <dgm:prSet presAssocID="{F2E2A0E2-7D56-478C-8A6E-6D21EDE85CBF}" presName="tx1" presStyleLbl="revTx" presStyleIdx="5" presStyleCnt="10"/>
      <dgm:spPr/>
    </dgm:pt>
    <dgm:pt modelId="{B75B6799-97BB-455C-932F-3BD45E852538}" type="pres">
      <dgm:prSet presAssocID="{F2E2A0E2-7D56-478C-8A6E-6D21EDE85CBF}" presName="vert1" presStyleCnt="0"/>
      <dgm:spPr/>
    </dgm:pt>
    <dgm:pt modelId="{ECA36FAD-841E-4D97-A6F5-E8ED86042ECC}" type="pres">
      <dgm:prSet presAssocID="{ED95ABD2-2CC4-4B8D-9EDA-A6E85AB88B4A}" presName="thickLine" presStyleLbl="alignNode1" presStyleIdx="6" presStyleCnt="10"/>
      <dgm:spPr/>
    </dgm:pt>
    <dgm:pt modelId="{D418ADA3-3AA3-4430-B550-8804F3F68A86}" type="pres">
      <dgm:prSet presAssocID="{ED95ABD2-2CC4-4B8D-9EDA-A6E85AB88B4A}" presName="horz1" presStyleCnt="0"/>
      <dgm:spPr/>
    </dgm:pt>
    <dgm:pt modelId="{09E28AB3-7885-41CB-8D34-E67FA0A371B6}" type="pres">
      <dgm:prSet presAssocID="{ED95ABD2-2CC4-4B8D-9EDA-A6E85AB88B4A}" presName="tx1" presStyleLbl="revTx" presStyleIdx="6" presStyleCnt="10"/>
      <dgm:spPr/>
    </dgm:pt>
    <dgm:pt modelId="{1B2DAB0C-FD54-4B70-8296-934B6EE561DA}" type="pres">
      <dgm:prSet presAssocID="{ED95ABD2-2CC4-4B8D-9EDA-A6E85AB88B4A}" presName="vert1" presStyleCnt="0"/>
      <dgm:spPr/>
    </dgm:pt>
    <dgm:pt modelId="{CF1C4BA4-D566-4A20-B412-65507EB65535}" type="pres">
      <dgm:prSet presAssocID="{C5E79C8F-2F3F-40E3-BFDE-413B2CDCD77B}" presName="thickLine" presStyleLbl="alignNode1" presStyleIdx="7" presStyleCnt="10"/>
      <dgm:spPr/>
    </dgm:pt>
    <dgm:pt modelId="{087E5024-F138-4674-93A7-7D6FBD5861D0}" type="pres">
      <dgm:prSet presAssocID="{C5E79C8F-2F3F-40E3-BFDE-413B2CDCD77B}" presName="horz1" presStyleCnt="0"/>
      <dgm:spPr/>
    </dgm:pt>
    <dgm:pt modelId="{CF790C32-C4EB-423F-9197-5BAB7EB38717}" type="pres">
      <dgm:prSet presAssocID="{C5E79C8F-2F3F-40E3-BFDE-413B2CDCD77B}" presName="tx1" presStyleLbl="revTx" presStyleIdx="7" presStyleCnt="10"/>
      <dgm:spPr/>
    </dgm:pt>
    <dgm:pt modelId="{F45387EA-D1B6-4835-BED7-38152664A475}" type="pres">
      <dgm:prSet presAssocID="{C5E79C8F-2F3F-40E3-BFDE-413B2CDCD77B}" presName="vert1" presStyleCnt="0"/>
      <dgm:spPr/>
    </dgm:pt>
    <dgm:pt modelId="{D51CABEA-0C06-40D9-AE76-5276DFF1034F}" type="pres">
      <dgm:prSet presAssocID="{D36727D7-93CE-41AD-AE12-AC127E4EA4FF}" presName="thickLine" presStyleLbl="alignNode1" presStyleIdx="8" presStyleCnt="10"/>
      <dgm:spPr/>
    </dgm:pt>
    <dgm:pt modelId="{86BB04C6-B162-4B44-93CD-C0EC37D66204}" type="pres">
      <dgm:prSet presAssocID="{D36727D7-93CE-41AD-AE12-AC127E4EA4FF}" presName="horz1" presStyleCnt="0"/>
      <dgm:spPr/>
    </dgm:pt>
    <dgm:pt modelId="{8DE5A03F-39CA-4EFA-AA75-BC176A5DBECD}" type="pres">
      <dgm:prSet presAssocID="{D36727D7-93CE-41AD-AE12-AC127E4EA4FF}" presName="tx1" presStyleLbl="revTx" presStyleIdx="8" presStyleCnt="10"/>
      <dgm:spPr/>
    </dgm:pt>
    <dgm:pt modelId="{A91C8FD2-6AD8-40E7-9B26-7BC16ACB64B3}" type="pres">
      <dgm:prSet presAssocID="{D36727D7-93CE-41AD-AE12-AC127E4EA4FF}" presName="vert1" presStyleCnt="0"/>
      <dgm:spPr/>
    </dgm:pt>
    <dgm:pt modelId="{140ED8C5-0616-48B1-8F4A-47B363F87BDF}" type="pres">
      <dgm:prSet presAssocID="{DE677B06-F749-4DC4-8E6E-1ED0542839EF}" presName="thickLine" presStyleLbl="alignNode1" presStyleIdx="9" presStyleCnt="10"/>
      <dgm:spPr/>
    </dgm:pt>
    <dgm:pt modelId="{A0FE57A9-110E-45C4-B511-7F16C428F0A0}" type="pres">
      <dgm:prSet presAssocID="{DE677B06-F749-4DC4-8E6E-1ED0542839EF}" presName="horz1" presStyleCnt="0"/>
      <dgm:spPr/>
    </dgm:pt>
    <dgm:pt modelId="{0A5DE15B-1E27-4EA0-9136-49FD55534704}" type="pres">
      <dgm:prSet presAssocID="{DE677B06-F749-4DC4-8E6E-1ED0542839EF}" presName="tx1" presStyleLbl="revTx" presStyleIdx="9" presStyleCnt="10"/>
      <dgm:spPr/>
    </dgm:pt>
    <dgm:pt modelId="{1E03E356-7561-4737-869E-186B5E9B4AE3}" type="pres">
      <dgm:prSet presAssocID="{DE677B06-F749-4DC4-8E6E-1ED0542839EF}" presName="vert1" presStyleCnt="0"/>
      <dgm:spPr/>
    </dgm:pt>
  </dgm:ptLst>
  <dgm:cxnLst>
    <dgm:cxn modelId="{CDCF8701-9C09-4043-9051-D9A66AFD73FE}" srcId="{D264FA08-CCE9-4897-8674-80AAF3CEB30D}" destId="{417C05CB-21FE-420F-9EF9-B2B6760B6B4C}" srcOrd="0" destOrd="0" parTransId="{71F0E2AC-A7F9-4191-8C9F-3B0A15AB9E4F}" sibTransId="{F11B30A2-E921-4DDB-A8E7-311E83041CEF}"/>
    <dgm:cxn modelId="{99086404-8A71-43E8-B708-F7F82C846864}" type="presOf" srcId="{1904F8D0-C500-433D-972A-EAB926C038C1}" destId="{3628B638-DB58-4D7D-B440-2C278A5ECF29}" srcOrd="0" destOrd="0" presId="urn:microsoft.com/office/officeart/2008/layout/LinedList"/>
    <dgm:cxn modelId="{013F9405-2BE0-46A2-B420-358826E1CD6F}" srcId="{D264FA08-CCE9-4897-8674-80AAF3CEB30D}" destId="{C5E79C8F-2F3F-40E3-BFDE-413B2CDCD77B}" srcOrd="7" destOrd="0" parTransId="{2018CCB3-95BD-414C-9644-2949C7B94766}" sibTransId="{E45E9C76-E545-43DA-94BB-C97643EFC69B}"/>
    <dgm:cxn modelId="{8CD05818-367F-4DD4-964C-CAA5A2359BF1}" srcId="{D264FA08-CCE9-4897-8674-80AAF3CEB30D}" destId="{F2E2A0E2-7D56-478C-8A6E-6D21EDE85CBF}" srcOrd="5" destOrd="0" parTransId="{92D0C709-0418-4AAD-BA3A-F22684CE2844}" sibTransId="{A4F8F3C2-9468-42EC-A020-0B0736446549}"/>
    <dgm:cxn modelId="{19D62520-5CF3-48D5-82BF-E92B32557947}" srcId="{D264FA08-CCE9-4897-8674-80AAF3CEB30D}" destId="{06F5E7B8-D6D4-4364-BFB0-42F2AEBEA75E}" srcOrd="3" destOrd="0" parTransId="{C07705A4-1DFD-4A2F-BC1D-1284F5C3CE4F}" sibTransId="{0C762714-B9B3-4382-A5EE-15EF0BF1BBAF}"/>
    <dgm:cxn modelId="{66CD4C38-4A62-4360-A005-8B1D5E2CC6D1}" type="presOf" srcId="{C21540DA-B098-4200-8138-43BA0C896EE2}" destId="{D055F362-FC4F-46F4-A7F7-1070519808FC}" srcOrd="0" destOrd="0" presId="urn:microsoft.com/office/officeart/2008/layout/LinedList"/>
    <dgm:cxn modelId="{6C270F5C-512C-4072-A070-60FCE37C73DF}" srcId="{D264FA08-CCE9-4897-8674-80AAF3CEB30D}" destId="{ED95ABD2-2CC4-4B8D-9EDA-A6E85AB88B4A}" srcOrd="6" destOrd="0" parTransId="{5BA29BA8-FB58-48B0-BEFE-C3A688A537DB}" sibTransId="{DEB3F7CC-F440-4369-986B-1DBC791BC2D5}"/>
    <dgm:cxn modelId="{61C7D565-74FA-482B-814F-2735CB3D2C22}" type="presOf" srcId="{D36727D7-93CE-41AD-AE12-AC127E4EA4FF}" destId="{8DE5A03F-39CA-4EFA-AA75-BC176A5DBECD}" srcOrd="0" destOrd="0" presId="urn:microsoft.com/office/officeart/2008/layout/LinedList"/>
    <dgm:cxn modelId="{249B9549-63EC-4661-A1EC-B63B35B037D1}" srcId="{D264FA08-CCE9-4897-8674-80AAF3CEB30D}" destId="{C21540DA-B098-4200-8138-43BA0C896EE2}" srcOrd="1" destOrd="0" parTransId="{F7FBCAA4-BEE3-4660-BF44-589974773211}" sibTransId="{076EC60F-DC60-43D6-8683-FB9009C23D3B}"/>
    <dgm:cxn modelId="{D6F2214A-1A38-4DA8-B302-790EB7A9AA66}" srcId="{D264FA08-CCE9-4897-8674-80AAF3CEB30D}" destId="{1904F8D0-C500-433D-972A-EAB926C038C1}" srcOrd="4" destOrd="0" parTransId="{D11D3EFB-C492-452B-A700-D2D289A337F2}" sibTransId="{8C64853E-80E5-4FF9-A85E-D3EA307DB926}"/>
    <dgm:cxn modelId="{3E520179-7DB8-4D79-BD9E-496F167274F0}" type="presOf" srcId="{D264FA08-CCE9-4897-8674-80AAF3CEB30D}" destId="{7CD47908-B25F-42C4-8ABA-4B387A112C49}" srcOrd="0" destOrd="0" presId="urn:microsoft.com/office/officeart/2008/layout/LinedList"/>
    <dgm:cxn modelId="{DF6BE688-4682-4790-BF82-18FE8481B739}" srcId="{D264FA08-CCE9-4897-8674-80AAF3CEB30D}" destId="{D36727D7-93CE-41AD-AE12-AC127E4EA4FF}" srcOrd="8" destOrd="0" parTransId="{B3FD4DA0-0E3B-43D2-BC28-153E5600AD84}" sibTransId="{0C7DD7C5-0ADB-4A68-BBF4-9CCFE495BC6D}"/>
    <dgm:cxn modelId="{BB568A8B-CD22-4C95-9369-1CBB2A4CC080}" type="presOf" srcId="{2464CD5F-DC78-4871-80ED-B53DBED39BB8}" destId="{D16908E5-DDEF-407C-9E22-A53E97B825E9}" srcOrd="0" destOrd="0" presId="urn:microsoft.com/office/officeart/2008/layout/LinedList"/>
    <dgm:cxn modelId="{97AF91A3-53CC-4E47-9CA2-8C4DCFE79FD9}" type="presOf" srcId="{ED95ABD2-2CC4-4B8D-9EDA-A6E85AB88B4A}" destId="{09E28AB3-7885-41CB-8D34-E67FA0A371B6}" srcOrd="0" destOrd="0" presId="urn:microsoft.com/office/officeart/2008/layout/LinedList"/>
    <dgm:cxn modelId="{FC9C86A7-1244-44CC-A6D8-60B46249FC03}" type="presOf" srcId="{C5E79C8F-2F3F-40E3-BFDE-413B2CDCD77B}" destId="{CF790C32-C4EB-423F-9197-5BAB7EB38717}" srcOrd="0" destOrd="0" presId="urn:microsoft.com/office/officeart/2008/layout/LinedList"/>
    <dgm:cxn modelId="{38A2ECA7-3C27-4571-8F27-E48976FF6866}" type="presOf" srcId="{06F5E7B8-D6D4-4364-BFB0-42F2AEBEA75E}" destId="{F5833F97-7A44-4198-B2CE-0F18C9F692CD}" srcOrd="0" destOrd="0" presId="urn:microsoft.com/office/officeart/2008/layout/LinedList"/>
    <dgm:cxn modelId="{62B6FCB8-D966-4259-B83D-2A89178F87C4}" type="presOf" srcId="{DE677B06-F749-4DC4-8E6E-1ED0542839EF}" destId="{0A5DE15B-1E27-4EA0-9136-49FD55534704}" srcOrd="0" destOrd="0" presId="urn:microsoft.com/office/officeart/2008/layout/LinedList"/>
    <dgm:cxn modelId="{2EAE0CC0-E008-4320-A52B-60CE7B0C4DF0}" srcId="{D264FA08-CCE9-4897-8674-80AAF3CEB30D}" destId="{2464CD5F-DC78-4871-80ED-B53DBED39BB8}" srcOrd="2" destOrd="0" parTransId="{AB06EBAF-0061-4583-AAD9-9C8D02836416}" sibTransId="{0FAC7107-952D-4535-9825-3260CF79CFA5}"/>
    <dgm:cxn modelId="{422E8BC5-A5C5-4D39-9D90-647AD04AF2B7}" type="presOf" srcId="{F2E2A0E2-7D56-478C-8A6E-6D21EDE85CBF}" destId="{D249C77C-E43B-40C1-9816-509B585F43E5}" srcOrd="0" destOrd="0" presId="urn:microsoft.com/office/officeart/2008/layout/LinedList"/>
    <dgm:cxn modelId="{0ABD50D0-7FAC-49EC-A292-921B3EF87B99}" srcId="{D264FA08-CCE9-4897-8674-80AAF3CEB30D}" destId="{DE677B06-F749-4DC4-8E6E-1ED0542839EF}" srcOrd="9" destOrd="0" parTransId="{7B0459BF-716A-4147-8053-AD82B6ABA410}" sibTransId="{25C5CFC5-B67F-45A5-9CCF-B806074FC785}"/>
    <dgm:cxn modelId="{2CB7B0FB-3FD1-4277-B1F3-6B7796583E62}" type="presOf" srcId="{417C05CB-21FE-420F-9EF9-B2B6760B6B4C}" destId="{9328651F-87E1-469F-A482-51262284D310}" srcOrd="0" destOrd="0" presId="urn:microsoft.com/office/officeart/2008/layout/LinedList"/>
    <dgm:cxn modelId="{737F57D2-8610-4CD1-B650-123C7B1DF279}" type="presParOf" srcId="{7CD47908-B25F-42C4-8ABA-4B387A112C49}" destId="{82F7CB7C-6EC5-459A-A7F4-1866C35661BD}" srcOrd="0" destOrd="0" presId="urn:microsoft.com/office/officeart/2008/layout/LinedList"/>
    <dgm:cxn modelId="{C4A833C5-A5A9-4B8A-B4F9-0925EC5145EC}" type="presParOf" srcId="{7CD47908-B25F-42C4-8ABA-4B387A112C49}" destId="{20CDB0F1-A75A-4030-A079-BA7F5A578368}" srcOrd="1" destOrd="0" presId="urn:microsoft.com/office/officeart/2008/layout/LinedList"/>
    <dgm:cxn modelId="{C84D5F11-E291-4D88-9E0D-73E8BD78867B}" type="presParOf" srcId="{20CDB0F1-A75A-4030-A079-BA7F5A578368}" destId="{9328651F-87E1-469F-A482-51262284D310}" srcOrd="0" destOrd="0" presId="urn:microsoft.com/office/officeart/2008/layout/LinedList"/>
    <dgm:cxn modelId="{BE9AFB5B-3FEF-4D41-BF4E-D8428C0EEB02}" type="presParOf" srcId="{20CDB0F1-A75A-4030-A079-BA7F5A578368}" destId="{A56966CD-47E5-4FC0-8F63-58428D5FEF5C}" srcOrd="1" destOrd="0" presId="urn:microsoft.com/office/officeart/2008/layout/LinedList"/>
    <dgm:cxn modelId="{8B89F10A-86AF-46FB-A18A-9A1B94006420}" type="presParOf" srcId="{7CD47908-B25F-42C4-8ABA-4B387A112C49}" destId="{4E848711-D8AC-4A87-8B65-76A54F55A28D}" srcOrd="2" destOrd="0" presId="urn:microsoft.com/office/officeart/2008/layout/LinedList"/>
    <dgm:cxn modelId="{A384E6AC-17BB-4430-9FE9-4F09BDE16177}" type="presParOf" srcId="{7CD47908-B25F-42C4-8ABA-4B387A112C49}" destId="{A3E7EEF9-CC25-4272-932E-FDBF68767BE5}" srcOrd="3" destOrd="0" presId="urn:microsoft.com/office/officeart/2008/layout/LinedList"/>
    <dgm:cxn modelId="{A7D152E9-D0A1-4E41-886B-FAFFDADC74ED}" type="presParOf" srcId="{A3E7EEF9-CC25-4272-932E-FDBF68767BE5}" destId="{D055F362-FC4F-46F4-A7F7-1070519808FC}" srcOrd="0" destOrd="0" presId="urn:microsoft.com/office/officeart/2008/layout/LinedList"/>
    <dgm:cxn modelId="{8B92E7EE-7F19-4BE7-BB3E-03AC0C0A6CC4}" type="presParOf" srcId="{A3E7EEF9-CC25-4272-932E-FDBF68767BE5}" destId="{B2AF84ED-27DB-4306-8478-95D927E0DFB4}" srcOrd="1" destOrd="0" presId="urn:microsoft.com/office/officeart/2008/layout/LinedList"/>
    <dgm:cxn modelId="{83AC8A24-1F50-4A65-B0CC-A84BB4A4B23F}" type="presParOf" srcId="{7CD47908-B25F-42C4-8ABA-4B387A112C49}" destId="{E27BCD9A-C2B9-4725-BAE4-4ADC1D41DC04}" srcOrd="4" destOrd="0" presId="urn:microsoft.com/office/officeart/2008/layout/LinedList"/>
    <dgm:cxn modelId="{048932A4-E43B-4143-BA2D-1D78DF4A9F00}" type="presParOf" srcId="{7CD47908-B25F-42C4-8ABA-4B387A112C49}" destId="{2788FA18-33FD-40AF-AF64-45A82FFB76D5}" srcOrd="5" destOrd="0" presId="urn:microsoft.com/office/officeart/2008/layout/LinedList"/>
    <dgm:cxn modelId="{5C1C4782-2010-44DA-B277-915A68E7BA3D}" type="presParOf" srcId="{2788FA18-33FD-40AF-AF64-45A82FFB76D5}" destId="{D16908E5-DDEF-407C-9E22-A53E97B825E9}" srcOrd="0" destOrd="0" presId="urn:microsoft.com/office/officeart/2008/layout/LinedList"/>
    <dgm:cxn modelId="{E6A09086-8589-4A90-9DBE-53AF3479B579}" type="presParOf" srcId="{2788FA18-33FD-40AF-AF64-45A82FFB76D5}" destId="{4DA6256F-B217-4ADF-B23D-2735D72DAEE3}" srcOrd="1" destOrd="0" presId="urn:microsoft.com/office/officeart/2008/layout/LinedList"/>
    <dgm:cxn modelId="{AF25D6FC-DEB1-4EC1-9A2C-B5D5D8D5E92A}" type="presParOf" srcId="{7CD47908-B25F-42C4-8ABA-4B387A112C49}" destId="{35ED4714-D5E2-4CD9-827D-EC9EEA19D9A6}" srcOrd="6" destOrd="0" presId="urn:microsoft.com/office/officeart/2008/layout/LinedList"/>
    <dgm:cxn modelId="{03FB7DB5-E79A-4541-8370-BB62FAB6475C}" type="presParOf" srcId="{7CD47908-B25F-42C4-8ABA-4B387A112C49}" destId="{17FF9941-18E2-4576-A4D7-1E271213A401}" srcOrd="7" destOrd="0" presId="urn:microsoft.com/office/officeart/2008/layout/LinedList"/>
    <dgm:cxn modelId="{463D16BB-2406-4008-9353-CF0F84B27630}" type="presParOf" srcId="{17FF9941-18E2-4576-A4D7-1E271213A401}" destId="{F5833F97-7A44-4198-B2CE-0F18C9F692CD}" srcOrd="0" destOrd="0" presId="urn:microsoft.com/office/officeart/2008/layout/LinedList"/>
    <dgm:cxn modelId="{9AFE11A8-D634-459C-99CC-1F4DF0B26BD6}" type="presParOf" srcId="{17FF9941-18E2-4576-A4D7-1E271213A401}" destId="{8B2F5E05-F162-47F9-BA33-5FF0BD9344AB}" srcOrd="1" destOrd="0" presId="urn:microsoft.com/office/officeart/2008/layout/LinedList"/>
    <dgm:cxn modelId="{68F0C53D-2887-40F0-A5FF-C8BF1C584EA9}" type="presParOf" srcId="{7CD47908-B25F-42C4-8ABA-4B387A112C49}" destId="{FAF0DC19-0334-44DF-8D8F-494F3A5E44BC}" srcOrd="8" destOrd="0" presId="urn:microsoft.com/office/officeart/2008/layout/LinedList"/>
    <dgm:cxn modelId="{D2D95A43-ABF3-4680-8497-BE7190DF0533}" type="presParOf" srcId="{7CD47908-B25F-42C4-8ABA-4B387A112C49}" destId="{5A27115D-3118-49A6-A775-FE20D98734BE}" srcOrd="9" destOrd="0" presId="urn:microsoft.com/office/officeart/2008/layout/LinedList"/>
    <dgm:cxn modelId="{D30B7A0B-2833-4C56-87BC-987F9397923F}" type="presParOf" srcId="{5A27115D-3118-49A6-A775-FE20D98734BE}" destId="{3628B638-DB58-4D7D-B440-2C278A5ECF29}" srcOrd="0" destOrd="0" presId="urn:microsoft.com/office/officeart/2008/layout/LinedList"/>
    <dgm:cxn modelId="{5723A1C1-1E75-49A8-A35E-0F9A7538AA59}" type="presParOf" srcId="{5A27115D-3118-49A6-A775-FE20D98734BE}" destId="{29756F78-378A-4D69-93C9-3869D50590A7}" srcOrd="1" destOrd="0" presId="urn:microsoft.com/office/officeart/2008/layout/LinedList"/>
    <dgm:cxn modelId="{171FA13E-3DC9-4255-9224-00AAC06708BE}" type="presParOf" srcId="{7CD47908-B25F-42C4-8ABA-4B387A112C49}" destId="{A193FC90-C6D6-45D0-A21E-0AEECF39B19E}" srcOrd="10" destOrd="0" presId="urn:microsoft.com/office/officeart/2008/layout/LinedList"/>
    <dgm:cxn modelId="{F891A405-7509-435E-859D-3C785E403A83}" type="presParOf" srcId="{7CD47908-B25F-42C4-8ABA-4B387A112C49}" destId="{1EB57DF8-8693-491B-B2C2-42D3521BA0E6}" srcOrd="11" destOrd="0" presId="urn:microsoft.com/office/officeart/2008/layout/LinedList"/>
    <dgm:cxn modelId="{496D1887-9619-4ADC-80A7-B5B2AA76A0DE}" type="presParOf" srcId="{1EB57DF8-8693-491B-B2C2-42D3521BA0E6}" destId="{D249C77C-E43B-40C1-9816-509B585F43E5}" srcOrd="0" destOrd="0" presId="urn:microsoft.com/office/officeart/2008/layout/LinedList"/>
    <dgm:cxn modelId="{FF00F529-3DC2-44CE-8EC6-951399802F0C}" type="presParOf" srcId="{1EB57DF8-8693-491B-B2C2-42D3521BA0E6}" destId="{B75B6799-97BB-455C-932F-3BD45E852538}" srcOrd="1" destOrd="0" presId="urn:microsoft.com/office/officeart/2008/layout/LinedList"/>
    <dgm:cxn modelId="{F888D92B-14C9-4591-B06A-02F4C95A399C}" type="presParOf" srcId="{7CD47908-B25F-42C4-8ABA-4B387A112C49}" destId="{ECA36FAD-841E-4D97-A6F5-E8ED86042ECC}" srcOrd="12" destOrd="0" presId="urn:microsoft.com/office/officeart/2008/layout/LinedList"/>
    <dgm:cxn modelId="{23FC0BF8-6E0A-4DF0-84FF-CE3950FC5722}" type="presParOf" srcId="{7CD47908-B25F-42C4-8ABA-4B387A112C49}" destId="{D418ADA3-3AA3-4430-B550-8804F3F68A86}" srcOrd="13" destOrd="0" presId="urn:microsoft.com/office/officeart/2008/layout/LinedList"/>
    <dgm:cxn modelId="{1FE8358C-B523-4186-981B-03D1F9ECF82A}" type="presParOf" srcId="{D418ADA3-3AA3-4430-B550-8804F3F68A86}" destId="{09E28AB3-7885-41CB-8D34-E67FA0A371B6}" srcOrd="0" destOrd="0" presId="urn:microsoft.com/office/officeart/2008/layout/LinedList"/>
    <dgm:cxn modelId="{F79ED656-81DA-4A7F-A8B8-8FC571644FDF}" type="presParOf" srcId="{D418ADA3-3AA3-4430-B550-8804F3F68A86}" destId="{1B2DAB0C-FD54-4B70-8296-934B6EE561DA}" srcOrd="1" destOrd="0" presId="urn:microsoft.com/office/officeart/2008/layout/LinedList"/>
    <dgm:cxn modelId="{A1A25B7E-7DEE-4D20-ACAB-4E0F2BE447B3}" type="presParOf" srcId="{7CD47908-B25F-42C4-8ABA-4B387A112C49}" destId="{CF1C4BA4-D566-4A20-B412-65507EB65535}" srcOrd="14" destOrd="0" presId="urn:microsoft.com/office/officeart/2008/layout/LinedList"/>
    <dgm:cxn modelId="{E5A478AF-EB08-48AE-82E1-8E60EBF6A447}" type="presParOf" srcId="{7CD47908-B25F-42C4-8ABA-4B387A112C49}" destId="{087E5024-F138-4674-93A7-7D6FBD5861D0}" srcOrd="15" destOrd="0" presId="urn:microsoft.com/office/officeart/2008/layout/LinedList"/>
    <dgm:cxn modelId="{E60DB2E0-4DB5-41FC-AD7F-F473398BCD01}" type="presParOf" srcId="{087E5024-F138-4674-93A7-7D6FBD5861D0}" destId="{CF790C32-C4EB-423F-9197-5BAB7EB38717}" srcOrd="0" destOrd="0" presId="urn:microsoft.com/office/officeart/2008/layout/LinedList"/>
    <dgm:cxn modelId="{A59F71AC-7C7E-4EB6-8D22-D6157148CED0}" type="presParOf" srcId="{087E5024-F138-4674-93A7-7D6FBD5861D0}" destId="{F45387EA-D1B6-4835-BED7-38152664A475}" srcOrd="1" destOrd="0" presId="urn:microsoft.com/office/officeart/2008/layout/LinedList"/>
    <dgm:cxn modelId="{311B088B-05A8-425E-B1D2-C91F2D051EB9}" type="presParOf" srcId="{7CD47908-B25F-42C4-8ABA-4B387A112C49}" destId="{D51CABEA-0C06-40D9-AE76-5276DFF1034F}" srcOrd="16" destOrd="0" presId="urn:microsoft.com/office/officeart/2008/layout/LinedList"/>
    <dgm:cxn modelId="{041FC991-6CAA-429B-BCF3-72FEC9CE67E4}" type="presParOf" srcId="{7CD47908-B25F-42C4-8ABA-4B387A112C49}" destId="{86BB04C6-B162-4B44-93CD-C0EC37D66204}" srcOrd="17" destOrd="0" presId="urn:microsoft.com/office/officeart/2008/layout/LinedList"/>
    <dgm:cxn modelId="{E304B84C-BB9F-4968-A23B-314E25694450}" type="presParOf" srcId="{86BB04C6-B162-4B44-93CD-C0EC37D66204}" destId="{8DE5A03F-39CA-4EFA-AA75-BC176A5DBECD}" srcOrd="0" destOrd="0" presId="urn:microsoft.com/office/officeart/2008/layout/LinedList"/>
    <dgm:cxn modelId="{CF0BB68E-8B5A-400C-8389-6FE6DD1D9142}" type="presParOf" srcId="{86BB04C6-B162-4B44-93CD-C0EC37D66204}" destId="{A91C8FD2-6AD8-40E7-9B26-7BC16ACB64B3}" srcOrd="1" destOrd="0" presId="urn:microsoft.com/office/officeart/2008/layout/LinedList"/>
    <dgm:cxn modelId="{1B97D6DC-FD47-431A-9FD3-D70DF313342F}" type="presParOf" srcId="{7CD47908-B25F-42C4-8ABA-4B387A112C49}" destId="{140ED8C5-0616-48B1-8F4A-47B363F87BDF}" srcOrd="18" destOrd="0" presId="urn:microsoft.com/office/officeart/2008/layout/LinedList"/>
    <dgm:cxn modelId="{4D0729D3-9FAB-48C6-8D6D-CAF86DB72C1E}" type="presParOf" srcId="{7CD47908-B25F-42C4-8ABA-4B387A112C49}" destId="{A0FE57A9-110E-45C4-B511-7F16C428F0A0}" srcOrd="19" destOrd="0" presId="urn:microsoft.com/office/officeart/2008/layout/LinedList"/>
    <dgm:cxn modelId="{97417A9D-55B8-44D5-AB97-4D119DAE9B9D}" type="presParOf" srcId="{A0FE57A9-110E-45C4-B511-7F16C428F0A0}" destId="{0A5DE15B-1E27-4EA0-9136-49FD55534704}" srcOrd="0" destOrd="0" presId="urn:microsoft.com/office/officeart/2008/layout/LinedList"/>
    <dgm:cxn modelId="{EF6CD937-2A0B-4C54-B994-420BE410A8F0}" type="presParOf" srcId="{A0FE57A9-110E-45C4-B511-7F16C428F0A0}" destId="{1E03E356-7561-4737-869E-186B5E9B4AE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1A2AB4-040E-49A1-B09D-753E638DF1D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5EAB73C-0C14-47DB-8B76-9AAB81028533}">
      <dgm:prSet/>
      <dgm:spPr/>
      <dgm:t>
        <a:bodyPr/>
        <a:lstStyle/>
        <a:p>
          <a:pPr>
            <a:lnSpc>
              <a:spcPct val="100000"/>
            </a:lnSpc>
          </a:pPr>
          <a:r>
            <a:rPr lang="en-US" b="1" dirty="0"/>
            <a:t>Productivity Mechanisms:</a:t>
          </a:r>
          <a:r>
            <a:rPr lang="en-US" dirty="0"/>
            <a:t> Research shows AI boosts productivity by automating repetitive processes and reducing "time-to-value".</a:t>
          </a:r>
        </a:p>
      </dgm:t>
    </dgm:pt>
    <dgm:pt modelId="{2CC0A437-6950-467E-A56E-2ED2FFD74F24}" type="parTrans" cxnId="{CCE8CA7B-578A-4B28-A125-0623475FE363}">
      <dgm:prSet/>
      <dgm:spPr/>
      <dgm:t>
        <a:bodyPr/>
        <a:lstStyle/>
        <a:p>
          <a:endParaRPr lang="en-US"/>
        </a:p>
      </dgm:t>
    </dgm:pt>
    <dgm:pt modelId="{39E7DFB3-C93E-430B-AE35-F2871613C0C8}" type="sibTrans" cxnId="{CCE8CA7B-578A-4B28-A125-0623475FE363}">
      <dgm:prSet/>
      <dgm:spPr/>
      <dgm:t>
        <a:bodyPr/>
        <a:lstStyle/>
        <a:p>
          <a:endParaRPr lang="en-US"/>
        </a:p>
      </dgm:t>
    </dgm:pt>
    <dgm:pt modelId="{6594D4A6-29BA-488E-8981-D46CAF0AE5C3}">
      <dgm:prSet/>
      <dgm:spPr/>
      <dgm:t>
        <a:bodyPr/>
        <a:lstStyle/>
        <a:p>
          <a:pPr>
            <a:lnSpc>
              <a:spcPct val="100000"/>
            </a:lnSpc>
          </a:pPr>
          <a:r>
            <a:rPr lang="en-US" b="1" dirty="0"/>
            <a:t>The Jagged Frontier:</a:t>
          </a:r>
          <a:r>
            <a:rPr lang="en-US" dirty="0"/>
            <a:t> AI significantly enhances tasks within its capabilities (e.g., boilerplate code) but requires human oversight for complex reasoning.</a:t>
          </a:r>
        </a:p>
      </dgm:t>
    </dgm:pt>
    <dgm:pt modelId="{D7DE0CC6-E510-4946-9DDB-156568EB2B71}" type="parTrans" cxnId="{C86CFBE8-C065-41DC-BF82-2BCE1E0DEB12}">
      <dgm:prSet/>
      <dgm:spPr/>
      <dgm:t>
        <a:bodyPr/>
        <a:lstStyle/>
        <a:p>
          <a:endParaRPr lang="en-US"/>
        </a:p>
      </dgm:t>
    </dgm:pt>
    <dgm:pt modelId="{202602AF-D6FA-4B3A-8B92-A54CB786EE70}" type="sibTrans" cxnId="{C86CFBE8-C065-41DC-BF82-2BCE1E0DEB12}">
      <dgm:prSet/>
      <dgm:spPr/>
      <dgm:t>
        <a:bodyPr/>
        <a:lstStyle/>
        <a:p>
          <a:endParaRPr lang="en-US"/>
        </a:p>
      </dgm:t>
    </dgm:pt>
    <dgm:pt modelId="{66419952-5E16-4029-985A-489CC03E2C0C}">
      <dgm:prSet/>
      <dgm:spPr/>
      <dgm:t>
        <a:bodyPr/>
        <a:lstStyle/>
        <a:p>
          <a:pPr>
            <a:lnSpc>
              <a:spcPct val="100000"/>
            </a:lnSpc>
          </a:pPr>
          <a:r>
            <a:rPr lang="en-US" b="1"/>
            <a:t>Resource-Based View (RBV):</a:t>
          </a:r>
          <a:r>
            <a:rPr lang="en-US"/>
            <a:t> AI acts as a "valuable and rare" resource that helps firms achieve sustainable competitive advantage</a:t>
          </a:r>
        </a:p>
      </dgm:t>
    </dgm:pt>
    <dgm:pt modelId="{A10A8E9A-718D-4EA3-8833-621120C780EC}" type="parTrans" cxnId="{F3E80FA9-F3B1-4EF5-9FED-C41CE3B21F94}">
      <dgm:prSet/>
      <dgm:spPr/>
      <dgm:t>
        <a:bodyPr/>
        <a:lstStyle/>
        <a:p>
          <a:endParaRPr lang="en-US"/>
        </a:p>
      </dgm:t>
    </dgm:pt>
    <dgm:pt modelId="{CC9CF035-67EA-4F1E-B9C9-E6FAF46093EB}" type="sibTrans" cxnId="{F3E80FA9-F3B1-4EF5-9FED-C41CE3B21F94}">
      <dgm:prSet/>
      <dgm:spPr/>
      <dgm:t>
        <a:bodyPr/>
        <a:lstStyle/>
        <a:p>
          <a:endParaRPr lang="en-US"/>
        </a:p>
      </dgm:t>
    </dgm:pt>
    <dgm:pt modelId="{33B547B4-5FC3-42CE-A440-43D524B37DDF}" type="pres">
      <dgm:prSet presAssocID="{CC1A2AB4-040E-49A1-B09D-753E638DF1D2}" presName="root" presStyleCnt="0">
        <dgm:presLayoutVars>
          <dgm:dir/>
          <dgm:resizeHandles val="exact"/>
        </dgm:presLayoutVars>
      </dgm:prSet>
      <dgm:spPr/>
    </dgm:pt>
    <dgm:pt modelId="{C1F36517-57EE-44CE-BAAC-20330CB8C409}" type="pres">
      <dgm:prSet presAssocID="{05EAB73C-0C14-47DB-8B76-9AAB81028533}" presName="compNode" presStyleCnt="0"/>
      <dgm:spPr/>
    </dgm:pt>
    <dgm:pt modelId="{5ED4C27E-45B7-42F2-A18F-939C3318964B}" type="pres">
      <dgm:prSet presAssocID="{05EAB73C-0C14-47DB-8B76-9AAB8102853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obot"/>
        </a:ext>
      </dgm:extLst>
    </dgm:pt>
    <dgm:pt modelId="{8E8CC981-2C9D-47F1-937C-C92A71845D49}" type="pres">
      <dgm:prSet presAssocID="{05EAB73C-0C14-47DB-8B76-9AAB81028533}" presName="spaceRect" presStyleCnt="0"/>
      <dgm:spPr/>
    </dgm:pt>
    <dgm:pt modelId="{DADCB3B2-0279-49DD-8437-5EAF450C4C74}" type="pres">
      <dgm:prSet presAssocID="{05EAB73C-0C14-47DB-8B76-9AAB81028533}" presName="textRect" presStyleLbl="revTx" presStyleIdx="0" presStyleCnt="3">
        <dgm:presLayoutVars>
          <dgm:chMax val="1"/>
          <dgm:chPref val="1"/>
        </dgm:presLayoutVars>
      </dgm:prSet>
      <dgm:spPr/>
    </dgm:pt>
    <dgm:pt modelId="{368375B1-B718-419E-863D-2127E7565C76}" type="pres">
      <dgm:prSet presAssocID="{39E7DFB3-C93E-430B-AE35-F2871613C0C8}" presName="sibTrans" presStyleCnt="0"/>
      <dgm:spPr/>
    </dgm:pt>
    <dgm:pt modelId="{15B5D9CA-5DE8-46EA-B42C-AEF90C73D7B1}" type="pres">
      <dgm:prSet presAssocID="{6594D4A6-29BA-488E-8981-D46CAF0AE5C3}" presName="compNode" presStyleCnt="0"/>
      <dgm:spPr/>
    </dgm:pt>
    <dgm:pt modelId="{99DB8AFB-5038-4604-AD91-75CECAD6C3AA}" type="pres">
      <dgm:prSet presAssocID="{6594D4A6-29BA-488E-8981-D46CAF0AE5C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nyon scene"/>
        </a:ext>
      </dgm:extLst>
    </dgm:pt>
    <dgm:pt modelId="{51B9AE29-1A3B-4315-A0FA-B37189BA3483}" type="pres">
      <dgm:prSet presAssocID="{6594D4A6-29BA-488E-8981-D46CAF0AE5C3}" presName="spaceRect" presStyleCnt="0"/>
      <dgm:spPr/>
    </dgm:pt>
    <dgm:pt modelId="{E3E860E6-3683-4262-B39C-F6EE101627A4}" type="pres">
      <dgm:prSet presAssocID="{6594D4A6-29BA-488E-8981-D46CAF0AE5C3}" presName="textRect" presStyleLbl="revTx" presStyleIdx="1" presStyleCnt="3">
        <dgm:presLayoutVars>
          <dgm:chMax val="1"/>
          <dgm:chPref val="1"/>
        </dgm:presLayoutVars>
      </dgm:prSet>
      <dgm:spPr/>
    </dgm:pt>
    <dgm:pt modelId="{4E9DBFBC-7B47-43D0-AAED-B2B83D3996A1}" type="pres">
      <dgm:prSet presAssocID="{202602AF-D6FA-4B3A-8B92-A54CB786EE70}" presName="sibTrans" presStyleCnt="0"/>
      <dgm:spPr/>
    </dgm:pt>
    <dgm:pt modelId="{FC82275A-B019-466D-9A6C-D815432F16CC}" type="pres">
      <dgm:prSet presAssocID="{66419952-5E16-4029-985A-489CC03E2C0C}" presName="compNode" presStyleCnt="0"/>
      <dgm:spPr/>
    </dgm:pt>
    <dgm:pt modelId="{F7D24907-91DA-4DF0-9379-C28D0FE82A4A}" type="pres">
      <dgm:prSet presAssocID="{66419952-5E16-4029-985A-489CC03E2C0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erson with Idea"/>
        </a:ext>
      </dgm:extLst>
    </dgm:pt>
    <dgm:pt modelId="{1B16EB56-3B30-4CCC-B86B-A97FE4896A7E}" type="pres">
      <dgm:prSet presAssocID="{66419952-5E16-4029-985A-489CC03E2C0C}" presName="spaceRect" presStyleCnt="0"/>
      <dgm:spPr/>
    </dgm:pt>
    <dgm:pt modelId="{46C23AEA-AEC1-495B-9BDE-420ECD5CE261}" type="pres">
      <dgm:prSet presAssocID="{66419952-5E16-4029-985A-489CC03E2C0C}" presName="textRect" presStyleLbl="revTx" presStyleIdx="2" presStyleCnt="3">
        <dgm:presLayoutVars>
          <dgm:chMax val="1"/>
          <dgm:chPref val="1"/>
        </dgm:presLayoutVars>
      </dgm:prSet>
      <dgm:spPr/>
    </dgm:pt>
  </dgm:ptLst>
  <dgm:cxnLst>
    <dgm:cxn modelId="{C0EB610B-DC78-4AB9-87B6-3B07198807FD}" type="presOf" srcId="{66419952-5E16-4029-985A-489CC03E2C0C}" destId="{46C23AEA-AEC1-495B-9BDE-420ECD5CE261}" srcOrd="0" destOrd="0" presId="urn:microsoft.com/office/officeart/2018/2/layout/IconLabelList"/>
    <dgm:cxn modelId="{8E2B9D2A-32D5-4294-A2C6-AE260ABEF097}" type="presOf" srcId="{CC1A2AB4-040E-49A1-B09D-753E638DF1D2}" destId="{33B547B4-5FC3-42CE-A440-43D524B37DDF}" srcOrd="0" destOrd="0" presId="urn:microsoft.com/office/officeart/2018/2/layout/IconLabelList"/>
    <dgm:cxn modelId="{CCE8CA7B-578A-4B28-A125-0623475FE363}" srcId="{CC1A2AB4-040E-49A1-B09D-753E638DF1D2}" destId="{05EAB73C-0C14-47DB-8B76-9AAB81028533}" srcOrd="0" destOrd="0" parTransId="{2CC0A437-6950-467E-A56E-2ED2FFD74F24}" sibTransId="{39E7DFB3-C93E-430B-AE35-F2871613C0C8}"/>
    <dgm:cxn modelId="{628D32A4-BCAF-4303-9C3E-3801004422DF}" type="presOf" srcId="{05EAB73C-0C14-47DB-8B76-9AAB81028533}" destId="{DADCB3B2-0279-49DD-8437-5EAF450C4C74}" srcOrd="0" destOrd="0" presId="urn:microsoft.com/office/officeart/2018/2/layout/IconLabelList"/>
    <dgm:cxn modelId="{F3E80FA9-F3B1-4EF5-9FED-C41CE3B21F94}" srcId="{CC1A2AB4-040E-49A1-B09D-753E638DF1D2}" destId="{66419952-5E16-4029-985A-489CC03E2C0C}" srcOrd="2" destOrd="0" parTransId="{A10A8E9A-718D-4EA3-8833-621120C780EC}" sibTransId="{CC9CF035-67EA-4F1E-B9C9-E6FAF46093EB}"/>
    <dgm:cxn modelId="{C86CFBE8-C065-41DC-BF82-2BCE1E0DEB12}" srcId="{CC1A2AB4-040E-49A1-B09D-753E638DF1D2}" destId="{6594D4A6-29BA-488E-8981-D46CAF0AE5C3}" srcOrd="1" destOrd="0" parTransId="{D7DE0CC6-E510-4946-9DDB-156568EB2B71}" sibTransId="{202602AF-D6FA-4B3A-8B92-A54CB786EE70}"/>
    <dgm:cxn modelId="{AA2112FE-715F-4926-95D4-6AEB0C2299AE}" type="presOf" srcId="{6594D4A6-29BA-488E-8981-D46CAF0AE5C3}" destId="{E3E860E6-3683-4262-B39C-F6EE101627A4}" srcOrd="0" destOrd="0" presId="urn:microsoft.com/office/officeart/2018/2/layout/IconLabelList"/>
    <dgm:cxn modelId="{C422631D-A9C8-4814-BFBD-4A9543FBC308}" type="presParOf" srcId="{33B547B4-5FC3-42CE-A440-43D524B37DDF}" destId="{C1F36517-57EE-44CE-BAAC-20330CB8C409}" srcOrd="0" destOrd="0" presId="urn:microsoft.com/office/officeart/2018/2/layout/IconLabelList"/>
    <dgm:cxn modelId="{66DB223B-12D5-4D4C-83AE-592DF04B9D24}" type="presParOf" srcId="{C1F36517-57EE-44CE-BAAC-20330CB8C409}" destId="{5ED4C27E-45B7-42F2-A18F-939C3318964B}" srcOrd="0" destOrd="0" presId="urn:microsoft.com/office/officeart/2018/2/layout/IconLabelList"/>
    <dgm:cxn modelId="{570D8456-FF91-4D90-8F28-F2FA8AF73CD2}" type="presParOf" srcId="{C1F36517-57EE-44CE-BAAC-20330CB8C409}" destId="{8E8CC981-2C9D-47F1-937C-C92A71845D49}" srcOrd="1" destOrd="0" presId="urn:microsoft.com/office/officeart/2018/2/layout/IconLabelList"/>
    <dgm:cxn modelId="{9792DB5B-D608-4188-AD3D-C8B09767BA17}" type="presParOf" srcId="{C1F36517-57EE-44CE-BAAC-20330CB8C409}" destId="{DADCB3B2-0279-49DD-8437-5EAF450C4C74}" srcOrd="2" destOrd="0" presId="urn:microsoft.com/office/officeart/2018/2/layout/IconLabelList"/>
    <dgm:cxn modelId="{B7D1CE9F-494F-4536-9DF0-12C07C85A4B8}" type="presParOf" srcId="{33B547B4-5FC3-42CE-A440-43D524B37DDF}" destId="{368375B1-B718-419E-863D-2127E7565C76}" srcOrd="1" destOrd="0" presId="urn:microsoft.com/office/officeart/2018/2/layout/IconLabelList"/>
    <dgm:cxn modelId="{751B2FC5-7E84-4358-9447-712C83D90A3E}" type="presParOf" srcId="{33B547B4-5FC3-42CE-A440-43D524B37DDF}" destId="{15B5D9CA-5DE8-46EA-B42C-AEF90C73D7B1}" srcOrd="2" destOrd="0" presId="urn:microsoft.com/office/officeart/2018/2/layout/IconLabelList"/>
    <dgm:cxn modelId="{92EA4DDC-87AE-47F7-9605-A377624EA475}" type="presParOf" srcId="{15B5D9CA-5DE8-46EA-B42C-AEF90C73D7B1}" destId="{99DB8AFB-5038-4604-AD91-75CECAD6C3AA}" srcOrd="0" destOrd="0" presId="urn:microsoft.com/office/officeart/2018/2/layout/IconLabelList"/>
    <dgm:cxn modelId="{BD3C0DC9-D8EB-4A12-8C4A-4ABFC437FD93}" type="presParOf" srcId="{15B5D9CA-5DE8-46EA-B42C-AEF90C73D7B1}" destId="{51B9AE29-1A3B-4315-A0FA-B37189BA3483}" srcOrd="1" destOrd="0" presId="urn:microsoft.com/office/officeart/2018/2/layout/IconLabelList"/>
    <dgm:cxn modelId="{84B5F427-0024-4291-99D1-77B5066FAFF6}" type="presParOf" srcId="{15B5D9CA-5DE8-46EA-B42C-AEF90C73D7B1}" destId="{E3E860E6-3683-4262-B39C-F6EE101627A4}" srcOrd="2" destOrd="0" presId="urn:microsoft.com/office/officeart/2018/2/layout/IconLabelList"/>
    <dgm:cxn modelId="{9797A8BA-FCDF-450A-A5AF-F5812C24A691}" type="presParOf" srcId="{33B547B4-5FC3-42CE-A440-43D524B37DDF}" destId="{4E9DBFBC-7B47-43D0-AAED-B2B83D3996A1}" srcOrd="3" destOrd="0" presId="urn:microsoft.com/office/officeart/2018/2/layout/IconLabelList"/>
    <dgm:cxn modelId="{7A9D19AA-0B9D-4393-9CB5-96BBC353216A}" type="presParOf" srcId="{33B547B4-5FC3-42CE-A440-43D524B37DDF}" destId="{FC82275A-B019-466D-9A6C-D815432F16CC}" srcOrd="4" destOrd="0" presId="urn:microsoft.com/office/officeart/2018/2/layout/IconLabelList"/>
    <dgm:cxn modelId="{1598F916-FE03-4306-B1CE-530E1939A270}" type="presParOf" srcId="{FC82275A-B019-466D-9A6C-D815432F16CC}" destId="{F7D24907-91DA-4DF0-9379-C28D0FE82A4A}" srcOrd="0" destOrd="0" presId="urn:microsoft.com/office/officeart/2018/2/layout/IconLabelList"/>
    <dgm:cxn modelId="{DA1AD6F4-6F3E-475B-B4B3-058001D63B3D}" type="presParOf" srcId="{FC82275A-B019-466D-9A6C-D815432F16CC}" destId="{1B16EB56-3B30-4CCC-B86B-A97FE4896A7E}" srcOrd="1" destOrd="0" presId="urn:microsoft.com/office/officeart/2018/2/layout/IconLabelList"/>
    <dgm:cxn modelId="{5BF6A3E4-3890-4CE7-AB44-BC49DE4FEED9}" type="presParOf" srcId="{FC82275A-B019-466D-9A6C-D815432F16CC}" destId="{46C23AEA-AEC1-495B-9BDE-420ECD5CE26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836B5B-098F-417B-932E-49E87BA52EB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AFB6B71-4A0C-4641-B078-DE87A362E062}">
      <dgm:prSet custT="1"/>
      <dgm:spPr/>
      <dgm:t>
        <a:bodyPr/>
        <a:lstStyle/>
        <a:p>
          <a:pPr>
            <a:lnSpc>
              <a:spcPct val="100000"/>
            </a:lnSpc>
          </a:pPr>
          <a:r>
            <a:rPr lang="en-US" sz="1200" b="1" dirty="0"/>
            <a:t>Empirical Scarcity &amp; Lack of Quantitative Validation: </a:t>
          </a:r>
          <a:r>
            <a:rPr lang="en-US" sz="1200" b="0" dirty="0"/>
            <a:t>While the adoption of Generative AI is widespread, existing literature is predominantly qualitative. There is a significant gap in systematically measuring and providing empirical, quantitative evidence to validate reported productivity improvements</a:t>
          </a:r>
        </a:p>
      </dgm:t>
    </dgm:pt>
    <dgm:pt modelId="{5306175D-C825-4D31-AB45-F039C070120B}" type="parTrans" cxnId="{41B7EF08-54A9-4FCE-AA00-9176534CE597}">
      <dgm:prSet/>
      <dgm:spPr/>
      <dgm:t>
        <a:bodyPr/>
        <a:lstStyle/>
        <a:p>
          <a:endParaRPr lang="en-IN"/>
        </a:p>
      </dgm:t>
    </dgm:pt>
    <dgm:pt modelId="{14B63878-D1FF-47CD-8C3F-04F6AC9FD347}" type="sibTrans" cxnId="{41B7EF08-54A9-4FCE-AA00-9176534CE597}">
      <dgm:prSet/>
      <dgm:spPr/>
      <dgm:t>
        <a:bodyPr/>
        <a:lstStyle/>
        <a:p>
          <a:pPr>
            <a:lnSpc>
              <a:spcPct val="100000"/>
            </a:lnSpc>
          </a:pPr>
          <a:endParaRPr lang="en-IN"/>
        </a:p>
      </dgm:t>
    </dgm:pt>
    <dgm:pt modelId="{FF58FBAE-EF8E-4E5D-BA44-544F99C35350}">
      <dgm:prSet custT="1"/>
      <dgm:spPr/>
      <dgm: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Isolation of Metrics: </a:t>
          </a:r>
          <a:r>
            <a:rPr lang="en-US" sz="1200" b="0" kern="1200" dirty="0">
              <a:solidFill>
                <a:prstClr val="black">
                  <a:hueOff val="0"/>
                  <a:satOff val="0"/>
                  <a:lumOff val="0"/>
                  <a:alphaOff val="0"/>
                </a:prstClr>
              </a:solidFill>
              <a:latin typeface="Calibri"/>
              <a:ea typeface="+mn-ea"/>
              <a:cs typeface="+mn-cs"/>
            </a:rPr>
            <a:t>Traditional productivity metrics, such as "output per hour," fail to capture the multidimensional nature of AI-driven work. Most studies analyze metrics like speed or volume in isolation rather than integrating qualitative gains such as improved decision-making, accuracy, and error reduction into a unified framework</a:t>
          </a:r>
        </a:p>
      </dgm:t>
    </dgm:pt>
    <dgm:pt modelId="{C54A1EAB-A0F5-424B-881A-466872688557}" type="parTrans" cxnId="{577003D2-C282-46DB-8880-D0789E628BE7}">
      <dgm:prSet/>
      <dgm:spPr/>
      <dgm:t>
        <a:bodyPr/>
        <a:lstStyle/>
        <a:p>
          <a:endParaRPr lang="en-IN"/>
        </a:p>
      </dgm:t>
    </dgm:pt>
    <dgm:pt modelId="{3C4479AB-8D74-4A96-81EE-D7BDFF4B98EA}" type="sibTrans" cxnId="{577003D2-C282-46DB-8880-D0789E628BE7}">
      <dgm:prSet/>
      <dgm:spPr/>
      <dgm:t>
        <a:bodyPr/>
        <a:lstStyle/>
        <a:p>
          <a:pPr>
            <a:lnSpc>
              <a:spcPct val="100000"/>
            </a:lnSpc>
          </a:pPr>
          <a:endParaRPr lang="en-IN"/>
        </a:p>
      </dgm:t>
    </dgm:pt>
    <dgm:pt modelId="{266FB846-CBA9-45AF-8F6E-4A1AB42AC72F}">
      <dgm:prSet custT="1"/>
      <dgm:spPr/>
      <dgm: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Limited Comparative Analysis: </a:t>
          </a:r>
          <a:r>
            <a:rPr lang="en-US" sz="1200" b="0" kern="1200" dirty="0">
              <a:solidFill>
                <a:prstClr val="black">
                  <a:hueOff val="0"/>
                  <a:satOff val="0"/>
                  <a:lumOff val="0"/>
                  <a:alphaOff val="0"/>
                </a:prstClr>
              </a:solidFill>
              <a:latin typeface="Calibri"/>
              <a:ea typeface="+mn-ea"/>
              <a:cs typeface="+mn-cs"/>
            </a:rPr>
            <a:t>There is a lack of rigorous, real-world comparison between AI-assisted workflows and traditional (non-AI) methods. Research has yet to establish clear benchmarks by comparing performance outcomes across identical tasks performed with and without AI integration</a:t>
          </a:r>
        </a:p>
      </dgm:t>
    </dgm:pt>
    <dgm:pt modelId="{B2BB480B-8F8F-40F1-B6A0-6DDA9D4A3D1E}" type="parTrans" cxnId="{EBE6863D-C25D-448C-BF4A-9F2DD57700BD}">
      <dgm:prSet/>
      <dgm:spPr/>
      <dgm:t>
        <a:bodyPr/>
        <a:lstStyle/>
        <a:p>
          <a:endParaRPr lang="en-IN"/>
        </a:p>
      </dgm:t>
    </dgm:pt>
    <dgm:pt modelId="{B9F0BF46-DC66-4C2D-87D9-EEBAC454C3C5}" type="sibTrans" cxnId="{EBE6863D-C25D-448C-BF4A-9F2DD57700BD}">
      <dgm:prSet/>
      <dgm:spPr/>
      <dgm:t>
        <a:bodyPr/>
        <a:lstStyle/>
        <a:p>
          <a:pPr>
            <a:lnSpc>
              <a:spcPct val="100000"/>
            </a:lnSpc>
          </a:pPr>
          <a:endParaRPr lang="en-IN"/>
        </a:p>
      </dgm:t>
    </dgm:pt>
    <dgm:pt modelId="{28AA86FA-7C06-45E0-80A2-7ACDD8A24671}">
      <dgm:prSet custT="1"/>
      <dgm:spPr/>
      <dgm: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Weak Strategic Linkage: </a:t>
          </a:r>
          <a:r>
            <a:rPr lang="en-US" sz="1200" b="0" kern="1200" dirty="0">
              <a:solidFill>
                <a:prstClr val="black">
                  <a:hueOff val="0"/>
                  <a:satOff val="0"/>
                  <a:lumOff val="0"/>
                  <a:alphaOff val="0"/>
                </a:prstClr>
              </a:solidFill>
              <a:latin typeface="Calibri"/>
              <a:ea typeface="+mn-ea"/>
              <a:cs typeface="+mn-cs"/>
            </a:rPr>
            <a:t>While individual productivity gains are often acknowledged, the direct and measurable connection between these improvements and a sustainable organizational competitive advantage remains underexplored. Most research focuses on potential benefits rather than validating how AI-driven efficiency translates into strategic market superiority.</a:t>
          </a:r>
        </a:p>
      </dgm:t>
    </dgm:pt>
    <dgm:pt modelId="{E6D5589F-7055-402A-96A7-D5155E8983AF}" type="parTrans" cxnId="{2828B524-A1BE-4955-BF88-138176155F8B}">
      <dgm:prSet/>
      <dgm:spPr/>
      <dgm:t>
        <a:bodyPr/>
        <a:lstStyle/>
        <a:p>
          <a:endParaRPr lang="en-IN"/>
        </a:p>
      </dgm:t>
    </dgm:pt>
    <dgm:pt modelId="{79FE3B72-2422-4886-AFE3-342179B61CF3}" type="sibTrans" cxnId="{2828B524-A1BE-4955-BF88-138176155F8B}">
      <dgm:prSet/>
      <dgm:spPr/>
      <dgm:t>
        <a:bodyPr/>
        <a:lstStyle/>
        <a:p>
          <a:endParaRPr lang="en-IN"/>
        </a:p>
      </dgm:t>
    </dgm:pt>
    <dgm:pt modelId="{907ED080-ACEA-4087-9BD1-1A8E81268F07}" type="pres">
      <dgm:prSet presAssocID="{EC836B5B-098F-417B-932E-49E87BA52EB0}" presName="root" presStyleCnt="0">
        <dgm:presLayoutVars>
          <dgm:dir/>
          <dgm:resizeHandles val="exact"/>
        </dgm:presLayoutVars>
      </dgm:prSet>
      <dgm:spPr/>
    </dgm:pt>
    <dgm:pt modelId="{903757C7-411E-456D-BFF7-EBBBC3A9AC0C}" type="pres">
      <dgm:prSet presAssocID="{EC836B5B-098F-417B-932E-49E87BA52EB0}" presName="container" presStyleCnt="0">
        <dgm:presLayoutVars>
          <dgm:dir/>
          <dgm:resizeHandles val="exact"/>
        </dgm:presLayoutVars>
      </dgm:prSet>
      <dgm:spPr/>
    </dgm:pt>
    <dgm:pt modelId="{61205446-F1E1-4B25-9CFE-BBCDA0D6E51A}" type="pres">
      <dgm:prSet presAssocID="{3AFB6B71-4A0C-4641-B078-DE87A362E062}" presName="compNode" presStyleCnt="0"/>
      <dgm:spPr/>
    </dgm:pt>
    <dgm:pt modelId="{0CFFC9D2-894A-465C-B8AD-D70319EB47E2}" type="pres">
      <dgm:prSet presAssocID="{3AFB6B71-4A0C-4641-B078-DE87A362E062}" presName="iconBgRect" presStyleLbl="bgShp" presStyleIdx="0" presStyleCnt="4" custLinFactNeighborX="-1198" custLinFactNeighborY="-39217"/>
      <dgm:spPr/>
    </dgm:pt>
    <dgm:pt modelId="{1B053229-E249-4F18-80C8-414DF223BD07}" type="pres">
      <dgm:prSet presAssocID="{3AFB6B71-4A0C-4641-B078-DE87A362E062}" presName="iconRect" presStyleLbl="node1" presStyleIdx="0" presStyleCnt="4" custLinFactNeighborX="-2066" custLinFactNeighborY="-7062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heckbox Checked with solid fill"/>
        </a:ext>
      </dgm:extLst>
    </dgm:pt>
    <dgm:pt modelId="{44E2A8CA-68DF-4E23-9DB6-1C55FB6AA67B}" type="pres">
      <dgm:prSet presAssocID="{3AFB6B71-4A0C-4641-B078-DE87A362E062}" presName="spaceRect" presStyleCnt="0"/>
      <dgm:spPr/>
    </dgm:pt>
    <dgm:pt modelId="{1AEDAAF1-0FDB-404A-8F39-9CFD5BC83EF2}" type="pres">
      <dgm:prSet presAssocID="{3AFB6B71-4A0C-4641-B078-DE87A362E062}" presName="textRect" presStyleLbl="revTx" presStyleIdx="0" presStyleCnt="4" custLinFactNeighborX="-6258" custLinFactNeighborY="-48147">
        <dgm:presLayoutVars>
          <dgm:chMax val="1"/>
          <dgm:chPref val="1"/>
        </dgm:presLayoutVars>
      </dgm:prSet>
      <dgm:spPr/>
    </dgm:pt>
    <dgm:pt modelId="{88E3FF88-AFFA-41BB-A69E-62D2465AB2EB}" type="pres">
      <dgm:prSet presAssocID="{14B63878-D1FF-47CD-8C3F-04F6AC9FD347}" presName="sibTrans" presStyleLbl="sibTrans2D1" presStyleIdx="0" presStyleCnt="0"/>
      <dgm:spPr/>
    </dgm:pt>
    <dgm:pt modelId="{54143D98-B1EB-4A35-9D78-82CCA459A3F7}" type="pres">
      <dgm:prSet presAssocID="{FF58FBAE-EF8E-4E5D-BA44-544F99C35350}" presName="compNode" presStyleCnt="0"/>
      <dgm:spPr/>
    </dgm:pt>
    <dgm:pt modelId="{15E94CF5-E2FA-454C-AE6C-4ABF0B21FB1D}" type="pres">
      <dgm:prSet presAssocID="{FF58FBAE-EF8E-4E5D-BA44-544F99C35350}" presName="iconBgRect" presStyleLbl="bgShp" presStyleIdx="1" presStyleCnt="4" custLinFactNeighborX="910" custLinFactNeighborY="-39217"/>
      <dgm:spPr/>
    </dgm:pt>
    <dgm:pt modelId="{8E6374C9-DDBA-4043-8D8C-BF7F8AC937EF}" type="pres">
      <dgm:prSet presAssocID="{FF58FBAE-EF8E-4E5D-BA44-544F99C35350}" presName="iconRect" presStyleLbl="node1" presStyleIdx="1" presStyleCnt="4" custLinFactNeighborX="1570" custLinFactNeighborY="-6761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Processor outline"/>
        </a:ext>
      </dgm:extLst>
    </dgm:pt>
    <dgm:pt modelId="{D1797293-64AE-4548-B150-104698CC99FD}" type="pres">
      <dgm:prSet presAssocID="{FF58FBAE-EF8E-4E5D-BA44-544F99C35350}" presName="spaceRect" presStyleCnt="0"/>
      <dgm:spPr/>
    </dgm:pt>
    <dgm:pt modelId="{25216629-0A5D-4615-AC81-714956D71F3A}" type="pres">
      <dgm:prSet presAssocID="{FF58FBAE-EF8E-4E5D-BA44-544F99C35350}" presName="textRect" presStyleLbl="revTx" presStyleIdx="1" presStyleCnt="4" custLinFactNeighborX="-696" custLinFactNeighborY="-47335">
        <dgm:presLayoutVars>
          <dgm:chMax val="1"/>
          <dgm:chPref val="1"/>
        </dgm:presLayoutVars>
      </dgm:prSet>
      <dgm:spPr/>
    </dgm:pt>
    <dgm:pt modelId="{E32AA134-4214-41DC-8B05-39EB596BC309}" type="pres">
      <dgm:prSet presAssocID="{3C4479AB-8D74-4A96-81EE-D7BDFF4B98EA}" presName="sibTrans" presStyleLbl="sibTrans2D1" presStyleIdx="0" presStyleCnt="0"/>
      <dgm:spPr/>
    </dgm:pt>
    <dgm:pt modelId="{7DB519E1-3ADC-4AA3-8108-90E118B42010}" type="pres">
      <dgm:prSet presAssocID="{266FB846-CBA9-45AF-8F6E-4A1AB42AC72F}" presName="compNode" presStyleCnt="0"/>
      <dgm:spPr/>
    </dgm:pt>
    <dgm:pt modelId="{319A2B90-1854-4C00-8FE0-3F3F68E8D49E}" type="pres">
      <dgm:prSet presAssocID="{266FB846-CBA9-45AF-8F6E-4A1AB42AC72F}" presName="iconBgRect" presStyleLbl="bgShp" presStyleIdx="2" presStyleCnt="4"/>
      <dgm:spPr/>
    </dgm:pt>
    <dgm:pt modelId="{6599B45E-65D5-404E-85AE-CA36302CF079}" type="pres">
      <dgm:prSet presAssocID="{266FB846-CBA9-45AF-8F6E-4A1AB42AC72F}"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Venn diagram with solid fill"/>
        </a:ext>
      </dgm:extLst>
    </dgm:pt>
    <dgm:pt modelId="{8861C9C1-5842-4C3F-84B1-1126714E1672}" type="pres">
      <dgm:prSet presAssocID="{266FB846-CBA9-45AF-8F6E-4A1AB42AC72F}" presName="spaceRect" presStyleCnt="0"/>
      <dgm:spPr/>
    </dgm:pt>
    <dgm:pt modelId="{E94A23AB-F195-4D74-81D0-23EAD8A71BB5}" type="pres">
      <dgm:prSet presAssocID="{266FB846-CBA9-45AF-8F6E-4A1AB42AC72F}" presName="textRect" presStyleLbl="revTx" presStyleIdx="2" presStyleCnt="4" custLinFactNeighborX="-1931" custLinFactNeighborY="-31860">
        <dgm:presLayoutVars>
          <dgm:chMax val="1"/>
          <dgm:chPref val="1"/>
        </dgm:presLayoutVars>
      </dgm:prSet>
      <dgm:spPr/>
    </dgm:pt>
    <dgm:pt modelId="{30FDB74D-C18D-42B7-8FA3-2955FF8E17F7}" type="pres">
      <dgm:prSet presAssocID="{B9F0BF46-DC66-4C2D-87D9-EEBAC454C3C5}" presName="sibTrans" presStyleLbl="sibTrans2D1" presStyleIdx="0" presStyleCnt="0"/>
      <dgm:spPr/>
    </dgm:pt>
    <dgm:pt modelId="{CD67AEDA-C400-47C2-A178-238E09878D19}" type="pres">
      <dgm:prSet presAssocID="{28AA86FA-7C06-45E0-80A2-7ACDD8A24671}" presName="compNode" presStyleCnt="0"/>
      <dgm:spPr/>
    </dgm:pt>
    <dgm:pt modelId="{EBA62F12-7C44-4D5D-8FC5-4AE7C80BBDD6}" type="pres">
      <dgm:prSet presAssocID="{28AA86FA-7C06-45E0-80A2-7ACDD8A24671}" presName="iconBgRect" presStyleLbl="bgShp" presStyleIdx="3" presStyleCnt="4"/>
      <dgm:spPr/>
    </dgm:pt>
    <dgm:pt modelId="{4850AFF6-687F-4D41-99AF-EEAD8FC526F0}" type="pres">
      <dgm:prSet presAssocID="{28AA86FA-7C06-45E0-80A2-7ACDD8A24671}"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isconnected with solid fill"/>
        </a:ext>
      </dgm:extLst>
    </dgm:pt>
    <dgm:pt modelId="{C2F185BF-87FF-4591-A2CA-7D96C7118705}" type="pres">
      <dgm:prSet presAssocID="{28AA86FA-7C06-45E0-80A2-7ACDD8A24671}" presName="spaceRect" presStyleCnt="0"/>
      <dgm:spPr/>
    </dgm:pt>
    <dgm:pt modelId="{D06BA1B6-220D-4478-8078-1311AFD1CCBA}" type="pres">
      <dgm:prSet presAssocID="{28AA86FA-7C06-45E0-80A2-7ACDD8A24671}" presName="textRect" presStyleLbl="revTx" presStyleIdx="3" presStyleCnt="4">
        <dgm:presLayoutVars>
          <dgm:chMax val="1"/>
          <dgm:chPref val="1"/>
        </dgm:presLayoutVars>
      </dgm:prSet>
      <dgm:spPr/>
    </dgm:pt>
  </dgm:ptLst>
  <dgm:cxnLst>
    <dgm:cxn modelId="{41B7EF08-54A9-4FCE-AA00-9176534CE597}" srcId="{EC836B5B-098F-417B-932E-49E87BA52EB0}" destId="{3AFB6B71-4A0C-4641-B078-DE87A362E062}" srcOrd="0" destOrd="0" parTransId="{5306175D-C825-4D31-AB45-F039C070120B}" sibTransId="{14B63878-D1FF-47CD-8C3F-04F6AC9FD347}"/>
    <dgm:cxn modelId="{4CD7240D-68E9-4F9B-975C-1DD9F8594151}" type="presOf" srcId="{B9F0BF46-DC66-4C2D-87D9-EEBAC454C3C5}" destId="{30FDB74D-C18D-42B7-8FA3-2955FF8E17F7}" srcOrd="0" destOrd="0" presId="urn:microsoft.com/office/officeart/2018/2/layout/IconCircleList"/>
    <dgm:cxn modelId="{1AB31F10-8D18-466E-B070-A7BDC644EFFD}" type="presOf" srcId="{EC836B5B-098F-417B-932E-49E87BA52EB0}" destId="{907ED080-ACEA-4087-9BD1-1A8E81268F07}" srcOrd="0" destOrd="0" presId="urn:microsoft.com/office/officeart/2018/2/layout/IconCircleList"/>
    <dgm:cxn modelId="{91916D15-F3C0-4EA9-A06D-CD670BCAC7D8}" type="presOf" srcId="{3AFB6B71-4A0C-4641-B078-DE87A362E062}" destId="{1AEDAAF1-0FDB-404A-8F39-9CFD5BC83EF2}" srcOrd="0" destOrd="0" presId="urn:microsoft.com/office/officeart/2018/2/layout/IconCircleList"/>
    <dgm:cxn modelId="{2828B524-A1BE-4955-BF88-138176155F8B}" srcId="{EC836B5B-098F-417B-932E-49E87BA52EB0}" destId="{28AA86FA-7C06-45E0-80A2-7ACDD8A24671}" srcOrd="3" destOrd="0" parTransId="{E6D5589F-7055-402A-96A7-D5155E8983AF}" sibTransId="{79FE3B72-2422-4886-AFE3-342179B61CF3}"/>
    <dgm:cxn modelId="{6E55373C-8837-4FBA-80A7-C434A9E067B5}" type="presOf" srcId="{28AA86FA-7C06-45E0-80A2-7ACDD8A24671}" destId="{D06BA1B6-220D-4478-8078-1311AFD1CCBA}" srcOrd="0" destOrd="0" presId="urn:microsoft.com/office/officeart/2018/2/layout/IconCircleList"/>
    <dgm:cxn modelId="{EBE6863D-C25D-448C-BF4A-9F2DD57700BD}" srcId="{EC836B5B-098F-417B-932E-49E87BA52EB0}" destId="{266FB846-CBA9-45AF-8F6E-4A1AB42AC72F}" srcOrd="2" destOrd="0" parTransId="{B2BB480B-8F8F-40F1-B6A0-6DDA9D4A3D1E}" sibTransId="{B9F0BF46-DC66-4C2D-87D9-EEBAC454C3C5}"/>
    <dgm:cxn modelId="{6FB1F35C-C9DA-4BA4-9ABE-BEA62B5733FE}" type="presOf" srcId="{3C4479AB-8D74-4A96-81EE-D7BDFF4B98EA}" destId="{E32AA134-4214-41DC-8B05-39EB596BC309}" srcOrd="0" destOrd="0" presId="urn:microsoft.com/office/officeart/2018/2/layout/IconCircleList"/>
    <dgm:cxn modelId="{854963B8-AFA4-4858-B143-E40CB656E857}" type="presOf" srcId="{FF58FBAE-EF8E-4E5D-BA44-544F99C35350}" destId="{25216629-0A5D-4615-AC81-714956D71F3A}" srcOrd="0" destOrd="0" presId="urn:microsoft.com/office/officeart/2018/2/layout/IconCircleList"/>
    <dgm:cxn modelId="{1384FCC3-D439-4DA6-92FB-167C9BC63FDD}" type="presOf" srcId="{14B63878-D1FF-47CD-8C3F-04F6AC9FD347}" destId="{88E3FF88-AFFA-41BB-A69E-62D2465AB2EB}" srcOrd="0" destOrd="0" presId="urn:microsoft.com/office/officeart/2018/2/layout/IconCircleList"/>
    <dgm:cxn modelId="{577003D2-C282-46DB-8880-D0789E628BE7}" srcId="{EC836B5B-098F-417B-932E-49E87BA52EB0}" destId="{FF58FBAE-EF8E-4E5D-BA44-544F99C35350}" srcOrd="1" destOrd="0" parTransId="{C54A1EAB-A0F5-424B-881A-466872688557}" sibTransId="{3C4479AB-8D74-4A96-81EE-D7BDFF4B98EA}"/>
    <dgm:cxn modelId="{E199D0EF-CCF6-4097-8894-4B19E0875EDF}" type="presOf" srcId="{266FB846-CBA9-45AF-8F6E-4A1AB42AC72F}" destId="{E94A23AB-F195-4D74-81D0-23EAD8A71BB5}" srcOrd="0" destOrd="0" presId="urn:microsoft.com/office/officeart/2018/2/layout/IconCircleList"/>
    <dgm:cxn modelId="{EB588867-410F-400C-955E-6CE3407A4A20}" type="presParOf" srcId="{907ED080-ACEA-4087-9BD1-1A8E81268F07}" destId="{903757C7-411E-456D-BFF7-EBBBC3A9AC0C}" srcOrd="0" destOrd="0" presId="urn:microsoft.com/office/officeart/2018/2/layout/IconCircleList"/>
    <dgm:cxn modelId="{67083D59-144E-4DAD-8F2A-88EC2100A1D4}" type="presParOf" srcId="{903757C7-411E-456D-BFF7-EBBBC3A9AC0C}" destId="{61205446-F1E1-4B25-9CFE-BBCDA0D6E51A}" srcOrd="0" destOrd="0" presId="urn:microsoft.com/office/officeart/2018/2/layout/IconCircleList"/>
    <dgm:cxn modelId="{EA7D85FF-788C-4FD5-B5D8-80C5F4F081A7}" type="presParOf" srcId="{61205446-F1E1-4B25-9CFE-BBCDA0D6E51A}" destId="{0CFFC9D2-894A-465C-B8AD-D70319EB47E2}" srcOrd="0" destOrd="0" presId="urn:microsoft.com/office/officeart/2018/2/layout/IconCircleList"/>
    <dgm:cxn modelId="{711D8764-201A-4392-8F70-AF334232EBC1}" type="presParOf" srcId="{61205446-F1E1-4B25-9CFE-BBCDA0D6E51A}" destId="{1B053229-E249-4F18-80C8-414DF223BD07}" srcOrd="1" destOrd="0" presId="urn:microsoft.com/office/officeart/2018/2/layout/IconCircleList"/>
    <dgm:cxn modelId="{C0CF8D53-3C8C-44DB-8280-3CDB36234931}" type="presParOf" srcId="{61205446-F1E1-4B25-9CFE-BBCDA0D6E51A}" destId="{44E2A8CA-68DF-4E23-9DB6-1C55FB6AA67B}" srcOrd="2" destOrd="0" presId="urn:microsoft.com/office/officeart/2018/2/layout/IconCircleList"/>
    <dgm:cxn modelId="{FA1DC9BB-2DD5-461E-920B-DEF5214B96B3}" type="presParOf" srcId="{61205446-F1E1-4B25-9CFE-BBCDA0D6E51A}" destId="{1AEDAAF1-0FDB-404A-8F39-9CFD5BC83EF2}" srcOrd="3" destOrd="0" presId="urn:microsoft.com/office/officeart/2018/2/layout/IconCircleList"/>
    <dgm:cxn modelId="{5FF372CF-B399-4950-8603-B97A4A493A49}" type="presParOf" srcId="{903757C7-411E-456D-BFF7-EBBBC3A9AC0C}" destId="{88E3FF88-AFFA-41BB-A69E-62D2465AB2EB}" srcOrd="1" destOrd="0" presId="urn:microsoft.com/office/officeart/2018/2/layout/IconCircleList"/>
    <dgm:cxn modelId="{AEFC2DB4-4111-44EA-B789-61878071C9A9}" type="presParOf" srcId="{903757C7-411E-456D-BFF7-EBBBC3A9AC0C}" destId="{54143D98-B1EB-4A35-9D78-82CCA459A3F7}" srcOrd="2" destOrd="0" presId="urn:microsoft.com/office/officeart/2018/2/layout/IconCircleList"/>
    <dgm:cxn modelId="{1BD4C8F4-A733-4FFE-AA1D-1084128CA963}" type="presParOf" srcId="{54143D98-B1EB-4A35-9D78-82CCA459A3F7}" destId="{15E94CF5-E2FA-454C-AE6C-4ABF0B21FB1D}" srcOrd="0" destOrd="0" presId="urn:microsoft.com/office/officeart/2018/2/layout/IconCircleList"/>
    <dgm:cxn modelId="{F8DF4075-E114-4C9A-AEC0-F7C1718278D1}" type="presParOf" srcId="{54143D98-B1EB-4A35-9D78-82CCA459A3F7}" destId="{8E6374C9-DDBA-4043-8D8C-BF7F8AC937EF}" srcOrd="1" destOrd="0" presId="urn:microsoft.com/office/officeart/2018/2/layout/IconCircleList"/>
    <dgm:cxn modelId="{7242DB8E-7043-4AB3-B542-423112DEE5B8}" type="presParOf" srcId="{54143D98-B1EB-4A35-9D78-82CCA459A3F7}" destId="{D1797293-64AE-4548-B150-104698CC99FD}" srcOrd="2" destOrd="0" presId="urn:microsoft.com/office/officeart/2018/2/layout/IconCircleList"/>
    <dgm:cxn modelId="{81697859-55DA-43C8-9D4F-4AA583FAFD6B}" type="presParOf" srcId="{54143D98-B1EB-4A35-9D78-82CCA459A3F7}" destId="{25216629-0A5D-4615-AC81-714956D71F3A}" srcOrd="3" destOrd="0" presId="urn:microsoft.com/office/officeart/2018/2/layout/IconCircleList"/>
    <dgm:cxn modelId="{1E29E3C4-1677-453F-8433-631751939CA7}" type="presParOf" srcId="{903757C7-411E-456D-BFF7-EBBBC3A9AC0C}" destId="{E32AA134-4214-41DC-8B05-39EB596BC309}" srcOrd="3" destOrd="0" presId="urn:microsoft.com/office/officeart/2018/2/layout/IconCircleList"/>
    <dgm:cxn modelId="{BE3E30D9-1098-42E5-81AA-33C0DC2C63CF}" type="presParOf" srcId="{903757C7-411E-456D-BFF7-EBBBC3A9AC0C}" destId="{7DB519E1-3ADC-4AA3-8108-90E118B42010}" srcOrd="4" destOrd="0" presId="urn:microsoft.com/office/officeart/2018/2/layout/IconCircleList"/>
    <dgm:cxn modelId="{82A1F461-EE05-4534-A830-F3F3B94416E0}" type="presParOf" srcId="{7DB519E1-3ADC-4AA3-8108-90E118B42010}" destId="{319A2B90-1854-4C00-8FE0-3F3F68E8D49E}" srcOrd="0" destOrd="0" presId="urn:microsoft.com/office/officeart/2018/2/layout/IconCircleList"/>
    <dgm:cxn modelId="{5EA5BB6C-6067-4688-97C8-D87224B903B3}" type="presParOf" srcId="{7DB519E1-3ADC-4AA3-8108-90E118B42010}" destId="{6599B45E-65D5-404E-85AE-CA36302CF079}" srcOrd="1" destOrd="0" presId="urn:microsoft.com/office/officeart/2018/2/layout/IconCircleList"/>
    <dgm:cxn modelId="{A27FDDE7-A8A6-45A4-8E09-87F45DFF5637}" type="presParOf" srcId="{7DB519E1-3ADC-4AA3-8108-90E118B42010}" destId="{8861C9C1-5842-4C3F-84B1-1126714E1672}" srcOrd="2" destOrd="0" presId="urn:microsoft.com/office/officeart/2018/2/layout/IconCircleList"/>
    <dgm:cxn modelId="{3116D8E6-0A69-4021-B3A9-18E7189073FA}" type="presParOf" srcId="{7DB519E1-3ADC-4AA3-8108-90E118B42010}" destId="{E94A23AB-F195-4D74-81D0-23EAD8A71BB5}" srcOrd="3" destOrd="0" presId="urn:microsoft.com/office/officeart/2018/2/layout/IconCircleList"/>
    <dgm:cxn modelId="{240C547B-9BB1-4465-B1D9-561874DD54EE}" type="presParOf" srcId="{903757C7-411E-456D-BFF7-EBBBC3A9AC0C}" destId="{30FDB74D-C18D-42B7-8FA3-2955FF8E17F7}" srcOrd="5" destOrd="0" presId="urn:microsoft.com/office/officeart/2018/2/layout/IconCircleList"/>
    <dgm:cxn modelId="{096BA9CD-6B47-4845-B85F-2F32374163A1}" type="presParOf" srcId="{903757C7-411E-456D-BFF7-EBBBC3A9AC0C}" destId="{CD67AEDA-C400-47C2-A178-238E09878D19}" srcOrd="6" destOrd="0" presId="urn:microsoft.com/office/officeart/2018/2/layout/IconCircleList"/>
    <dgm:cxn modelId="{28B1B78B-7044-4866-8FB7-7E1C94360ED9}" type="presParOf" srcId="{CD67AEDA-C400-47C2-A178-238E09878D19}" destId="{EBA62F12-7C44-4D5D-8FC5-4AE7C80BBDD6}" srcOrd="0" destOrd="0" presId="urn:microsoft.com/office/officeart/2018/2/layout/IconCircleList"/>
    <dgm:cxn modelId="{3204DF20-DA13-42A7-ABBE-55837B46A57A}" type="presParOf" srcId="{CD67AEDA-C400-47C2-A178-238E09878D19}" destId="{4850AFF6-687F-4D41-99AF-EEAD8FC526F0}" srcOrd="1" destOrd="0" presId="urn:microsoft.com/office/officeart/2018/2/layout/IconCircleList"/>
    <dgm:cxn modelId="{D97F3FF1-1A20-4566-9E6B-67E02C16F011}" type="presParOf" srcId="{CD67AEDA-C400-47C2-A178-238E09878D19}" destId="{C2F185BF-87FF-4591-A2CA-7D96C7118705}" srcOrd="2" destOrd="0" presId="urn:microsoft.com/office/officeart/2018/2/layout/IconCircleList"/>
    <dgm:cxn modelId="{172D8DFA-8B0C-44E7-B237-DC63F7C81B42}" type="presParOf" srcId="{CD67AEDA-C400-47C2-A178-238E09878D19}" destId="{D06BA1B6-220D-4478-8078-1311AFD1CCBA}"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038635F-3574-47FD-83D7-9541DB834A6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58C5FB0-3F58-4F6E-8934-A117F99AA0AA}">
      <dgm:prSet/>
      <dgm:spPr/>
      <dgm:t>
        <a:bodyPr/>
        <a:lstStyle/>
        <a:p>
          <a:pPr>
            <a:lnSpc>
              <a:spcPct val="100000"/>
            </a:lnSpc>
          </a:pPr>
          <a:r>
            <a:rPr lang="en-US"/>
            <a:t>Standardized salary benchmarks applied</a:t>
          </a:r>
        </a:p>
      </dgm:t>
    </dgm:pt>
    <dgm:pt modelId="{F33977D8-EA2A-4F44-B36A-E51C13A6C8FA}" type="parTrans" cxnId="{5FE5799C-DC46-4F5C-B978-760BD29C1A87}">
      <dgm:prSet/>
      <dgm:spPr/>
      <dgm:t>
        <a:bodyPr/>
        <a:lstStyle/>
        <a:p>
          <a:endParaRPr lang="en-US"/>
        </a:p>
      </dgm:t>
    </dgm:pt>
    <dgm:pt modelId="{B25C2512-B4B6-48B7-B2EB-3672F4D49A3A}" type="sibTrans" cxnId="{5FE5799C-DC46-4F5C-B978-760BD29C1A87}">
      <dgm:prSet/>
      <dgm:spPr/>
      <dgm:t>
        <a:bodyPr/>
        <a:lstStyle/>
        <a:p>
          <a:endParaRPr lang="en-US"/>
        </a:p>
      </dgm:t>
    </dgm:pt>
    <dgm:pt modelId="{5761801C-4CD4-4111-A3E1-79FB5F6B6ECA}">
      <dgm:prSet/>
      <dgm:spPr/>
      <dgm:t>
        <a:bodyPr/>
        <a:lstStyle/>
        <a:p>
          <a:pPr>
            <a:lnSpc>
              <a:spcPct val="100000"/>
            </a:lnSpc>
          </a:pPr>
          <a:r>
            <a:rPr lang="en-US"/>
            <a:t>220 working days, 8 hours/day considered</a:t>
          </a:r>
        </a:p>
      </dgm:t>
    </dgm:pt>
    <dgm:pt modelId="{E01F8BEF-2F39-4B84-BF20-12F9F09C83BB}" type="parTrans" cxnId="{F40809CC-9356-4CF7-AA77-86F6512CFCE2}">
      <dgm:prSet/>
      <dgm:spPr/>
      <dgm:t>
        <a:bodyPr/>
        <a:lstStyle/>
        <a:p>
          <a:endParaRPr lang="en-US"/>
        </a:p>
      </dgm:t>
    </dgm:pt>
    <dgm:pt modelId="{317B23B6-A51A-4784-B8C1-996521BAA828}" type="sibTrans" cxnId="{F40809CC-9356-4CF7-AA77-86F6512CFCE2}">
      <dgm:prSet/>
      <dgm:spPr/>
      <dgm:t>
        <a:bodyPr/>
        <a:lstStyle/>
        <a:p>
          <a:endParaRPr lang="en-US"/>
        </a:p>
      </dgm:t>
    </dgm:pt>
    <dgm:pt modelId="{9289D805-056F-425A-B753-0CD6D966B517}">
      <dgm:prSet/>
      <dgm:spPr/>
      <dgm:t>
        <a:bodyPr/>
        <a:lstStyle/>
        <a:p>
          <a:pPr>
            <a:lnSpc>
              <a:spcPct val="100000"/>
            </a:lnSpc>
          </a:pPr>
          <a:r>
            <a:rPr lang="en-US"/>
            <a:t>Fixed annual AI enablement cost (₹19,800 per employee)</a:t>
          </a:r>
        </a:p>
      </dgm:t>
    </dgm:pt>
    <dgm:pt modelId="{C38275BA-2E61-44D1-944A-48541EBB50F7}" type="parTrans" cxnId="{EBD9F98D-EBBA-4872-A1CD-316E17D108AB}">
      <dgm:prSet/>
      <dgm:spPr/>
      <dgm:t>
        <a:bodyPr/>
        <a:lstStyle/>
        <a:p>
          <a:endParaRPr lang="en-US"/>
        </a:p>
      </dgm:t>
    </dgm:pt>
    <dgm:pt modelId="{120898D9-FECB-4EF9-AA3D-0E3B5CF6702D}" type="sibTrans" cxnId="{EBD9F98D-EBBA-4872-A1CD-316E17D108AB}">
      <dgm:prSet/>
      <dgm:spPr/>
      <dgm:t>
        <a:bodyPr/>
        <a:lstStyle/>
        <a:p>
          <a:endParaRPr lang="en-US"/>
        </a:p>
      </dgm:t>
    </dgm:pt>
    <dgm:pt modelId="{0C537004-D7DE-46E9-ACA8-66361FFB93F5}">
      <dgm:prSet/>
      <dgm:spPr/>
      <dgm:t>
        <a:bodyPr/>
        <a:lstStyle/>
        <a:p>
          <a:pPr>
            <a:lnSpc>
              <a:spcPct val="100000"/>
            </a:lnSpc>
          </a:pPr>
          <a:r>
            <a:rPr lang="en-US"/>
            <a:t>Midpoints of survey ranges used for time‑saved estimates</a:t>
          </a:r>
        </a:p>
      </dgm:t>
    </dgm:pt>
    <dgm:pt modelId="{5E912D20-351D-44EF-9021-B2980F2A0534}" type="parTrans" cxnId="{AC2EBF32-D9BD-4E3B-B614-5AACD38DF3EB}">
      <dgm:prSet/>
      <dgm:spPr/>
      <dgm:t>
        <a:bodyPr/>
        <a:lstStyle/>
        <a:p>
          <a:endParaRPr lang="en-US"/>
        </a:p>
      </dgm:t>
    </dgm:pt>
    <dgm:pt modelId="{7B23364A-EF7B-40B4-9A4E-1B55F4B6DE32}" type="sibTrans" cxnId="{AC2EBF32-D9BD-4E3B-B614-5AACD38DF3EB}">
      <dgm:prSet/>
      <dgm:spPr/>
      <dgm:t>
        <a:bodyPr/>
        <a:lstStyle/>
        <a:p>
          <a:endParaRPr lang="en-US"/>
        </a:p>
      </dgm:t>
    </dgm:pt>
    <dgm:pt modelId="{A4973AA9-C58B-40A6-89F8-79989DB4C209}">
      <dgm:prSet/>
      <dgm:spPr/>
      <dgm:t>
        <a:bodyPr/>
        <a:lstStyle/>
        <a:p>
          <a:pPr>
            <a:lnSpc>
              <a:spcPct val="100000"/>
            </a:lnSpc>
          </a:pPr>
          <a:r>
            <a:rPr lang="en-US"/>
            <a:t>Roles grouped into defined categories; others consolidated</a:t>
          </a:r>
        </a:p>
      </dgm:t>
    </dgm:pt>
    <dgm:pt modelId="{7AAD0CAA-E04E-4435-B9B9-E43C7EA5FD8C}" type="parTrans" cxnId="{E5A58AC3-609F-46EA-BE7C-09DE5BD6B3C2}">
      <dgm:prSet/>
      <dgm:spPr/>
      <dgm:t>
        <a:bodyPr/>
        <a:lstStyle/>
        <a:p>
          <a:endParaRPr lang="en-US"/>
        </a:p>
      </dgm:t>
    </dgm:pt>
    <dgm:pt modelId="{1A707E89-A9B9-4B05-A0E1-E2156359B0C9}" type="sibTrans" cxnId="{E5A58AC3-609F-46EA-BE7C-09DE5BD6B3C2}">
      <dgm:prSet/>
      <dgm:spPr/>
      <dgm:t>
        <a:bodyPr/>
        <a:lstStyle/>
        <a:p>
          <a:endParaRPr lang="en-US"/>
        </a:p>
      </dgm:t>
    </dgm:pt>
    <dgm:pt modelId="{89212AB4-C12F-4EC4-A6CE-51C64F1321D3}">
      <dgm:prSet/>
      <dgm:spPr/>
      <dgm:t>
        <a:bodyPr/>
        <a:lstStyle/>
        <a:p>
          <a:pPr>
            <a:lnSpc>
              <a:spcPct val="100000"/>
            </a:lnSpc>
          </a:pPr>
          <a:r>
            <a:rPr lang="en-US"/>
            <a:t>Productivity weightage calculated by combining time efficiency, work efficiency, and output quality into the AI Productivity Index (API)</a:t>
          </a:r>
        </a:p>
      </dgm:t>
    </dgm:pt>
    <dgm:pt modelId="{FC2D8D91-6C3D-4901-B3CA-C5BD584F4EC8}" type="parTrans" cxnId="{0AD73449-3C00-45EA-9BAE-6B899F88565C}">
      <dgm:prSet/>
      <dgm:spPr/>
      <dgm:t>
        <a:bodyPr/>
        <a:lstStyle/>
        <a:p>
          <a:endParaRPr lang="en-US"/>
        </a:p>
      </dgm:t>
    </dgm:pt>
    <dgm:pt modelId="{C0ECD802-D89C-428C-9133-4DD5361008F5}" type="sibTrans" cxnId="{0AD73449-3C00-45EA-9BAE-6B899F88565C}">
      <dgm:prSet/>
      <dgm:spPr/>
      <dgm:t>
        <a:bodyPr/>
        <a:lstStyle/>
        <a:p>
          <a:endParaRPr lang="en-US"/>
        </a:p>
      </dgm:t>
    </dgm:pt>
    <dgm:pt modelId="{8460E22B-CAEA-4D5F-8D10-721D264FD9B0}" type="pres">
      <dgm:prSet presAssocID="{8038635F-3574-47FD-83D7-9541DB834A6E}" presName="root" presStyleCnt="0">
        <dgm:presLayoutVars>
          <dgm:dir/>
          <dgm:resizeHandles val="exact"/>
        </dgm:presLayoutVars>
      </dgm:prSet>
      <dgm:spPr/>
    </dgm:pt>
    <dgm:pt modelId="{A8A73ED1-A7B7-4C85-BBC3-8959EAE3F239}" type="pres">
      <dgm:prSet presAssocID="{D58C5FB0-3F58-4F6E-8934-A117F99AA0AA}" presName="compNode" presStyleCnt="0"/>
      <dgm:spPr/>
    </dgm:pt>
    <dgm:pt modelId="{34BA8AD6-6C28-4B2A-AD2B-CD0C937A037F}" type="pres">
      <dgm:prSet presAssocID="{D58C5FB0-3F58-4F6E-8934-A117F99AA0AA}" presName="bgRect" presStyleLbl="bgShp" presStyleIdx="0" presStyleCnt="6"/>
      <dgm:spPr/>
    </dgm:pt>
    <dgm:pt modelId="{08B18CAD-4FB3-414F-83F0-8F0367DF628C}" type="pres">
      <dgm:prSet presAssocID="{D58C5FB0-3F58-4F6E-8934-A117F99AA0AA}"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oney"/>
        </a:ext>
      </dgm:extLst>
    </dgm:pt>
    <dgm:pt modelId="{5C4B64BB-F4C2-4E57-A1BF-E7B7AC699E6A}" type="pres">
      <dgm:prSet presAssocID="{D58C5FB0-3F58-4F6E-8934-A117F99AA0AA}" presName="spaceRect" presStyleCnt="0"/>
      <dgm:spPr/>
    </dgm:pt>
    <dgm:pt modelId="{4CFA192D-1AF6-4BD9-84D5-424E7FB02F98}" type="pres">
      <dgm:prSet presAssocID="{D58C5FB0-3F58-4F6E-8934-A117F99AA0AA}" presName="parTx" presStyleLbl="revTx" presStyleIdx="0" presStyleCnt="6">
        <dgm:presLayoutVars>
          <dgm:chMax val="0"/>
          <dgm:chPref val="0"/>
        </dgm:presLayoutVars>
      </dgm:prSet>
      <dgm:spPr/>
    </dgm:pt>
    <dgm:pt modelId="{75D2E61D-973D-47FC-88CB-5B858CBBB1AF}" type="pres">
      <dgm:prSet presAssocID="{B25C2512-B4B6-48B7-B2EB-3672F4D49A3A}" presName="sibTrans" presStyleCnt="0"/>
      <dgm:spPr/>
    </dgm:pt>
    <dgm:pt modelId="{445762FA-FCBC-4ECF-B7EF-C4D4A2BF008F}" type="pres">
      <dgm:prSet presAssocID="{5761801C-4CD4-4111-A3E1-79FB5F6B6ECA}" presName="compNode" presStyleCnt="0"/>
      <dgm:spPr/>
    </dgm:pt>
    <dgm:pt modelId="{AE605723-7937-4281-AB01-C7BEBA923921}" type="pres">
      <dgm:prSet presAssocID="{5761801C-4CD4-4111-A3E1-79FB5F6B6ECA}" presName="bgRect" presStyleLbl="bgShp" presStyleIdx="1" presStyleCnt="6"/>
      <dgm:spPr/>
    </dgm:pt>
    <dgm:pt modelId="{DD3DBD30-7AD8-47B2-A66E-8056AE06C982}" type="pres">
      <dgm:prSet presAssocID="{5761801C-4CD4-4111-A3E1-79FB5F6B6ECA}"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ilding"/>
        </a:ext>
      </dgm:extLst>
    </dgm:pt>
    <dgm:pt modelId="{9BBC2A70-727E-48EB-9FB4-00C4F1155280}" type="pres">
      <dgm:prSet presAssocID="{5761801C-4CD4-4111-A3E1-79FB5F6B6ECA}" presName="spaceRect" presStyleCnt="0"/>
      <dgm:spPr/>
    </dgm:pt>
    <dgm:pt modelId="{8B27E3B2-1904-4EAF-B010-39F66F7C15EA}" type="pres">
      <dgm:prSet presAssocID="{5761801C-4CD4-4111-A3E1-79FB5F6B6ECA}" presName="parTx" presStyleLbl="revTx" presStyleIdx="1" presStyleCnt="6">
        <dgm:presLayoutVars>
          <dgm:chMax val="0"/>
          <dgm:chPref val="0"/>
        </dgm:presLayoutVars>
      </dgm:prSet>
      <dgm:spPr/>
    </dgm:pt>
    <dgm:pt modelId="{EC72AEA9-A82E-445E-A135-D7839BA7C8C4}" type="pres">
      <dgm:prSet presAssocID="{317B23B6-A51A-4784-B8C1-996521BAA828}" presName="sibTrans" presStyleCnt="0"/>
      <dgm:spPr/>
    </dgm:pt>
    <dgm:pt modelId="{A600844B-E8EA-4A82-BE21-0A9A3A5B7A4F}" type="pres">
      <dgm:prSet presAssocID="{9289D805-056F-425A-B753-0CD6D966B517}" presName="compNode" presStyleCnt="0"/>
      <dgm:spPr/>
    </dgm:pt>
    <dgm:pt modelId="{5F8C123C-52EC-4F9D-A639-888D6C4B74CA}" type="pres">
      <dgm:prSet presAssocID="{9289D805-056F-425A-B753-0CD6D966B517}" presName="bgRect" presStyleLbl="bgShp" presStyleIdx="2" presStyleCnt="6"/>
      <dgm:spPr/>
    </dgm:pt>
    <dgm:pt modelId="{FF80E2B8-DD7F-485E-9F31-58C72B8B99F7}" type="pres">
      <dgm:prSet presAssocID="{9289D805-056F-425A-B753-0CD6D966B517}"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ollar"/>
        </a:ext>
      </dgm:extLst>
    </dgm:pt>
    <dgm:pt modelId="{EB014C8B-23A0-460C-BA99-7C0F2DBFE7E2}" type="pres">
      <dgm:prSet presAssocID="{9289D805-056F-425A-B753-0CD6D966B517}" presName="spaceRect" presStyleCnt="0"/>
      <dgm:spPr/>
    </dgm:pt>
    <dgm:pt modelId="{4F55A9C3-DCF3-4981-938B-CCE07ED15754}" type="pres">
      <dgm:prSet presAssocID="{9289D805-056F-425A-B753-0CD6D966B517}" presName="parTx" presStyleLbl="revTx" presStyleIdx="2" presStyleCnt="6">
        <dgm:presLayoutVars>
          <dgm:chMax val="0"/>
          <dgm:chPref val="0"/>
        </dgm:presLayoutVars>
      </dgm:prSet>
      <dgm:spPr/>
    </dgm:pt>
    <dgm:pt modelId="{02BCE4D5-4116-41DF-9087-E9CFE3A0E3A3}" type="pres">
      <dgm:prSet presAssocID="{120898D9-FECB-4EF9-AA3D-0E3B5CF6702D}" presName="sibTrans" presStyleCnt="0"/>
      <dgm:spPr/>
    </dgm:pt>
    <dgm:pt modelId="{003400CB-3B89-4E87-B82B-7653F09ECFE6}" type="pres">
      <dgm:prSet presAssocID="{0C537004-D7DE-46E9-ACA8-66361FFB93F5}" presName="compNode" presStyleCnt="0"/>
      <dgm:spPr/>
    </dgm:pt>
    <dgm:pt modelId="{191026A5-FEE9-44C8-9541-760D2C127AFC}" type="pres">
      <dgm:prSet presAssocID="{0C537004-D7DE-46E9-ACA8-66361FFB93F5}" presName="bgRect" presStyleLbl="bgShp" presStyleIdx="3" presStyleCnt="6"/>
      <dgm:spPr/>
    </dgm:pt>
    <dgm:pt modelId="{4A249C18-24E1-46EE-BFE3-E43B88380308}" type="pres">
      <dgm:prSet presAssocID="{0C537004-D7DE-46E9-ACA8-66361FFB93F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lculator"/>
        </a:ext>
      </dgm:extLst>
    </dgm:pt>
    <dgm:pt modelId="{ECC3C008-C7B0-45E9-B3FD-B758BBEF99B5}" type="pres">
      <dgm:prSet presAssocID="{0C537004-D7DE-46E9-ACA8-66361FFB93F5}" presName="spaceRect" presStyleCnt="0"/>
      <dgm:spPr/>
    </dgm:pt>
    <dgm:pt modelId="{6ECADB48-6310-46DB-9077-904FA11E1B19}" type="pres">
      <dgm:prSet presAssocID="{0C537004-D7DE-46E9-ACA8-66361FFB93F5}" presName="parTx" presStyleLbl="revTx" presStyleIdx="3" presStyleCnt="6">
        <dgm:presLayoutVars>
          <dgm:chMax val="0"/>
          <dgm:chPref val="0"/>
        </dgm:presLayoutVars>
      </dgm:prSet>
      <dgm:spPr/>
    </dgm:pt>
    <dgm:pt modelId="{A0BBC8B7-514D-4CAD-83AD-362CC8DCF423}" type="pres">
      <dgm:prSet presAssocID="{7B23364A-EF7B-40B4-9A4E-1B55F4B6DE32}" presName="sibTrans" presStyleCnt="0"/>
      <dgm:spPr/>
    </dgm:pt>
    <dgm:pt modelId="{FC38A07B-97E2-42DA-A47F-93F5C2326EB7}" type="pres">
      <dgm:prSet presAssocID="{A4973AA9-C58B-40A6-89F8-79989DB4C209}" presName="compNode" presStyleCnt="0"/>
      <dgm:spPr/>
    </dgm:pt>
    <dgm:pt modelId="{4F82D713-98E8-48C3-BC59-9D873DF61A02}" type="pres">
      <dgm:prSet presAssocID="{A4973AA9-C58B-40A6-89F8-79989DB4C209}" presName="bgRect" presStyleLbl="bgShp" presStyleIdx="4" presStyleCnt="6"/>
      <dgm:spPr/>
    </dgm:pt>
    <dgm:pt modelId="{0E1CE353-0E77-45FE-94B1-F210A6DCFA99}" type="pres">
      <dgm:prSet presAssocID="{A4973AA9-C58B-40A6-89F8-79989DB4C20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ierarchy"/>
        </a:ext>
      </dgm:extLst>
    </dgm:pt>
    <dgm:pt modelId="{2120FDD2-9F3D-45F5-8643-4744109140C6}" type="pres">
      <dgm:prSet presAssocID="{A4973AA9-C58B-40A6-89F8-79989DB4C209}" presName="spaceRect" presStyleCnt="0"/>
      <dgm:spPr/>
    </dgm:pt>
    <dgm:pt modelId="{25FEBC09-C251-446E-9A12-059478AA4208}" type="pres">
      <dgm:prSet presAssocID="{A4973AA9-C58B-40A6-89F8-79989DB4C209}" presName="parTx" presStyleLbl="revTx" presStyleIdx="4" presStyleCnt="6">
        <dgm:presLayoutVars>
          <dgm:chMax val="0"/>
          <dgm:chPref val="0"/>
        </dgm:presLayoutVars>
      </dgm:prSet>
      <dgm:spPr/>
    </dgm:pt>
    <dgm:pt modelId="{C6A1362C-1F20-4FDD-841F-F9EB40CE1513}" type="pres">
      <dgm:prSet presAssocID="{1A707E89-A9B9-4B05-A0E1-E2156359B0C9}" presName="sibTrans" presStyleCnt="0"/>
      <dgm:spPr/>
    </dgm:pt>
    <dgm:pt modelId="{060AEED4-F2B8-4830-ACE3-D07F738ED2CF}" type="pres">
      <dgm:prSet presAssocID="{89212AB4-C12F-4EC4-A6CE-51C64F1321D3}" presName="compNode" presStyleCnt="0"/>
      <dgm:spPr/>
    </dgm:pt>
    <dgm:pt modelId="{E5E3DEFD-957B-4D82-92F3-1A22249D6A4D}" type="pres">
      <dgm:prSet presAssocID="{89212AB4-C12F-4EC4-A6CE-51C64F1321D3}" presName="bgRect" presStyleLbl="bgShp" presStyleIdx="5" presStyleCnt="6"/>
      <dgm:spPr/>
    </dgm:pt>
    <dgm:pt modelId="{9EF5DA3E-8622-4FCE-9863-4DE37AD47E0C}" type="pres">
      <dgm:prSet presAssocID="{89212AB4-C12F-4EC4-A6CE-51C64F1321D3}"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84DFE039-A45B-400D-99D8-6534DA36AEF9}" type="pres">
      <dgm:prSet presAssocID="{89212AB4-C12F-4EC4-A6CE-51C64F1321D3}" presName="spaceRect" presStyleCnt="0"/>
      <dgm:spPr/>
    </dgm:pt>
    <dgm:pt modelId="{FE179A4A-21A6-4F3A-953F-215F239C0591}" type="pres">
      <dgm:prSet presAssocID="{89212AB4-C12F-4EC4-A6CE-51C64F1321D3}" presName="parTx" presStyleLbl="revTx" presStyleIdx="5" presStyleCnt="6">
        <dgm:presLayoutVars>
          <dgm:chMax val="0"/>
          <dgm:chPref val="0"/>
        </dgm:presLayoutVars>
      </dgm:prSet>
      <dgm:spPr/>
    </dgm:pt>
  </dgm:ptLst>
  <dgm:cxnLst>
    <dgm:cxn modelId="{93470807-DD88-49A9-A920-614A42EF2222}" type="presOf" srcId="{9289D805-056F-425A-B753-0CD6D966B517}" destId="{4F55A9C3-DCF3-4981-938B-CCE07ED15754}" srcOrd="0" destOrd="0" presId="urn:microsoft.com/office/officeart/2018/2/layout/IconVerticalSolidList"/>
    <dgm:cxn modelId="{AC2EBF32-D9BD-4E3B-B614-5AACD38DF3EB}" srcId="{8038635F-3574-47FD-83D7-9541DB834A6E}" destId="{0C537004-D7DE-46E9-ACA8-66361FFB93F5}" srcOrd="3" destOrd="0" parTransId="{5E912D20-351D-44EF-9021-B2980F2A0534}" sibTransId="{7B23364A-EF7B-40B4-9A4E-1B55F4B6DE32}"/>
    <dgm:cxn modelId="{EF31D25D-666A-4FCF-98D8-084407550548}" type="presOf" srcId="{A4973AA9-C58B-40A6-89F8-79989DB4C209}" destId="{25FEBC09-C251-446E-9A12-059478AA4208}" srcOrd="0" destOrd="0" presId="urn:microsoft.com/office/officeart/2018/2/layout/IconVerticalSolidList"/>
    <dgm:cxn modelId="{79291949-809A-4A2B-8A48-0A9D62BB6EE9}" type="presOf" srcId="{89212AB4-C12F-4EC4-A6CE-51C64F1321D3}" destId="{FE179A4A-21A6-4F3A-953F-215F239C0591}" srcOrd="0" destOrd="0" presId="urn:microsoft.com/office/officeart/2018/2/layout/IconVerticalSolidList"/>
    <dgm:cxn modelId="{0AD73449-3C00-45EA-9BAE-6B899F88565C}" srcId="{8038635F-3574-47FD-83D7-9541DB834A6E}" destId="{89212AB4-C12F-4EC4-A6CE-51C64F1321D3}" srcOrd="5" destOrd="0" parTransId="{FC2D8D91-6C3D-4901-B3CA-C5BD584F4EC8}" sibTransId="{C0ECD802-D89C-428C-9133-4DD5361008F5}"/>
    <dgm:cxn modelId="{DBC99B4B-4DAE-4748-B53D-D87EE415D21A}" type="presOf" srcId="{D58C5FB0-3F58-4F6E-8934-A117F99AA0AA}" destId="{4CFA192D-1AF6-4BD9-84D5-424E7FB02F98}" srcOrd="0" destOrd="0" presId="urn:microsoft.com/office/officeart/2018/2/layout/IconVerticalSolidList"/>
    <dgm:cxn modelId="{F075C07B-7864-47E1-83FD-671C18CB1D55}" type="presOf" srcId="{8038635F-3574-47FD-83D7-9541DB834A6E}" destId="{8460E22B-CAEA-4D5F-8D10-721D264FD9B0}" srcOrd="0" destOrd="0" presId="urn:microsoft.com/office/officeart/2018/2/layout/IconVerticalSolidList"/>
    <dgm:cxn modelId="{EBD9F98D-EBBA-4872-A1CD-316E17D108AB}" srcId="{8038635F-3574-47FD-83D7-9541DB834A6E}" destId="{9289D805-056F-425A-B753-0CD6D966B517}" srcOrd="2" destOrd="0" parTransId="{C38275BA-2E61-44D1-944A-48541EBB50F7}" sibTransId="{120898D9-FECB-4EF9-AA3D-0E3B5CF6702D}"/>
    <dgm:cxn modelId="{5FE5799C-DC46-4F5C-B978-760BD29C1A87}" srcId="{8038635F-3574-47FD-83D7-9541DB834A6E}" destId="{D58C5FB0-3F58-4F6E-8934-A117F99AA0AA}" srcOrd="0" destOrd="0" parTransId="{F33977D8-EA2A-4F44-B36A-E51C13A6C8FA}" sibTransId="{B25C2512-B4B6-48B7-B2EB-3672F4D49A3A}"/>
    <dgm:cxn modelId="{E02222A3-EE19-44CB-ACD9-DD6E541860FF}" type="presOf" srcId="{0C537004-D7DE-46E9-ACA8-66361FFB93F5}" destId="{6ECADB48-6310-46DB-9077-904FA11E1B19}" srcOrd="0" destOrd="0" presId="urn:microsoft.com/office/officeart/2018/2/layout/IconVerticalSolidList"/>
    <dgm:cxn modelId="{F20B8BBB-F2F1-4578-8792-C490086C632B}" type="presOf" srcId="{5761801C-4CD4-4111-A3E1-79FB5F6B6ECA}" destId="{8B27E3B2-1904-4EAF-B010-39F66F7C15EA}" srcOrd="0" destOrd="0" presId="urn:microsoft.com/office/officeart/2018/2/layout/IconVerticalSolidList"/>
    <dgm:cxn modelId="{E5A58AC3-609F-46EA-BE7C-09DE5BD6B3C2}" srcId="{8038635F-3574-47FD-83D7-9541DB834A6E}" destId="{A4973AA9-C58B-40A6-89F8-79989DB4C209}" srcOrd="4" destOrd="0" parTransId="{7AAD0CAA-E04E-4435-B9B9-E43C7EA5FD8C}" sibTransId="{1A707E89-A9B9-4B05-A0E1-E2156359B0C9}"/>
    <dgm:cxn modelId="{F40809CC-9356-4CF7-AA77-86F6512CFCE2}" srcId="{8038635F-3574-47FD-83D7-9541DB834A6E}" destId="{5761801C-4CD4-4111-A3E1-79FB5F6B6ECA}" srcOrd="1" destOrd="0" parTransId="{E01F8BEF-2F39-4B84-BF20-12F9F09C83BB}" sibTransId="{317B23B6-A51A-4784-B8C1-996521BAA828}"/>
    <dgm:cxn modelId="{743C89A3-459E-490F-A12F-09F4829DC8DE}" type="presParOf" srcId="{8460E22B-CAEA-4D5F-8D10-721D264FD9B0}" destId="{A8A73ED1-A7B7-4C85-BBC3-8959EAE3F239}" srcOrd="0" destOrd="0" presId="urn:microsoft.com/office/officeart/2018/2/layout/IconVerticalSolidList"/>
    <dgm:cxn modelId="{A65C8D3D-66D1-4CA5-B1E5-F47A83D93DAF}" type="presParOf" srcId="{A8A73ED1-A7B7-4C85-BBC3-8959EAE3F239}" destId="{34BA8AD6-6C28-4B2A-AD2B-CD0C937A037F}" srcOrd="0" destOrd="0" presId="urn:microsoft.com/office/officeart/2018/2/layout/IconVerticalSolidList"/>
    <dgm:cxn modelId="{2C217B03-9E3A-4BE9-907A-FB1CF84A505B}" type="presParOf" srcId="{A8A73ED1-A7B7-4C85-BBC3-8959EAE3F239}" destId="{08B18CAD-4FB3-414F-83F0-8F0367DF628C}" srcOrd="1" destOrd="0" presId="urn:microsoft.com/office/officeart/2018/2/layout/IconVerticalSolidList"/>
    <dgm:cxn modelId="{62726251-0B79-4659-AB89-C73089B1B504}" type="presParOf" srcId="{A8A73ED1-A7B7-4C85-BBC3-8959EAE3F239}" destId="{5C4B64BB-F4C2-4E57-A1BF-E7B7AC699E6A}" srcOrd="2" destOrd="0" presId="urn:microsoft.com/office/officeart/2018/2/layout/IconVerticalSolidList"/>
    <dgm:cxn modelId="{D606B3AA-6259-418D-8595-F12B96769159}" type="presParOf" srcId="{A8A73ED1-A7B7-4C85-BBC3-8959EAE3F239}" destId="{4CFA192D-1AF6-4BD9-84D5-424E7FB02F98}" srcOrd="3" destOrd="0" presId="urn:microsoft.com/office/officeart/2018/2/layout/IconVerticalSolidList"/>
    <dgm:cxn modelId="{05AE237C-5298-4036-8981-F1666856B540}" type="presParOf" srcId="{8460E22B-CAEA-4D5F-8D10-721D264FD9B0}" destId="{75D2E61D-973D-47FC-88CB-5B858CBBB1AF}" srcOrd="1" destOrd="0" presId="urn:microsoft.com/office/officeart/2018/2/layout/IconVerticalSolidList"/>
    <dgm:cxn modelId="{27A4FD60-F1A2-40BB-BAD5-32C62123E596}" type="presParOf" srcId="{8460E22B-CAEA-4D5F-8D10-721D264FD9B0}" destId="{445762FA-FCBC-4ECF-B7EF-C4D4A2BF008F}" srcOrd="2" destOrd="0" presId="urn:microsoft.com/office/officeart/2018/2/layout/IconVerticalSolidList"/>
    <dgm:cxn modelId="{29A3F87A-C839-4B88-B191-67D37A484083}" type="presParOf" srcId="{445762FA-FCBC-4ECF-B7EF-C4D4A2BF008F}" destId="{AE605723-7937-4281-AB01-C7BEBA923921}" srcOrd="0" destOrd="0" presId="urn:microsoft.com/office/officeart/2018/2/layout/IconVerticalSolidList"/>
    <dgm:cxn modelId="{789D9E49-1AC8-427A-9C6B-716EB5EF421A}" type="presParOf" srcId="{445762FA-FCBC-4ECF-B7EF-C4D4A2BF008F}" destId="{DD3DBD30-7AD8-47B2-A66E-8056AE06C982}" srcOrd="1" destOrd="0" presId="urn:microsoft.com/office/officeart/2018/2/layout/IconVerticalSolidList"/>
    <dgm:cxn modelId="{7907FD18-C2FA-4D2F-A16E-B6DB427E6B80}" type="presParOf" srcId="{445762FA-FCBC-4ECF-B7EF-C4D4A2BF008F}" destId="{9BBC2A70-727E-48EB-9FB4-00C4F1155280}" srcOrd="2" destOrd="0" presId="urn:microsoft.com/office/officeart/2018/2/layout/IconVerticalSolidList"/>
    <dgm:cxn modelId="{4B93CBC6-70E4-4C58-BDA8-99EE1E7C435D}" type="presParOf" srcId="{445762FA-FCBC-4ECF-B7EF-C4D4A2BF008F}" destId="{8B27E3B2-1904-4EAF-B010-39F66F7C15EA}" srcOrd="3" destOrd="0" presId="urn:microsoft.com/office/officeart/2018/2/layout/IconVerticalSolidList"/>
    <dgm:cxn modelId="{B77C8EAF-F441-4D61-8DEC-960F68352F82}" type="presParOf" srcId="{8460E22B-CAEA-4D5F-8D10-721D264FD9B0}" destId="{EC72AEA9-A82E-445E-A135-D7839BA7C8C4}" srcOrd="3" destOrd="0" presId="urn:microsoft.com/office/officeart/2018/2/layout/IconVerticalSolidList"/>
    <dgm:cxn modelId="{12E9DC10-3AF8-4759-85BF-7D064ADB2969}" type="presParOf" srcId="{8460E22B-CAEA-4D5F-8D10-721D264FD9B0}" destId="{A600844B-E8EA-4A82-BE21-0A9A3A5B7A4F}" srcOrd="4" destOrd="0" presId="urn:microsoft.com/office/officeart/2018/2/layout/IconVerticalSolidList"/>
    <dgm:cxn modelId="{74EA6CD8-666A-4A48-A48D-6380C2E4261E}" type="presParOf" srcId="{A600844B-E8EA-4A82-BE21-0A9A3A5B7A4F}" destId="{5F8C123C-52EC-4F9D-A639-888D6C4B74CA}" srcOrd="0" destOrd="0" presId="urn:microsoft.com/office/officeart/2018/2/layout/IconVerticalSolidList"/>
    <dgm:cxn modelId="{3097F4F9-D82A-471B-B696-74F762290C3D}" type="presParOf" srcId="{A600844B-E8EA-4A82-BE21-0A9A3A5B7A4F}" destId="{FF80E2B8-DD7F-485E-9F31-58C72B8B99F7}" srcOrd="1" destOrd="0" presId="urn:microsoft.com/office/officeart/2018/2/layout/IconVerticalSolidList"/>
    <dgm:cxn modelId="{A050840D-5B87-4BFB-A245-5D6453F4AECB}" type="presParOf" srcId="{A600844B-E8EA-4A82-BE21-0A9A3A5B7A4F}" destId="{EB014C8B-23A0-460C-BA99-7C0F2DBFE7E2}" srcOrd="2" destOrd="0" presId="urn:microsoft.com/office/officeart/2018/2/layout/IconVerticalSolidList"/>
    <dgm:cxn modelId="{462EFEAB-1620-40BB-9BBE-577C33305AC0}" type="presParOf" srcId="{A600844B-E8EA-4A82-BE21-0A9A3A5B7A4F}" destId="{4F55A9C3-DCF3-4981-938B-CCE07ED15754}" srcOrd="3" destOrd="0" presId="urn:microsoft.com/office/officeart/2018/2/layout/IconVerticalSolidList"/>
    <dgm:cxn modelId="{CF61C8C5-1B51-4434-B24B-06358AE19B7A}" type="presParOf" srcId="{8460E22B-CAEA-4D5F-8D10-721D264FD9B0}" destId="{02BCE4D5-4116-41DF-9087-E9CFE3A0E3A3}" srcOrd="5" destOrd="0" presId="urn:microsoft.com/office/officeart/2018/2/layout/IconVerticalSolidList"/>
    <dgm:cxn modelId="{E90B8561-9921-490F-A182-0333D164904F}" type="presParOf" srcId="{8460E22B-CAEA-4D5F-8D10-721D264FD9B0}" destId="{003400CB-3B89-4E87-B82B-7653F09ECFE6}" srcOrd="6" destOrd="0" presId="urn:microsoft.com/office/officeart/2018/2/layout/IconVerticalSolidList"/>
    <dgm:cxn modelId="{435ECEA4-CC3C-4BA4-BA0C-5A474F4304B2}" type="presParOf" srcId="{003400CB-3B89-4E87-B82B-7653F09ECFE6}" destId="{191026A5-FEE9-44C8-9541-760D2C127AFC}" srcOrd="0" destOrd="0" presId="urn:microsoft.com/office/officeart/2018/2/layout/IconVerticalSolidList"/>
    <dgm:cxn modelId="{1B394C26-E899-44C7-A35B-E4F210575914}" type="presParOf" srcId="{003400CB-3B89-4E87-B82B-7653F09ECFE6}" destId="{4A249C18-24E1-46EE-BFE3-E43B88380308}" srcOrd="1" destOrd="0" presId="urn:microsoft.com/office/officeart/2018/2/layout/IconVerticalSolidList"/>
    <dgm:cxn modelId="{CB1440C8-8C1D-4885-A9C8-28355261CC7B}" type="presParOf" srcId="{003400CB-3B89-4E87-B82B-7653F09ECFE6}" destId="{ECC3C008-C7B0-45E9-B3FD-B758BBEF99B5}" srcOrd="2" destOrd="0" presId="urn:microsoft.com/office/officeart/2018/2/layout/IconVerticalSolidList"/>
    <dgm:cxn modelId="{D96B12D1-2127-4903-B389-9E117605D785}" type="presParOf" srcId="{003400CB-3B89-4E87-B82B-7653F09ECFE6}" destId="{6ECADB48-6310-46DB-9077-904FA11E1B19}" srcOrd="3" destOrd="0" presId="urn:microsoft.com/office/officeart/2018/2/layout/IconVerticalSolidList"/>
    <dgm:cxn modelId="{559823DD-4F82-45CB-80C1-560E5686BF15}" type="presParOf" srcId="{8460E22B-CAEA-4D5F-8D10-721D264FD9B0}" destId="{A0BBC8B7-514D-4CAD-83AD-362CC8DCF423}" srcOrd="7" destOrd="0" presId="urn:microsoft.com/office/officeart/2018/2/layout/IconVerticalSolidList"/>
    <dgm:cxn modelId="{DC8FD90A-0EC9-4F85-9183-67AAC52BC794}" type="presParOf" srcId="{8460E22B-CAEA-4D5F-8D10-721D264FD9B0}" destId="{FC38A07B-97E2-42DA-A47F-93F5C2326EB7}" srcOrd="8" destOrd="0" presId="urn:microsoft.com/office/officeart/2018/2/layout/IconVerticalSolidList"/>
    <dgm:cxn modelId="{17CBBA3F-C6C2-46FC-93F1-C1D9EAC6F9D4}" type="presParOf" srcId="{FC38A07B-97E2-42DA-A47F-93F5C2326EB7}" destId="{4F82D713-98E8-48C3-BC59-9D873DF61A02}" srcOrd="0" destOrd="0" presId="urn:microsoft.com/office/officeart/2018/2/layout/IconVerticalSolidList"/>
    <dgm:cxn modelId="{DF1C2D4B-DC02-4782-8862-B850BB0D7DBF}" type="presParOf" srcId="{FC38A07B-97E2-42DA-A47F-93F5C2326EB7}" destId="{0E1CE353-0E77-45FE-94B1-F210A6DCFA99}" srcOrd="1" destOrd="0" presId="urn:microsoft.com/office/officeart/2018/2/layout/IconVerticalSolidList"/>
    <dgm:cxn modelId="{A0ACB90E-32BF-4559-AFE7-819D13D96889}" type="presParOf" srcId="{FC38A07B-97E2-42DA-A47F-93F5C2326EB7}" destId="{2120FDD2-9F3D-45F5-8643-4744109140C6}" srcOrd="2" destOrd="0" presId="urn:microsoft.com/office/officeart/2018/2/layout/IconVerticalSolidList"/>
    <dgm:cxn modelId="{770E130F-33A5-4E59-8B76-580770A17D92}" type="presParOf" srcId="{FC38A07B-97E2-42DA-A47F-93F5C2326EB7}" destId="{25FEBC09-C251-446E-9A12-059478AA4208}" srcOrd="3" destOrd="0" presId="urn:microsoft.com/office/officeart/2018/2/layout/IconVerticalSolidList"/>
    <dgm:cxn modelId="{1B238556-2247-4539-BD2B-C650D74EDCF0}" type="presParOf" srcId="{8460E22B-CAEA-4D5F-8D10-721D264FD9B0}" destId="{C6A1362C-1F20-4FDD-841F-F9EB40CE1513}" srcOrd="9" destOrd="0" presId="urn:microsoft.com/office/officeart/2018/2/layout/IconVerticalSolidList"/>
    <dgm:cxn modelId="{F9D1FD9C-D36C-4D9B-81EC-C741B09C9AC6}" type="presParOf" srcId="{8460E22B-CAEA-4D5F-8D10-721D264FD9B0}" destId="{060AEED4-F2B8-4830-ACE3-D07F738ED2CF}" srcOrd="10" destOrd="0" presId="urn:microsoft.com/office/officeart/2018/2/layout/IconVerticalSolidList"/>
    <dgm:cxn modelId="{F10F6918-4AA9-4246-B651-B23016818BF6}" type="presParOf" srcId="{060AEED4-F2B8-4830-ACE3-D07F738ED2CF}" destId="{E5E3DEFD-957B-4D82-92F3-1A22249D6A4D}" srcOrd="0" destOrd="0" presId="urn:microsoft.com/office/officeart/2018/2/layout/IconVerticalSolidList"/>
    <dgm:cxn modelId="{B1D1F9B1-63D8-48BF-B198-4C07AD2A7FE8}" type="presParOf" srcId="{060AEED4-F2B8-4830-ACE3-D07F738ED2CF}" destId="{9EF5DA3E-8622-4FCE-9863-4DE37AD47E0C}" srcOrd="1" destOrd="0" presId="urn:microsoft.com/office/officeart/2018/2/layout/IconVerticalSolidList"/>
    <dgm:cxn modelId="{BF695B41-9ACD-47ED-AC95-733324732382}" type="presParOf" srcId="{060AEED4-F2B8-4830-ACE3-D07F738ED2CF}" destId="{84DFE039-A45B-400D-99D8-6534DA36AEF9}" srcOrd="2" destOrd="0" presId="urn:microsoft.com/office/officeart/2018/2/layout/IconVerticalSolidList"/>
    <dgm:cxn modelId="{40BD76BF-B3D6-4842-8CA4-676622597E8B}" type="presParOf" srcId="{060AEED4-F2B8-4830-ACE3-D07F738ED2CF}" destId="{FE179A4A-21A6-4F3A-953F-215F239C059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2489B0B-2C4E-4BBD-813B-6A435B573A5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054E69D-F3BE-44D3-B7A7-A196DAC43B26}">
      <dgm:prSet/>
      <dgm:spPr/>
      <dgm:t>
        <a:bodyPr/>
        <a:lstStyle/>
        <a:p>
          <a:r>
            <a:rPr lang="en-US"/>
            <a:t>Generative AI adoption delivers measurable productivity and cost benefits</a:t>
          </a:r>
        </a:p>
      </dgm:t>
    </dgm:pt>
    <dgm:pt modelId="{1669F715-9AAD-4D37-A300-81E5848A00FF}" type="parTrans" cxnId="{77F74302-9309-4D79-A2E9-CD1FAED29903}">
      <dgm:prSet/>
      <dgm:spPr/>
      <dgm:t>
        <a:bodyPr/>
        <a:lstStyle/>
        <a:p>
          <a:endParaRPr lang="en-US"/>
        </a:p>
      </dgm:t>
    </dgm:pt>
    <dgm:pt modelId="{B4840E6D-E704-4404-99E9-BF77BA497583}" type="sibTrans" cxnId="{77F74302-9309-4D79-A2E9-CD1FAED29903}">
      <dgm:prSet/>
      <dgm:spPr/>
      <dgm:t>
        <a:bodyPr/>
        <a:lstStyle/>
        <a:p>
          <a:endParaRPr lang="en-US"/>
        </a:p>
      </dgm:t>
    </dgm:pt>
    <dgm:pt modelId="{AE9B77C5-8ECB-4403-9006-9295F7B81011}">
      <dgm:prSet/>
      <dgm:spPr/>
      <dgm:t>
        <a:bodyPr/>
        <a:lstStyle/>
        <a:p>
          <a:r>
            <a:rPr lang="en-US"/>
            <a:t>Productivity gains translate into faster delivery, improved quality, and better decision‑making.</a:t>
          </a:r>
        </a:p>
      </dgm:t>
    </dgm:pt>
    <dgm:pt modelId="{68FC67BC-54B9-495E-8620-4C4439342101}" type="parTrans" cxnId="{EB61ABCF-5B91-45A9-92FD-4945F99A7EE4}">
      <dgm:prSet/>
      <dgm:spPr/>
      <dgm:t>
        <a:bodyPr/>
        <a:lstStyle/>
        <a:p>
          <a:endParaRPr lang="en-US"/>
        </a:p>
      </dgm:t>
    </dgm:pt>
    <dgm:pt modelId="{E6FCFA1B-1F92-4063-84B9-43FB93C764D4}" type="sibTrans" cxnId="{EB61ABCF-5B91-45A9-92FD-4945F99A7EE4}">
      <dgm:prSet/>
      <dgm:spPr/>
      <dgm:t>
        <a:bodyPr/>
        <a:lstStyle/>
        <a:p>
          <a:endParaRPr lang="en-US"/>
        </a:p>
      </dgm:t>
    </dgm:pt>
    <dgm:pt modelId="{80693874-6A64-426B-8A69-B2C9AE871EE0}">
      <dgm:prSet/>
      <dgm:spPr/>
      <dgm:t>
        <a:bodyPr/>
        <a:lstStyle/>
        <a:p>
          <a:r>
            <a:rPr lang="en-US"/>
            <a:t>Provides a structured framework for data‑driven managerial decisions.</a:t>
          </a:r>
        </a:p>
      </dgm:t>
    </dgm:pt>
    <dgm:pt modelId="{7FD0FBD0-2A83-4BCB-8022-073D7304A477}" type="parTrans" cxnId="{492CEDF4-B303-4CD1-9E34-833EB9CB03D8}">
      <dgm:prSet/>
      <dgm:spPr/>
      <dgm:t>
        <a:bodyPr/>
        <a:lstStyle/>
        <a:p>
          <a:endParaRPr lang="en-US"/>
        </a:p>
      </dgm:t>
    </dgm:pt>
    <dgm:pt modelId="{9493C0E7-C67B-4D26-92DD-A85CB67A48E1}" type="sibTrans" cxnId="{492CEDF4-B303-4CD1-9E34-833EB9CB03D8}">
      <dgm:prSet/>
      <dgm:spPr/>
      <dgm:t>
        <a:bodyPr/>
        <a:lstStyle/>
        <a:p>
          <a:endParaRPr lang="en-US"/>
        </a:p>
      </dgm:t>
    </dgm:pt>
    <dgm:pt modelId="{17932DB3-6DBC-4E8D-B335-073E3AAAE1CD}">
      <dgm:prSet/>
      <dgm:spPr/>
      <dgm:t>
        <a:bodyPr/>
        <a:lstStyle/>
        <a:p>
          <a:r>
            <a:rPr lang="en-US"/>
            <a:t>Role‑wise analysis shows strongest impact in technical functions, with modest gains in QA/Test roles.</a:t>
          </a:r>
        </a:p>
      </dgm:t>
    </dgm:pt>
    <dgm:pt modelId="{A1C8012C-08B2-4255-B532-9DB6B6FE9B22}" type="parTrans" cxnId="{7713D6F2-6A84-4203-98D6-DDD9ADA0CB0C}">
      <dgm:prSet/>
      <dgm:spPr/>
      <dgm:t>
        <a:bodyPr/>
        <a:lstStyle/>
        <a:p>
          <a:endParaRPr lang="en-US"/>
        </a:p>
      </dgm:t>
    </dgm:pt>
    <dgm:pt modelId="{5BD26C58-D098-4A39-8D1D-8758E1E137A8}" type="sibTrans" cxnId="{7713D6F2-6A84-4203-98D6-DDD9ADA0CB0C}">
      <dgm:prSet/>
      <dgm:spPr/>
      <dgm:t>
        <a:bodyPr/>
        <a:lstStyle/>
        <a:p>
          <a:endParaRPr lang="en-US"/>
        </a:p>
      </dgm:t>
    </dgm:pt>
    <dgm:pt modelId="{8BECA968-2C56-4643-98C2-140B80CE09F6}">
      <dgm:prSet/>
      <dgm:spPr/>
      <dgm:t>
        <a:bodyPr/>
        <a:lstStyle/>
        <a:p>
          <a:r>
            <a:rPr lang="en-US"/>
            <a:t>AI adoption strengthens organizational competitiveness by reducing project duration and enhancing efficiency.</a:t>
          </a:r>
        </a:p>
      </dgm:t>
    </dgm:pt>
    <dgm:pt modelId="{A6D88567-51A6-4F91-B6FF-7AA63F96DFB0}" type="parTrans" cxnId="{E4DB6BC0-81A5-4789-AC94-582443750864}">
      <dgm:prSet/>
      <dgm:spPr/>
      <dgm:t>
        <a:bodyPr/>
        <a:lstStyle/>
        <a:p>
          <a:endParaRPr lang="en-US"/>
        </a:p>
      </dgm:t>
    </dgm:pt>
    <dgm:pt modelId="{3232204A-736A-4428-A1CC-7A650094982C}" type="sibTrans" cxnId="{E4DB6BC0-81A5-4789-AC94-582443750864}">
      <dgm:prSet/>
      <dgm:spPr/>
      <dgm:t>
        <a:bodyPr/>
        <a:lstStyle/>
        <a:p>
          <a:endParaRPr lang="en-US"/>
        </a:p>
      </dgm:t>
    </dgm:pt>
    <dgm:pt modelId="{C78379A4-FB1D-4FFC-96CF-2262ADEC73EE}">
      <dgm:prSet/>
      <dgm:spPr/>
      <dgm:t>
        <a:bodyPr/>
        <a:lstStyle/>
        <a:p>
          <a:r>
            <a:rPr lang="en-US"/>
            <a:t>Highlights the micro‑macro gap: task‑level improvements are clear, but project‑level outcomes require structured measurement.</a:t>
          </a:r>
        </a:p>
      </dgm:t>
    </dgm:pt>
    <dgm:pt modelId="{20DE1EBA-D454-4A8F-8D50-F2143A39E2BA}" type="parTrans" cxnId="{C9781041-A94B-4CC5-9CA7-DB41D1F18F8B}">
      <dgm:prSet/>
      <dgm:spPr/>
      <dgm:t>
        <a:bodyPr/>
        <a:lstStyle/>
        <a:p>
          <a:endParaRPr lang="en-US"/>
        </a:p>
      </dgm:t>
    </dgm:pt>
    <dgm:pt modelId="{235BBF31-C43E-495C-89E0-D6CBFC0F8617}" type="sibTrans" cxnId="{C9781041-A94B-4CC5-9CA7-DB41D1F18F8B}">
      <dgm:prSet/>
      <dgm:spPr/>
      <dgm:t>
        <a:bodyPr/>
        <a:lstStyle/>
        <a:p>
          <a:endParaRPr lang="en-US"/>
        </a:p>
      </dgm:t>
    </dgm:pt>
    <dgm:pt modelId="{D31BD877-1BAF-4BF1-9313-4155D5F75608}">
      <dgm:prSet/>
      <dgm:spPr/>
      <dgm:t>
        <a:bodyPr/>
        <a:lstStyle/>
        <a:p>
          <a:r>
            <a:rPr lang="en-US"/>
            <a:t>Establishes a replicable model (AI Productivity Index) for cross‑industry benchmarking and future research.</a:t>
          </a:r>
        </a:p>
      </dgm:t>
    </dgm:pt>
    <dgm:pt modelId="{276A3A76-5045-4A10-AE11-95D6E548C86E}" type="parTrans" cxnId="{999D15A3-A59A-408A-907A-445BF56110C3}">
      <dgm:prSet/>
      <dgm:spPr/>
      <dgm:t>
        <a:bodyPr/>
        <a:lstStyle/>
        <a:p>
          <a:endParaRPr lang="en-US"/>
        </a:p>
      </dgm:t>
    </dgm:pt>
    <dgm:pt modelId="{2E59839D-0A1F-46CE-936B-275C9323A246}" type="sibTrans" cxnId="{999D15A3-A59A-408A-907A-445BF56110C3}">
      <dgm:prSet/>
      <dgm:spPr/>
      <dgm:t>
        <a:bodyPr/>
        <a:lstStyle/>
        <a:p>
          <a:endParaRPr lang="en-US"/>
        </a:p>
      </dgm:t>
    </dgm:pt>
    <dgm:pt modelId="{CB8C2765-6C22-4D5E-8A36-778E5B012F73}" type="pres">
      <dgm:prSet presAssocID="{42489B0B-2C4E-4BBD-813B-6A435B573A55}" presName="linear" presStyleCnt="0">
        <dgm:presLayoutVars>
          <dgm:animLvl val="lvl"/>
          <dgm:resizeHandles val="exact"/>
        </dgm:presLayoutVars>
      </dgm:prSet>
      <dgm:spPr/>
    </dgm:pt>
    <dgm:pt modelId="{E590E88A-BF23-4D75-B054-E68F757DF55B}" type="pres">
      <dgm:prSet presAssocID="{7054E69D-F3BE-44D3-B7A7-A196DAC43B26}" presName="parentText" presStyleLbl="node1" presStyleIdx="0" presStyleCnt="7">
        <dgm:presLayoutVars>
          <dgm:chMax val="0"/>
          <dgm:bulletEnabled val="1"/>
        </dgm:presLayoutVars>
      </dgm:prSet>
      <dgm:spPr/>
    </dgm:pt>
    <dgm:pt modelId="{4199F056-4325-403B-90CE-84581B79C60A}" type="pres">
      <dgm:prSet presAssocID="{B4840E6D-E704-4404-99E9-BF77BA497583}" presName="spacer" presStyleCnt="0"/>
      <dgm:spPr/>
    </dgm:pt>
    <dgm:pt modelId="{DBC173FC-C372-4912-8DB0-974AEFCFEDF1}" type="pres">
      <dgm:prSet presAssocID="{AE9B77C5-8ECB-4403-9006-9295F7B81011}" presName="parentText" presStyleLbl="node1" presStyleIdx="1" presStyleCnt="7">
        <dgm:presLayoutVars>
          <dgm:chMax val="0"/>
          <dgm:bulletEnabled val="1"/>
        </dgm:presLayoutVars>
      </dgm:prSet>
      <dgm:spPr/>
    </dgm:pt>
    <dgm:pt modelId="{2CA44D36-4950-4F08-A051-43D3DA86FD75}" type="pres">
      <dgm:prSet presAssocID="{E6FCFA1B-1F92-4063-84B9-43FB93C764D4}" presName="spacer" presStyleCnt="0"/>
      <dgm:spPr/>
    </dgm:pt>
    <dgm:pt modelId="{51BF716D-29EC-435B-8394-CEE7DE8B4D07}" type="pres">
      <dgm:prSet presAssocID="{80693874-6A64-426B-8A69-B2C9AE871EE0}" presName="parentText" presStyleLbl="node1" presStyleIdx="2" presStyleCnt="7">
        <dgm:presLayoutVars>
          <dgm:chMax val="0"/>
          <dgm:bulletEnabled val="1"/>
        </dgm:presLayoutVars>
      </dgm:prSet>
      <dgm:spPr/>
    </dgm:pt>
    <dgm:pt modelId="{20E14375-EBED-4561-91E8-3B472E439E0B}" type="pres">
      <dgm:prSet presAssocID="{9493C0E7-C67B-4D26-92DD-A85CB67A48E1}" presName="spacer" presStyleCnt="0"/>
      <dgm:spPr/>
    </dgm:pt>
    <dgm:pt modelId="{B96ADC4E-0D5E-4B8A-8700-A42062DA6193}" type="pres">
      <dgm:prSet presAssocID="{17932DB3-6DBC-4E8D-B335-073E3AAAE1CD}" presName="parentText" presStyleLbl="node1" presStyleIdx="3" presStyleCnt="7">
        <dgm:presLayoutVars>
          <dgm:chMax val="0"/>
          <dgm:bulletEnabled val="1"/>
        </dgm:presLayoutVars>
      </dgm:prSet>
      <dgm:spPr/>
    </dgm:pt>
    <dgm:pt modelId="{9C789DA5-30CB-4147-9418-0DB76D3337FD}" type="pres">
      <dgm:prSet presAssocID="{5BD26C58-D098-4A39-8D1D-8758E1E137A8}" presName="spacer" presStyleCnt="0"/>
      <dgm:spPr/>
    </dgm:pt>
    <dgm:pt modelId="{5AB82CE2-C383-4642-8CA9-F450F40ED704}" type="pres">
      <dgm:prSet presAssocID="{8BECA968-2C56-4643-98C2-140B80CE09F6}" presName="parentText" presStyleLbl="node1" presStyleIdx="4" presStyleCnt="7">
        <dgm:presLayoutVars>
          <dgm:chMax val="0"/>
          <dgm:bulletEnabled val="1"/>
        </dgm:presLayoutVars>
      </dgm:prSet>
      <dgm:spPr/>
    </dgm:pt>
    <dgm:pt modelId="{92753615-EA7E-4186-A209-CCBF16C019E1}" type="pres">
      <dgm:prSet presAssocID="{3232204A-736A-4428-A1CC-7A650094982C}" presName="spacer" presStyleCnt="0"/>
      <dgm:spPr/>
    </dgm:pt>
    <dgm:pt modelId="{1916968E-3BFA-4DBA-B7F8-B18B7DC939E0}" type="pres">
      <dgm:prSet presAssocID="{C78379A4-FB1D-4FFC-96CF-2262ADEC73EE}" presName="parentText" presStyleLbl="node1" presStyleIdx="5" presStyleCnt="7">
        <dgm:presLayoutVars>
          <dgm:chMax val="0"/>
          <dgm:bulletEnabled val="1"/>
        </dgm:presLayoutVars>
      </dgm:prSet>
      <dgm:spPr/>
    </dgm:pt>
    <dgm:pt modelId="{83B35390-F2AA-4FA8-BC82-F2DDF0358CC9}" type="pres">
      <dgm:prSet presAssocID="{235BBF31-C43E-495C-89E0-D6CBFC0F8617}" presName="spacer" presStyleCnt="0"/>
      <dgm:spPr/>
    </dgm:pt>
    <dgm:pt modelId="{9AB34CA4-E16E-4195-A2BB-7662A823FBF8}" type="pres">
      <dgm:prSet presAssocID="{D31BD877-1BAF-4BF1-9313-4155D5F75608}" presName="parentText" presStyleLbl="node1" presStyleIdx="6" presStyleCnt="7">
        <dgm:presLayoutVars>
          <dgm:chMax val="0"/>
          <dgm:bulletEnabled val="1"/>
        </dgm:presLayoutVars>
      </dgm:prSet>
      <dgm:spPr/>
    </dgm:pt>
  </dgm:ptLst>
  <dgm:cxnLst>
    <dgm:cxn modelId="{77F74302-9309-4D79-A2E9-CD1FAED29903}" srcId="{42489B0B-2C4E-4BBD-813B-6A435B573A55}" destId="{7054E69D-F3BE-44D3-B7A7-A196DAC43B26}" srcOrd="0" destOrd="0" parTransId="{1669F715-9AAD-4D37-A300-81E5848A00FF}" sibTransId="{B4840E6D-E704-4404-99E9-BF77BA497583}"/>
    <dgm:cxn modelId="{98EAE50C-E0C4-463E-9AC1-54096A67EFE3}" type="presOf" srcId="{80693874-6A64-426B-8A69-B2C9AE871EE0}" destId="{51BF716D-29EC-435B-8394-CEE7DE8B4D07}" srcOrd="0" destOrd="0" presId="urn:microsoft.com/office/officeart/2005/8/layout/vList2"/>
    <dgm:cxn modelId="{C9781041-A94B-4CC5-9CA7-DB41D1F18F8B}" srcId="{42489B0B-2C4E-4BBD-813B-6A435B573A55}" destId="{C78379A4-FB1D-4FFC-96CF-2262ADEC73EE}" srcOrd="5" destOrd="0" parTransId="{20DE1EBA-D454-4A8F-8D50-F2143A39E2BA}" sibTransId="{235BBF31-C43E-495C-89E0-D6CBFC0F8617}"/>
    <dgm:cxn modelId="{6A6A4F41-976A-4847-A8CC-255EBB5CE32F}" type="presOf" srcId="{17932DB3-6DBC-4E8D-B335-073E3AAAE1CD}" destId="{B96ADC4E-0D5E-4B8A-8700-A42062DA6193}" srcOrd="0" destOrd="0" presId="urn:microsoft.com/office/officeart/2005/8/layout/vList2"/>
    <dgm:cxn modelId="{CDD17F6C-0896-47FB-8F2B-335D16D512A3}" type="presOf" srcId="{8BECA968-2C56-4643-98C2-140B80CE09F6}" destId="{5AB82CE2-C383-4642-8CA9-F450F40ED704}" srcOrd="0" destOrd="0" presId="urn:microsoft.com/office/officeart/2005/8/layout/vList2"/>
    <dgm:cxn modelId="{E199C26C-7DC6-42DF-97F2-B81A73393EA0}" type="presOf" srcId="{7054E69D-F3BE-44D3-B7A7-A196DAC43B26}" destId="{E590E88A-BF23-4D75-B054-E68F757DF55B}" srcOrd="0" destOrd="0" presId="urn:microsoft.com/office/officeart/2005/8/layout/vList2"/>
    <dgm:cxn modelId="{3EC3BA4D-C49B-404A-BDB7-840582594E10}" type="presOf" srcId="{AE9B77C5-8ECB-4403-9006-9295F7B81011}" destId="{DBC173FC-C372-4912-8DB0-974AEFCFEDF1}" srcOrd="0" destOrd="0" presId="urn:microsoft.com/office/officeart/2005/8/layout/vList2"/>
    <dgm:cxn modelId="{C921E66D-2320-4A32-A781-B890E23E2A0B}" type="presOf" srcId="{C78379A4-FB1D-4FFC-96CF-2262ADEC73EE}" destId="{1916968E-3BFA-4DBA-B7F8-B18B7DC939E0}" srcOrd="0" destOrd="0" presId="urn:microsoft.com/office/officeart/2005/8/layout/vList2"/>
    <dgm:cxn modelId="{CF3E8388-F0BA-4394-B6E3-60C54915CE95}" type="presOf" srcId="{42489B0B-2C4E-4BBD-813B-6A435B573A55}" destId="{CB8C2765-6C22-4D5E-8A36-778E5B012F73}" srcOrd="0" destOrd="0" presId="urn:microsoft.com/office/officeart/2005/8/layout/vList2"/>
    <dgm:cxn modelId="{999D15A3-A59A-408A-907A-445BF56110C3}" srcId="{42489B0B-2C4E-4BBD-813B-6A435B573A55}" destId="{D31BD877-1BAF-4BF1-9313-4155D5F75608}" srcOrd="6" destOrd="0" parTransId="{276A3A76-5045-4A10-AE11-95D6E548C86E}" sibTransId="{2E59839D-0A1F-46CE-936B-275C9323A246}"/>
    <dgm:cxn modelId="{E4DB6BC0-81A5-4789-AC94-582443750864}" srcId="{42489B0B-2C4E-4BBD-813B-6A435B573A55}" destId="{8BECA968-2C56-4643-98C2-140B80CE09F6}" srcOrd="4" destOrd="0" parTransId="{A6D88567-51A6-4F91-B6FF-7AA63F96DFB0}" sibTransId="{3232204A-736A-4428-A1CC-7A650094982C}"/>
    <dgm:cxn modelId="{AAEE03CA-56A8-446E-A41B-F53183751C0D}" type="presOf" srcId="{D31BD877-1BAF-4BF1-9313-4155D5F75608}" destId="{9AB34CA4-E16E-4195-A2BB-7662A823FBF8}" srcOrd="0" destOrd="0" presId="urn:microsoft.com/office/officeart/2005/8/layout/vList2"/>
    <dgm:cxn modelId="{EB61ABCF-5B91-45A9-92FD-4945F99A7EE4}" srcId="{42489B0B-2C4E-4BBD-813B-6A435B573A55}" destId="{AE9B77C5-8ECB-4403-9006-9295F7B81011}" srcOrd="1" destOrd="0" parTransId="{68FC67BC-54B9-495E-8620-4C4439342101}" sibTransId="{E6FCFA1B-1F92-4063-84B9-43FB93C764D4}"/>
    <dgm:cxn modelId="{7713D6F2-6A84-4203-98D6-DDD9ADA0CB0C}" srcId="{42489B0B-2C4E-4BBD-813B-6A435B573A55}" destId="{17932DB3-6DBC-4E8D-B335-073E3AAAE1CD}" srcOrd="3" destOrd="0" parTransId="{A1C8012C-08B2-4255-B532-9DB6B6FE9B22}" sibTransId="{5BD26C58-D098-4A39-8D1D-8758E1E137A8}"/>
    <dgm:cxn modelId="{492CEDF4-B303-4CD1-9E34-833EB9CB03D8}" srcId="{42489B0B-2C4E-4BBD-813B-6A435B573A55}" destId="{80693874-6A64-426B-8A69-B2C9AE871EE0}" srcOrd="2" destOrd="0" parTransId="{7FD0FBD0-2A83-4BCB-8022-073D7304A477}" sibTransId="{9493C0E7-C67B-4D26-92DD-A85CB67A48E1}"/>
    <dgm:cxn modelId="{19495538-2262-4FCA-88D8-1AD2A70DD313}" type="presParOf" srcId="{CB8C2765-6C22-4D5E-8A36-778E5B012F73}" destId="{E590E88A-BF23-4D75-B054-E68F757DF55B}" srcOrd="0" destOrd="0" presId="urn:microsoft.com/office/officeart/2005/8/layout/vList2"/>
    <dgm:cxn modelId="{F6A7CBE1-8A93-4A9F-A284-5DBBC65456CB}" type="presParOf" srcId="{CB8C2765-6C22-4D5E-8A36-778E5B012F73}" destId="{4199F056-4325-403B-90CE-84581B79C60A}" srcOrd="1" destOrd="0" presId="urn:microsoft.com/office/officeart/2005/8/layout/vList2"/>
    <dgm:cxn modelId="{6E8C0BEC-83FF-4F4B-AA8F-35EB94468A93}" type="presParOf" srcId="{CB8C2765-6C22-4D5E-8A36-778E5B012F73}" destId="{DBC173FC-C372-4912-8DB0-974AEFCFEDF1}" srcOrd="2" destOrd="0" presId="urn:microsoft.com/office/officeart/2005/8/layout/vList2"/>
    <dgm:cxn modelId="{A9DA3FF2-685A-4704-98FD-A897EF52BEC6}" type="presParOf" srcId="{CB8C2765-6C22-4D5E-8A36-778E5B012F73}" destId="{2CA44D36-4950-4F08-A051-43D3DA86FD75}" srcOrd="3" destOrd="0" presId="urn:microsoft.com/office/officeart/2005/8/layout/vList2"/>
    <dgm:cxn modelId="{3646F9E3-9B30-4CBC-AAF5-FF3A5BE848E6}" type="presParOf" srcId="{CB8C2765-6C22-4D5E-8A36-778E5B012F73}" destId="{51BF716D-29EC-435B-8394-CEE7DE8B4D07}" srcOrd="4" destOrd="0" presId="urn:microsoft.com/office/officeart/2005/8/layout/vList2"/>
    <dgm:cxn modelId="{ADC95BF9-2639-48E0-BA45-7F58E7E19F11}" type="presParOf" srcId="{CB8C2765-6C22-4D5E-8A36-778E5B012F73}" destId="{20E14375-EBED-4561-91E8-3B472E439E0B}" srcOrd="5" destOrd="0" presId="urn:microsoft.com/office/officeart/2005/8/layout/vList2"/>
    <dgm:cxn modelId="{8C61B113-1C16-4CE5-A43A-EAD8E6F944DB}" type="presParOf" srcId="{CB8C2765-6C22-4D5E-8A36-778E5B012F73}" destId="{B96ADC4E-0D5E-4B8A-8700-A42062DA6193}" srcOrd="6" destOrd="0" presId="urn:microsoft.com/office/officeart/2005/8/layout/vList2"/>
    <dgm:cxn modelId="{2754C08C-3C32-481A-83C8-19888DDC6319}" type="presParOf" srcId="{CB8C2765-6C22-4D5E-8A36-778E5B012F73}" destId="{9C789DA5-30CB-4147-9418-0DB76D3337FD}" srcOrd="7" destOrd="0" presId="urn:microsoft.com/office/officeart/2005/8/layout/vList2"/>
    <dgm:cxn modelId="{34EB9E73-D387-4C90-B79B-09E18957B605}" type="presParOf" srcId="{CB8C2765-6C22-4D5E-8A36-778E5B012F73}" destId="{5AB82CE2-C383-4642-8CA9-F450F40ED704}" srcOrd="8" destOrd="0" presId="urn:microsoft.com/office/officeart/2005/8/layout/vList2"/>
    <dgm:cxn modelId="{896293BD-3712-45B9-8400-DCA3B48A99F7}" type="presParOf" srcId="{CB8C2765-6C22-4D5E-8A36-778E5B012F73}" destId="{92753615-EA7E-4186-A209-CCBF16C019E1}" srcOrd="9" destOrd="0" presId="urn:microsoft.com/office/officeart/2005/8/layout/vList2"/>
    <dgm:cxn modelId="{F4945636-C61A-4A93-8367-879C63B600D7}" type="presParOf" srcId="{CB8C2765-6C22-4D5E-8A36-778E5B012F73}" destId="{1916968E-3BFA-4DBA-B7F8-B18B7DC939E0}" srcOrd="10" destOrd="0" presId="urn:microsoft.com/office/officeart/2005/8/layout/vList2"/>
    <dgm:cxn modelId="{EA60358B-FF06-4548-B379-D4978CA4CA68}" type="presParOf" srcId="{CB8C2765-6C22-4D5E-8A36-778E5B012F73}" destId="{83B35390-F2AA-4FA8-BC82-F2DDF0358CC9}" srcOrd="11" destOrd="0" presId="urn:microsoft.com/office/officeart/2005/8/layout/vList2"/>
    <dgm:cxn modelId="{5685C93C-E630-4A2D-9F14-739B989A223F}" type="presParOf" srcId="{CB8C2765-6C22-4D5E-8A36-778E5B012F73}" destId="{9AB34CA4-E16E-4195-A2BB-7662A823FBF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9CB78BA-E030-467A-AE00-A163931D790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2E50C94-9AF6-4757-8298-A880A9E67D02}">
      <dgm:prSet/>
      <dgm:spPr/>
      <dgm:t>
        <a:bodyPr/>
        <a:lstStyle/>
        <a:p>
          <a:pPr>
            <a:lnSpc>
              <a:spcPct val="100000"/>
            </a:lnSpc>
          </a:pPr>
          <a:r>
            <a:rPr lang="en-US" b="1"/>
            <a:t>Scale AI adoption across roles </a:t>
          </a:r>
          <a:r>
            <a:rPr lang="en-US"/>
            <a:t>→ Extend beyond technical teams to business analysts, QA, and support functions.</a:t>
          </a:r>
        </a:p>
      </dgm:t>
    </dgm:pt>
    <dgm:pt modelId="{2236DA0C-391B-4BCA-89E9-7644082A831B}" type="parTrans" cxnId="{580A83C1-937A-4F5F-B13F-AA754462B9ED}">
      <dgm:prSet/>
      <dgm:spPr/>
      <dgm:t>
        <a:bodyPr/>
        <a:lstStyle/>
        <a:p>
          <a:endParaRPr lang="en-US"/>
        </a:p>
      </dgm:t>
    </dgm:pt>
    <dgm:pt modelId="{0DE37989-6910-4FBB-99C3-FEEE77DF604D}" type="sibTrans" cxnId="{580A83C1-937A-4F5F-B13F-AA754462B9ED}">
      <dgm:prSet/>
      <dgm:spPr/>
      <dgm:t>
        <a:bodyPr/>
        <a:lstStyle/>
        <a:p>
          <a:endParaRPr lang="en-US"/>
        </a:p>
      </dgm:t>
    </dgm:pt>
    <dgm:pt modelId="{D1F585AF-19A5-4923-84D4-605EF0A8CEC8}">
      <dgm:prSet/>
      <dgm:spPr/>
      <dgm:t>
        <a:bodyPr/>
        <a:lstStyle/>
        <a:p>
          <a:pPr>
            <a:lnSpc>
              <a:spcPct val="100000"/>
            </a:lnSpc>
          </a:pPr>
          <a:r>
            <a:rPr lang="en-US" b="1"/>
            <a:t>Explore task‑specific AI tools </a:t>
          </a:r>
          <a:r>
            <a:rPr lang="en-US"/>
            <a:t>→ Match tools to workflows (e.g., documentation, coding assistance, error detection).</a:t>
          </a:r>
        </a:p>
      </dgm:t>
    </dgm:pt>
    <dgm:pt modelId="{88EC375B-E39A-43BF-A0A2-9828BA3F9732}" type="parTrans" cxnId="{50A7CEDC-CF03-4CBE-8E84-CF0D972B4E2F}">
      <dgm:prSet/>
      <dgm:spPr/>
      <dgm:t>
        <a:bodyPr/>
        <a:lstStyle/>
        <a:p>
          <a:endParaRPr lang="en-US"/>
        </a:p>
      </dgm:t>
    </dgm:pt>
    <dgm:pt modelId="{84593038-35A3-4BFE-B6C3-0128F79A984C}" type="sibTrans" cxnId="{50A7CEDC-CF03-4CBE-8E84-CF0D972B4E2F}">
      <dgm:prSet/>
      <dgm:spPr/>
      <dgm:t>
        <a:bodyPr/>
        <a:lstStyle/>
        <a:p>
          <a:endParaRPr lang="en-US"/>
        </a:p>
      </dgm:t>
    </dgm:pt>
    <dgm:pt modelId="{494184BC-F3CA-49C6-8B69-A2355034502D}">
      <dgm:prSet/>
      <dgm:spPr/>
      <dgm:t>
        <a:bodyPr/>
        <a:lstStyle/>
        <a:p>
          <a:pPr>
            <a:lnSpc>
              <a:spcPct val="100000"/>
            </a:lnSpc>
          </a:pPr>
          <a:r>
            <a:rPr lang="en-US" b="1"/>
            <a:t>Invest in employee training &amp; change management </a:t>
          </a:r>
          <a:r>
            <a:rPr lang="en-US"/>
            <a:t>→ Address resistance, build confidence, and improve adoption maturity.</a:t>
          </a:r>
        </a:p>
      </dgm:t>
    </dgm:pt>
    <dgm:pt modelId="{1F02A01A-E969-4396-A1A6-1D4A50C633E3}" type="parTrans" cxnId="{B0768075-8241-4608-B65D-9EDA0EB8258D}">
      <dgm:prSet/>
      <dgm:spPr/>
      <dgm:t>
        <a:bodyPr/>
        <a:lstStyle/>
        <a:p>
          <a:endParaRPr lang="en-US"/>
        </a:p>
      </dgm:t>
    </dgm:pt>
    <dgm:pt modelId="{373D2871-9AE2-49AE-A593-29FEF5E1476C}" type="sibTrans" cxnId="{B0768075-8241-4608-B65D-9EDA0EB8258D}">
      <dgm:prSet/>
      <dgm:spPr/>
      <dgm:t>
        <a:bodyPr/>
        <a:lstStyle/>
        <a:p>
          <a:endParaRPr lang="en-US"/>
        </a:p>
      </dgm:t>
    </dgm:pt>
    <dgm:pt modelId="{8E8AD749-59B0-4FB7-AEB6-98FFAD695F19}">
      <dgm:prSet/>
      <dgm:spPr/>
      <dgm:t>
        <a:bodyPr/>
        <a:lstStyle/>
        <a:p>
          <a:pPr>
            <a:lnSpc>
              <a:spcPct val="100000"/>
            </a:lnSpc>
          </a:pPr>
          <a:r>
            <a:rPr lang="en-US" b="1"/>
            <a:t>Integrate AI metrics into enterprise analytics </a:t>
          </a:r>
          <a:r>
            <a:rPr lang="en-US"/>
            <a:t>→ Embed the AI Productivity Index into dashboards for continuous monitoring.</a:t>
          </a:r>
        </a:p>
      </dgm:t>
    </dgm:pt>
    <dgm:pt modelId="{936ABAB7-C37D-4EEB-9BEE-E5B84C7F9055}" type="parTrans" cxnId="{2FDD3DB5-E4A1-435D-9868-494DE4E21E3A}">
      <dgm:prSet/>
      <dgm:spPr/>
      <dgm:t>
        <a:bodyPr/>
        <a:lstStyle/>
        <a:p>
          <a:endParaRPr lang="en-US"/>
        </a:p>
      </dgm:t>
    </dgm:pt>
    <dgm:pt modelId="{833AB93A-5DBB-408E-B558-EA5B085C2099}" type="sibTrans" cxnId="{2FDD3DB5-E4A1-435D-9868-494DE4E21E3A}">
      <dgm:prSet/>
      <dgm:spPr/>
      <dgm:t>
        <a:bodyPr/>
        <a:lstStyle/>
        <a:p>
          <a:endParaRPr lang="en-US"/>
        </a:p>
      </dgm:t>
    </dgm:pt>
    <dgm:pt modelId="{EE3BA8BB-5946-45E0-9270-3AC32B163FEF}">
      <dgm:prSet/>
      <dgm:spPr/>
      <dgm:t>
        <a:bodyPr/>
        <a:lstStyle/>
        <a:p>
          <a:pPr>
            <a:lnSpc>
              <a:spcPct val="100000"/>
            </a:lnSpc>
          </a:pPr>
          <a:r>
            <a:rPr lang="en-US" b="1"/>
            <a:t>Leverage multi‑tool usage </a:t>
          </a:r>
          <a:r>
            <a:rPr lang="en-US"/>
            <a:t>→ Encourage employees to combine tools (e.g., ChatGPT + Copilot + domain‑specific apps) for higher ROI.</a:t>
          </a:r>
        </a:p>
      </dgm:t>
    </dgm:pt>
    <dgm:pt modelId="{19FD640A-5D20-4727-8C7A-79D9064EE8C2}" type="parTrans" cxnId="{74E093C4-AD8C-44D2-89A0-6571827343C2}">
      <dgm:prSet/>
      <dgm:spPr/>
      <dgm:t>
        <a:bodyPr/>
        <a:lstStyle/>
        <a:p>
          <a:endParaRPr lang="en-US"/>
        </a:p>
      </dgm:t>
    </dgm:pt>
    <dgm:pt modelId="{5769CA05-31BA-4BF3-92C1-C46BDD4E0439}" type="sibTrans" cxnId="{74E093C4-AD8C-44D2-89A0-6571827343C2}">
      <dgm:prSet/>
      <dgm:spPr/>
      <dgm:t>
        <a:bodyPr/>
        <a:lstStyle/>
        <a:p>
          <a:endParaRPr lang="en-US"/>
        </a:p>
      </dgm:t>
    </dgm:pt>
    <dgm:pt modelId="{3DEB7045-F578-49BF-9B6F-FCBE07B14E09}">
      <dgm:prSet/>
      <dgm:spPr/>
      <dgm:t>
        <a:bodyPr/>
        <a:lstStyle/>
        <a:p>
          <a:pPr>
            <a:lnSpc>
              <a:spcPct val="100000"/>
            </a:lnSpc>
          </a:pPr>
          <a:r>
            <a:rPr lang="en-US" b="1"/>
            <a:t>Redesign processes </a:t>
          </a:r>
          <a:r>
            <a:rPr lang="en-US"/>
            <a:t>→ Aggregate individual task savings into project‑level outcomes through structured workflows.</a:t>
          </a:r>
        </a:p>
      </dgm:t>
    </dgm:pt>
    <dgm:pt modelId="{A2E8310F-1B29-422F-9205-380731AE4CDA}" type="parTrans" cxnId="{BE7B6414-0A83-4B83-81A3-18581FD42CAD}">
      <dgm:prSet/>
      <dgm:spPr/>
      <dgm:t>
        <a:bodyPr/>
        <a:lstStyle/>
        <a:p>
          <a:endParaRPr lang="en-US"/>
        </a:p>
      </dgm:t>
    </dgm:pt>
    <dgm:pt modelId="{6D9B72EA-9BB4-40FD-8EBE-42B42E0CC4E2}" type="sibTrans" cxnId="{BE7B6414-0A83-4B83-81A3-18581FD42CAD}">
      <dgm:prSet/>
      <dgm:spPr/>
      <dgm:t>
        <a:bodyPr/>
        <a:lstStyle/>
        <a:p>
          <a:endParaRPr lang="en-US"/>
        </a:p>
      </dgm:t>
    </dgm:pt>
    <dgm:pt modelId="{1B70D73C-CBE8-451B-9717-1AE4145EDAF7}" type="pres">
      <dgm:prSet presAssocID="{C9CB78BA-E030-467A-AE00-A163931D7903}" presName="root" presStyleCnt="0">
        <dgm:presLayoutVars>
          <dgm:dir/>
          <dgm:resizeHandles val="exact"/>
        </dgm:presLayoutVars>
      </dgm:prSet>
      <dgm:spPr/>
    </dgm:pt>
    <dgm:pt modelId="{F3AF7CAA-E3F9-46D2-B431-9A0CAB155FC8}" type="pres">
      <dgm:prSet presAssocID="{B2E50C94-9AF6-4757-8298-A880A9E67D02}" presName="compNode" presStyleCnt="0"/>
      <dgm:spPr/>
    </dgm:pt>
    <dgm:pt modelId="{148BDDA2-43E8-4DFE-98F2-3AF927BA1387}" type="pres">
      <dgm:prSet presAssocID="{B2E50C94-9AF6-4757-8298-A880A9E67D02}"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ears"/>
        </a:ext>
      </dgm:extLst>
    </dgm:pt>
    <dgm:pt modelId="{CAD8FB0F-368C-4EA3-B0FF-F78CAEEAA1EE}" type="pres">
      <dgm:prSet presAssocID="{B2E50C94-9AF6-4757-8298-A880A9E67D02}" presName="spaceRect" presStyleCnt="0"/>
      <dgm:spPr/>
    </dgm:pt>
    <dgm:pt modelId="{CCC83E3D-B148-4E30-830A-D87360075CC6}" type="pres">
      <dgm:prSet presAssocID="{B2E50C94-9AF6-4757-8298-A880A9E67D02}" presName="textRect" presStyleLbl="revTx" presStyleIdx="0" presStyleCnt="6">
        <dgm:presLayoutVars>
          <dgm:chMax val="1"/>
          <dgm:chPref val="1"/>
        </dgm:presLayoutVars>
      </dgm:prSet>
      <dgm:spPr/>
    </dgm:pt>
    <dgm:pt modelId="{20118B41-5193-453E-AE97-E8DDF5C8E8D2}" type="pres">
      <dgm:prSet presAssocID="{0DE37989-6910-4FBB-99C3-FEEE77DF604D}" presName="sibTrans" presStyleCnt="0"/>
      <dgm:spPr/>
    </dgm:pt>
    <dgm:pt modelId="{74245733-FB91-410E-9D01-576FC6E6C6F0}" type="pres">
      <dgm:prSet presAssocID="{D1F585AF-19A5-4923-84D4-605EF0A8CEC8}" presName="compNode" presStyleCnt="0"/>
      <dgm:spPr/>
    </dgm:pt>
    <dgm:pt modelId="{6D9BD95D-C0D9-41C8-90BB-622E728DDC78}" type="pres">
      <dgm:prSet presAssocID="{D1F585AF-19A5-4923-84D4-605EF0A8CEC8}"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17902938-2A92-4658-A973-956BDD841E9E}" type="pres">
      <dgm:prSet presAssocID="{D1F585AF-19A5-4923-84D4-605EF0A8CEC8}" presName="spaceRect" presStyleCnt="0"/>
      <dgm:spPr/>
    </dgm:pt>
    <dgm:pt modelId="{C98F5CFE-156D-41AD-8879-324844DF6741}" type="pres">
      <dgm:prSet presAssocID="{D1F585AF-19A5-4923-84D4-605EF0A8CEC8}" presName="textRect" presStyleLbl="revTx" presStyleIdx="1" presStyleCnt="6">
        <dgm:presLayoutVars>
          <dgm:chMax val="1"/>
          <dgm:chPref val="1"/>
        </dgm:presLayoutVars>
      </dgm:prSet>
      <dgm:spPr/>
    </dgm:pt>
    <dgm:pt modelId="{E9817754-741A-4E98-89F0-86F91B0091DB}" type="pres">
      <dgm:prSet presAssocID="{84593038-35A3-4BFE-B6C3-0128F79A984C}" presName="sibTrans" presStyleCnt="0"/>
      <dgm:spPr/>
    </dgm:pt>
    <dgm:pt modelId="{168F3E3F-AA51-4115-B887-8B813BB80CAE}" type="pres">
      <dgm:prSet presAssocID="{494184BC-F3CA-49C6-8B69-A2355034502D}" presName="compNode" presStyleCnt="0"/>
      <dgm:spPr/>
    </dgm:pt>
    <dgm:pt modelId="{09476186-407F-4714-B4AF-B5021343C49C}" type="pres">
      <dgm:prSet presAssocID="{494184BC-F3CA-49C6-8B69-A2355034502D}"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siness Growth"/>
        </a:ext>
      </dgm:extLst>
    </dgm:pt>
    <dgm:pt modelId="{ECF58500-42E3-4251-BEA4-69061582918F}" type="pres">
      <dgm:prSet presAssocID="{494184BC-F3CA-49C6-8B69-A2355034502D}" presName="spaceRect" presStyleCnt="0"/>
      <dgm:spPr/>
    </dgm:pt>
    <dgm:pt modelId="{C0D44A85-1378-4C65-9695-0CB99F47CCE3}" type="pres">
      <dgm:prSet presAssocID="{494184BC-F3CA-49C6-8B69-A2355034502D}" presName="textRect" presStyleLbl="revTx" presStyleIdx="2" presStyleCnt="6">
        <dgm:presLayoutVars>
          <dgm:chMax val="1"/>
          <dgm:chPref val="1"/>
        </dgm:presLayoutVars>
      </dgm:prSet>
      <dgm:spPr/>
    </dgm:pt>
    <dgm:pt modelId="{A6EDE6EA-8817-4E32-A06B-06632E549F05}" type="pres">
      <dgm:prSet presAssocID="{373D2871-9AE2-49AE-A593-29FEF5E1476C}" presName="sibTrans" presStyleCnt="0"/>
      <dgm:spPr/>
    </dgm:pt>
    <dgm:pt modelId="{12298998-C7B9-47C7-86E9-6AC9BAD5AA47}" type="pres">
      <dgm:prSet presAssocID="{8E8AD749-59B0-4FB7-AEB6-98FFAD695F19}" presName="compNode" presStyleCnt="0"/>
      <dgm:spPr/>
    </dgm:pt>
    <dgm:pt modelId="{05C1B9DF-D937-4B35-BF97-3DE88C4DA412}" type="pres">
      <dgm:prSet presAssocID="{8E8AD749-59B0-4FB7-AEB6-98FFAD695F19}"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1D9F39F4-7C33-458F-8CE0-DB73EE29560A}" type="pres">
      <dgm:prSet presAssocID="{8E8AD749-59B0-4FB7-AEB6-98FFAD695F19}" presName="spaceRect" presStyleCnt="0"/>
      <dgm:spPr/>
    </dgm:pt>
    <dgm:pt modelId="{DDE7BB06-F43E-4822-9E2A-16D687A7306D}" type="pres">
      <dgm:prSet presAssocID="{8E8AD749-59B0-4FB7-AEB6-98FFAD695F19}" presName="textRect" presStyleLbl="revTx" presStyleIdx="3" presStyleCnt="6">
        <dgm:presLayoutVars>
          <dgm:chMax val="1"/>
          <dgm:chPref val="1"/>
        </dgm:presLayoutVars>
      </dgm:prSet>
      <dgm:spPr/>
    </dgm:pt>
    <dgm:pt modelId="{2383B21D-08C5-4CBE-B1B5-560A92E74BB7}" type="pres">
      <dgm:prSet presAssocID="{833AB93A-5DBB-408E-B558-EA5B085C2099}" presName="sibTrans" presStyleCnt="0"/>
      <dgm:spPr/>
    </dgm:pt>
    <dgm:pt modelId="{BA8202E7-33BF-466C-BC82-56129C2CA600}" type="pres">
      <dgm:prSet presAssocID="{EE3BA8BB-5946-45E0-9270-3AC32B163FEF}" presName="compNode" presStyleCnt="0"/>
      <dgm:spPr/>
    </dgm:pt>
    <dgm:pt modelId="{471569A4-7127-4AC9-8DAC-5D03B5FF8561}" type="pres">
      <dgm:prSet presAssocID="{EE3BA8BB-5946-45E0-9270-3AC32B163FEF}"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ools"/>
        </a:ext>
      </dgm:extLst>
    </dgm:pt>
    <dgm:pt modelId="{AACB839A-107D-4B49-A21D-8AAB5A1E06BF}" type="pres">
      <dgm:prSet presAssocID="{EE3BA8BB-5946-45E0-9270-3AC32B163FEF}" presName="spaceRect" presStyleCnt="0"/>
      <dgm:spPr/>
    </dgm:pt>
    <dgm:pt modelId="{42BDB260-579E-4D1D-B98C-4A4368FB1D2D}" type="pres">
      <dgm:prSet presAssocID="{EE3BA8BB-5946-45E0-9270-3AC32B163FEF}" presName="textRect" presStyleLbl="revTx" presStyleIdx="4" presStyleCnt="6">
        <dgm:presLayoutVars>
          <dgm:chMax val="1"/>
          <dgm:chPref val="1"/>
        </dgm:presLayoutVars>
      </dgm:prSet>
      <dgm:spPr/>
    </dgm:pt>
    <dgm:pt modelId="{A15AF53E-C9D8-4850-A827-5CF1513E9CD4}" type="pres">
      <dgm:prSet presAssocID="{5769CA05-31BA-4BF3-92C1-C46BDD4E0439}" presName="sibTrans" presStyleCnt="0"/>
      <dgm:spPr/>
    </dgm:pt>
    <dgm:pt modelId="{D7562D4A-FF34-4483-8920-5D74D3192F1A}" type="pres">
      <dgm:prSet presAssocID="{3DEB7045-F578-49BF-9B6F-FCBE07B14E09}" presName="compNode" presStyleCnt="0"/>
      <dgm:spPr/>
    </dgm:pt>
    <dgm:pt modelId="{CF83838C-4711-41CF-9900-8ABC338C693E}" type="pres">
      <dgm:prSet presAssocID="{3DEB7045-F578-49BF-9B6F-FCBE07B14E09}"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40954910-A9FF-45EB-9DB5-5B4755777F57}" type="pres">
      <dgm:prSet presAssocID="{3DEB7045-F578-49BF-9B6F-FCBE07B14E09}" presName="spaceRect" presStyleCnt="0"/>
      <dgm:spPr/>
    </dgm:pt>
    <dgm:pt modelId="{8757693A-0AB7-48F7-A4BC-F57D1330B410}" type="pres">
      <dgm:prSet presAssocID="{3DEB7045-F578-49BF-9B6F-FCBE07B14E09}" presName="textRect" presStyleLbl="revTx" presStyleIdx="5" presStyleCnt="6">
        <dgm:presLayoutVars>
          <dgm:chMax val="1"/>
          <dgm:chPref val="1"/>
        </dgm:presLayoutVars>
      </dgm:prSet>
      <dgm:spPr/>
    </dgm:pt>
  </dgm:ptLst>
  <dgm:cxnLst>
    <dgm:cxn modelId="{BE7B6414-0A83-4B83-81A3-18581FD42CAD}" srcId="{C9CB78BA-E030-467A-AE00-A163931D7903}" destId="{3DEB7045-F578-49BF-9B6F-FCBE07B14E09}" srcOrd="5" destOrd="0" parTransId="{A2E8310F-1B29-422F-9205-380731AE4CDA}" sibTransId="{6D9B72EA-9BB4-40FD-8EBE-42B42E0CC4E2}"/>
    <dgm:cxn modelId="{06737B2F-9975-4479-8A7A-253DAD3F519F}" type="presOf" srcId="{EE3BA8BB-5946-45E0-9270-3AC32B163FEF}" destId="{42BDB260-579E-4D1D-B98C-4A4368FB1D2D}" srcOrd="0" destOrd="0" presId="urn:microsoft.com/office/officeart/2018/2/layout/IconLabelList"/>
    <dgm:cxn modelId="{877F0C41-2718-42FF-9C36-21A7586059CB}" type="presOf" srcId="{C9CB78BA-E030-467A-AE00-A163931D7903}" destId="{1B70D73C-CBE8-451B-9717-1AE4145EDAF7}" srcOrd="0" destOrd="0" presId="urn:microsoft.com/office/officeart/2018/2/layout/IconLabelList"/>
    <dgm:cxn modelId="{0F56154A-60D7-43A6-AFCF-6C659F7F7746}" type="presOf" srcId="{B2E50C94-9AF6-4757-8298-A880A9E67D02}" destId="{CCC83E3D-B148-4E30-830A-D87360075CC6}" srcOrd="0" destOrd="0" presId="urn:microsoft.com/office/officeart/2018/2/layout/IconLabelList"/>
    <dgm:cxn modelId="{2E010B4F-FCB7-4AC1-915C-B8CAD2925404}" type="presOf" srcId="{3DEB7045-F578-49BF-9B6F-FCBE07B14E09}" destId="{8757693A-0AB7-48F7-A4BC-F57D1330B410}" srcOrd="0" destOrd="0" presId="urn:microsoft.com/office/officeart/2018/2/layout/IconLabelList"/>
    <dgm:cxn modelId="{B0768075-8241-4608-B65D-9EDA0EB8258D}" srcId="{C9CB78BA-E030-467A-AE00-A163931D7903}" destId="{494184BC-F3CA-49C6-8B69-A2355034502D}" srcOrd="2" destOrd="0" parTransId="{1F02A01A-E969-4396-A1A6-1D4A50C633E3}" sibTransId="{373D2871-9AE2-49AE-A593-29FEF5E1476C}"/>
    <dgm:cxn modelId="{21E2867F-8CE3-4795-BCB6-C84B61C08A1C}" type="presOf" srcId="{8E8AD749-59B0-4FB7-AEB6-98FFAD695F19}" destId="{DDE7BB06-F43E-4822-9E2A-16D687A7306D}" srcOrd="0" destOrd="0" presId="urn:microsoft.com/office/officeart/2018/2/layout/IconLabelList"/>
    <dgm:cxn modelId="{B7A07B9B-781C-4DAC-9DA4-644EE86683A3}" type="presOf" srcId="{D1F585AF-19A5-4923-84D4-605EF0A8CEC8}" destId="{C98F5CFE-156D-41AD-8879-324844DF6741}" srcOrd="0" destOrd="0" presId="urn:microsoft.com/office/officeart/2018/2/layout/IconLabelList"/>
    <dgm:cxn modelId="{2FDD3DB5-E4A1-435D-9868-494DE4E21E3A}" srcId="{C9CB78BA-E030-467A-AE00-A163931D7903}" destId="{8E8AD749-59B0-4FB7-AEB6-98FFAD695F19}" srcOrd="3" destOrd="0" parTransId="{936ABAB7-C37D-4EEB-9BEE-E5B84C7F9055}" sibTransId="{833AB93A-5DBB-408E-B558-EA5B085C2099}"/>
    <dgm:cxn modelId="{580A83C1-937A-4F5F-B13F-AA754462B9ED}" srcId="{C9CB78BA-E030-467A-AE00-A163931D7903}" destId="{B2E50C94-9AF6-4757-8298-A880A9E67D02}" srcOrd="0" destOrd="0" parTransId="{2236DA0C-391B-4BCA-89E9-7644082A831B}" sibTransId="{0DE37989-6910-4FBB-99C3-FEEE77DF604D}"/>
    <dgm:cxn modelId="{74E093C4-AD8C-44D2-89A0-6571827343C2}" srcId="{C9CB78BA-E030-467A-AE00-A163931D7903}" destId="{EE3BA8BB-5946-45E0-9270-3AC32B163FEF}" srcOrd="4" destOrd="0" parTransId="{19FD640A-5D20-4727-8C7A-79D9064EE8C2}" sibTransId="{5769CA05-31BA-4BF3-92C1-C46BDD4E0439}"/>
    <dgm:cxn modelId="{492518D5-CDB6-481C-A9E2-239F500F1EF3}" type="presOf" srcId="{494184BC-F3CA-49C6-8B69-A2355034502D}" destId="{C0D44A85-1378-4C65-9695-0CB99F47CCE3}" srcOrd="0" destOrd="0" presId="urn:microsoft.com/office/officeart/2018/2/layout/IconLabelList"/>
    <dgm:cxn modelId="{50A7CEDC-CF03-4CBE-8E84-CF0D972B4E2F}" srcId="{C9CB78BA-E030-467A-AE00-A163931D7903}" destId="{D1F585AF-19A5-4923-84D4-605EF0A8CEC8}" srcOrd="1" destOrd="0" parTransId="{88EC375B-E39A-43BF-A0A2-9828BA3F9732}" sibTransId="{84593038-35A3-4BFE-B6C3-0128F79A984C}"/>
    <dgm:cxn modelId="{1EBE84D2-6E27-4293-940D-642A31BF820F}" type="presParOf" srcId="{1B70D73C-CBE8-451B-9717-1AE4145EDAF7}" destId="{F3AF7CAA-E3F9-46D2-B431-9A0CAB155FC8}" srcOrd="0" destOrd="0" presId="urn:microsoft.com/office/officeart/2018/2/layout/IconLabelList"/>
    <dgm:cxn modelId="{6BDC4C58-C7F0-4386-94F2-AC46272E7C3F}" type="presParOf" srcId="{F3AF7CAA-E3F9-46D2-B431-9A0CAB155FC8}" destId="{148BDDA2-43E8-4DFE-98F2-3AF927BA1387}" srcOrd="0" destOrd="0" presId="urn:microsoft.com/office/officeart/2018/2/layout/IconLabelList"/>
    <dgm:cxn modelId="{0AC06C0E-E954-473A-B661-54B8F78C6091}" type="presParOf" srcId="{F3AF7CAA-E3F9-46D2-B431-9A0CAB155FC8}" destId="{CAD8FB0F-368C-4EA3-B0FF-F78CAEEAA1EE}" srcOrd="1" destOrd="0" presId="urn:microsoft.com/office/officeart/2018/2/layout/IconLabelList"/>
    <dgm:cxn modelId="{7287386C-E11E-4CEA-8D14-E7E129927436}" type="presParOf" srcId="{F3AF7CAA-E3F9-46D2-B431-9A0CAB155FC8}" destId="{CCC83E3D-B148-4E30-830A-D87360075CC6}" srcOrd="2" destOrd="0" presId="urn:microsoft.com/office/officeart/2018/2/layout/IconLabelList"/>
    <dgm:cxn modelId="{5578FC7F-4A87-4D8A-9ECC-5E9DCDBB1DAA}" type="presParOf" srcId="{1B70D73C-CBE8-451B-9717-1AE4145EDAF7}" destId="{20118B41-5193-453E-AE97-E8DDF5C8E8D2}" srcOrd="1" destOrd="0" presId="urn:microsoft.com/office/officeart/2018/2/layout/IconLabelList"/>
    <dgm:cxn modelId="{778A1113-092A-4960-A27C-FE0CB3E95629}" type="presParOf" srcId="{1B70D73C-CBE8-451B-9717-1AE4145EDAF7}" destId="{74245733-FB91-410E-9D01-576FC6E6C6F0}" srcOrd="2" destOrd="0" presId="urn:microsoft.com/office/officeart/2018/2/layout/IconLabelList"/>
    <dgm:cxn modelId="{F4EFDC87-3788-4745-A3F3-82559A9A9CAC}" type="presParOf" srcId="{74245733-FB91-410E-9D01-576FC6E6C6F0}" destId="{6D9BD95D-C0D9-41C8-90BB-622E728DDC78}" srcOrd="0" destOrd="0" presId="urn:microsoft.com/office/officeart/2018/2/layout/IconLabelList"/>
    <dgm:cxn modelId="{3786AB88-394B-4387-B26F-111BE3406304}" type="presParOf" srcId="{74245733-FB91-410E-9D01-576FC6E6C6F0}" destId="{17902938-2A92-4658-A973-956BDD841E9E}" srcOrd="1" destOrd="0" presId="urn:microsoft.com/office/officeart/2018/2/layout/IconLabelList"/>
    <dgm:cxn modelId="{EDC66173-59E4-43F4-B4DD-0FE170214F80}" type="presParOf" srcId="{74245733-FB91-410E-9D01-576FC6E6C6F0}" destId="{C98F5CFE-156D-41AD-8879-324844DF6741}" srcOrd="2" destOrd="0" presId="urn:microsoft.com/office/officeart/2018/2/layout/IconLabelList"/>
    <dgm:cxn modelId="{F54A909C-71FE-4AA7-A465-3A758DAACDD5}" type="presParOf" srcId="{1B70D73C-CBE8-451B-9717-1AE4145EDAF7}" destId="{E9817754-741A-4E98-89F0-86F91B0091DB}" srcOrd="3" destOrd="0" presId="urn:microsoft.com/office/officeart/2018/2/layout/IconLabelList"/>
    <dgm:cxn modelId="{65DAB507-2E57-4C0E-8E1B-6A5EC8DDB90B}" type="presParOf" srcId="{1B70D73C-CBE8-451B-9717-1AE4145EDAF7}" destId="{168F3E3F-AA51-4115-B887-8B813BB80CAE}" srcOrd="4" destOrd="0" presId="urn:microsoft.com/office/officeart/2018/2/layout/IconLabelList"/>
    <dgm:cxn modelId="{145FF3C5-F6CE-4D2D-A838-722967BD21B9}" type="presParOf" srcId="{168F3E3F-AA51-4115-B887-8B813BB80CAE}" destId="{09476186-407F-4714-B4AF-B5021343C49C}" srcOrd="0" destOrd="0" presId="urn:microsoft.com/office/officeart/2018/2/layout/IconLabelList"/>
    <dgm:cxn modelId="{49504574-6C9F-42BA-8F60-B0B34556EFB7}" type="presParOf" srcId="{168F3E3F-AA51-4115-B887-8B813BB80CAE}" destId="{ECF58500-42E3-4251-BEA4-69061582918F}" srcOrd="1" destOrd="0" presId="urn:microsoft.com/office/officeart/2018/2/layout/IconLabelList"/>
    <dgm:cxn modelId="{9BC5D3DC-DF08-4201-9130-5BF561F93E4D}" type="presParOf" srcId="{168F3E3F-AA51-4115-B887-8B813BB80CAE}" destId="{C0D44A85-1378-4C65-9695-0CB99F47CCE3}" srcOrd="2" destOrd="0" presId="urn:microsoft.com/office/officeart/2018/2/layout/IconLabelList"/>
    <dgm:cxn modelId="{C3B3DCD5-5C46-472B-9F4A-B0F0CAE0AAE9}" type="presParOf" srcId="{1B70D73C-CBE8-451B-9717-1AE4145EDAF7}" destId="{A6EDE6EA-8817-4E32-A06B-06632E549F05}" srcOrd="5" destOrd="0" presId="urn:microsoft.com/office/officeart/2018/2/layout/IconLabelList"/>
    <dgm:cxn modelId="{44C5CD21-A145-4FD8-BF0A-1C02E3F20AE2}" type="presParOf" srcId="{1B70D73C-CBE8-451B-9717-1AE4145EDAF7}" destId="{12298998-C7B9-47C7-86E9-6AC9BAD5AA47}" srcOrd="6" destOrd="0" presId="urn:microsoft.com/office/officeart/2018/2/layout/IconLabelList"/>
    <dgm:cxn modelId="{7A84DECE-9C19-4A9A-9651-79EBB2485F82}" type="presParOf" srcId="{12298998-C7B9-47C7-86E9-6AC9BAD5AA47}" destId="{05C1B9DF-D937-4B35-BF97-3DE88C4DA412}" srcOrd="0" destOrd="0" presId="urn:microsoft.com/office/officeart/2018/2/layout/IconLabelList"/>
    <dgm:cxn modelId="{6FEEDAEF-9B70-402D-A080-8D72659B9FCF}" type="presParOf" srcId="{12298998-C7B9-47C7-86E9-6AC9BAD5AA47}" destId="{1D9F39F4-7C33-458F-8CE0-DB73EE29560A}" srcOrd="1" destOrd="0" presId="urn:microsoft.com/office/officeart/2018/2/layout/IconLabelList"/>
    <dgm:cxn modelId="{F0AEC7AB-4486-4827-987D-050FF191AA15}" type="presParOf" srcId="{12298998-C7B9-47C7-86E9-6AC9BAD5AA47}" destId="{DDE7BB06-F43E-4822-9E2A-16D687A7306D}" srcOrd="2" destOrd="0" presId="urn:microsoft.com/office/officeart/2018/2/layout/IconLabelList"/>
    <dgm:cxn modelId="{F5415B84-C3AC-491B-9A10-E2EC1C686306}" type="presParOf" srcId="{1B70D73C-CBE8-451B-9717-1AE4145EDAF7}" destId="{2383B21D-08C5-4CBE-B1B5-560A92E74BB7}" srcOrd="7" destOrd="0" presId="urn:microsoft.com/office/officeart/2018/2/layout/IconLabelList"/>
    <dgm:cxn modelId="{0568D37E-8714-4C53-8438-396A3D76C542}" type="presParOf" srcId="{1B70D73C-CBE8-451B-9717-1AE4145EDAF7}" destId="{BA8202E7-33BF-466C-BC82-56129C2CA600}" srcOrd="8" destOrd="0" presId="urn:microsoft.com/office/officeart/2018/2/layout/IconLabelList"/>
    <dgm:cxn modelId="{502BA67A-0F0A-413F-B5EB-980D318B40FE}" type="presParOf" srcId="{BA8202E7-33BF-466C-BC82-56129C2CA600}" destId="{471569A4-7127-4AC9-8DAC-5D03B5FF8561}" srcOrd="0" destOrd="0" presId="urn:microsoft.com/office/officeart/2018/2/layout/IconLabelList"/>
    <dgm:cxn modelId="{E8A48A43-C55E-483D-B464-0870B61C34AA}" type="presParOf" srcId="{BA8202E7-33BF-466C-BC82-56129C2CA600}" destId="{AACB839A-107D-4B49-A21D-8AAB5A1E06BF}" srcOrd="1" destOrd="0" presId="urn:microsoft.com/office/officeart/2018/2/layout/IconLabelList"/>
    <dgm:cxn modelId="{7B484B05-E3FF-4DC8-B367-9D44AE94925D}" type="presParOf" srcId="{BA8202E7-33BF-466C-BC82-56129C2CA600}" destId="{42BDB260-579E-4D1D-B98C-4A4368FB1D2D}" srcOrd="2" destOrd="0" presId="urn:microsoft.com/office/officeart/2018/2/layout/IconLabelList"/>
    <dgm:cxn modelId="{DD3802F3-789C-46C6-9E5E-4B63AF8BC5D7}" type="presParOf" srcId="{1B70D73C-CBE8-451B-9717-1AE4145EDAF7}" destId="{A15AF53E-C9D8-4850-A827-5CF1513E9CD4}" srcOrd="9" destOrd="0" presId="urn:microsoft.com/office/officeart/2018/2/layout/IconLabelList"/>
    <dgm:cxn modelId="{B576B5F8-B05F-4033-9AF7-71713C6AF9B9}" type="presParOf" srcId="{1B70D73C-CBE8-451B-9717-1AE4145EDAF7}" destId="{D7562D4A-FF34-4483-8920-5D74D3192F1A}" srcOrd="10" destOrd="0" presId="urn:microsoft.com/office/officeart/2018/2/layout/IconLabelList"/>
    <dgm:cxn modelId="{FCD7817E-CB1C-4608-ADC7-52597E8828D8}" type="presParOf" srcId="{D7562D4A-FF34-4483-8920-5D74D3192F1A}" destId="{CF83838C-4711-41CF-9900-8ABC338C693E}" srcOrd="0" destOrd="0" presId="urn:microsoft.com/office/officeart/2018/2/layout/IconLabelList"/>
    <dgm:cxn modelId="{F280F6D0-DFAB-4284-A9B2-9C83CA215A64}" type="presParOf" srcId="{D7562D4A-FF34-4483-8920-5D74D3192F1A}" destId="{40954910-A9FF-45EB-9DB5-5B4755777F57}" srcOrd="1" destOrd="0" presId="urn:microsoft.com/office/officeart/2018/2/layout/IconLabelList"/>
    <dgm:cxn modelId="{142AD63D-F0EA-4B2E-9157-DD45C7BC89E2}" type="presParOf" srcId="{D7562D4A-FF34-4483-8920-5D74D3192F1A}" destId="{8757693A-0AB7-48F7-A4BC-F57D1330B41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E008F9-3982-40BA-943C-0D425E88D67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2C85771-1F3E-44E7-A157-174CF12D60B7}">
      <dgm:prSet/>
      <dgm:spPr/>
      <dgm:t>
        <a:bodyPr/>
        <a:lstStyle/>
        <a:p>
          <a:pPr>
            <a:lnSpc>
              <a:spcPct val="100000"/>
            </a:lnSpc>
          </a:pPr>
          <a:r>
            <a:rPr lang="en-IN" b="1" dirty="0"/>
            <a:t>Longitudinal studies on sustained ROI → </a:t>
          </a:r>
          <a:r>
            <a:rPr lang="en-IN" dirty="0"/>
            <a:t>Track productivity gains over multiple years to measure durability.</a:t>
          </a:r>
          <a:endParaRPr lang="en-US" dirty="0"/>
        </a:p>
      </dgm:t>
    </dgm:pt>
    <dgm:pt modelId="{5767FD48-A997-4132-9942-84DC75325596}" type="parTrans" cxnId="{FC7850A5-9A82-4461-9E3B-92BAB9BC8D4C}">
      <dgm:prSet/>
      <dgm:spPr/>
      <dgm:t>
        <a:bodyPr/>
        <a:lstStyle/>
        <a:p>
          <a:endParaRPr lang="en-US"/>
        </a:p>
      </dgm:t>
    </dgm:pt>
    <dgm:pt modelId="{5C608345-FAC0-446D-A69D-FA5D8B7A4AEF}" type="sibTrans" cxnId="{FC7850A5-9A82-4461-9E3B-92BAB9BC8D4C}">
      <dgm:prSet/>
      <dgm:spPr/>
      <dgm:t>
        <a:bodyPr/>
        <a:lstStyle/>
        <a:p>
          <a:pPr>
            <a:lnSpc>
              <a:spcPct val="100000"/>
            </a:lnSpc>
          </a:pPr>
          <a:endParaRPr lang="en-US"/>
        </a:p>
      </dgm:t>
    </dgm:pt>
    <dgm:pt modelId="{5B254CC8-334A-4876-8F79-00427EEDA8FC}">
      <dgm:prSet/>
      <dgm:spPr/>
      <dgm:t>
        <a:bodyPr/>
        <a:lstStyle/>
        <a:p>
          <a:pPr>
            <a:lnSpc>
              <a:spcPct val="100000"/>
            </a:lnSpc>
          </a:pPr>
          <a:r>
            <a:rPr lang="en-IN" b="1"/>
            <a:t>Cross‑industry comparisons → </a:t>
          </a:r>
          <a:r>
            <a:rPr lang="en-IN"/>
            <a:t>Apply framework to BFSI, healthcare, and manufacturing to benchmark adoption impact.</a:t>
          </a:r>
          <a:endParaRPr lang="en-US"/>
        </a:p>
      </dgm:t>
    </dgm:pt>
    <dgm:pt modelId="{F76FBBA3-3A3C-4433-BFF8-1BB5ED3C0968}" type="parTrans" cxnId="{92C79144-9004-4777-AD89-D722E5C94715}">
      <dgm:prSet/>
      <dgm:spPr/>
      <dgm:t>
        <a:bodyPr/>
        <a:lstStyle/>
        <a:p>
          <a:endParaRPr lang="en-US"/>
        </a:p>
      </dgm:t>
    </dgm:pt>
    <dgm:pt modelId="{114A49B5-FB80-41FD-9744-3D8B5EE2D1E8}" type="sibTrans" cxnId="{92C79144-9004-4777-AD89-D722E5C94715}">
      <dgm:prSet/>
      <dgm:spPr/>
      <dgm:t>
        <a:bodyPr/>
        <a:lstStyle/>
        <a:p>
          <a:pPr>
            <a:lnSpc>
              <a:spcPct val="100000"/>
            </a:lnSpc>
          </a:pPr>
          <a:endParaRPr lang="en-US"/>
        </a:p>
      </dgm:t>
    </dgm:pt>
    <dgm:pt modelId="{6228BE36-3518-4F1F-8CF0-ED82A4BA1629}">
      <dgm:prSet/>
      <dgm:spPr/>
      <dgm:t>
        <a:bodyPr/>
        <a:lstStyle/>
        <a:p>
          <a:pPr>
            <a:lnSpc>
              <a:spcPct val="100000"/>
            </a:lnSpc>
          </a:pPr>
          <a:r>
            <a:rPr lang="en-IN" b="1"/>
            <a:t>Task‑level deep dives → </a:t>
          </a:r>
          <a:r>
            <a:rPr lang="en-IN"/>
            <a:t>Identify which tasks (documentation, coding, testing) yield maximum ROI.</a:t>
          </a:r>
          <a:endParaRPr lang="en-US"/>
        </a:p>
      </dgm:t>
    </dgm:pt>
    <dgm:pt modelId="{3001FEB3-7D84-41EE-B578-4F6A7E698F81}" type="parTrans" cxnId="{C66465F6-A1A6-4C09-9C92-DE2FC4D980C4}">
      <dgm:prSet/>
      <dgm:spPr/>
      <dgm:t>
        <a:bodyPr/>
        <a:lstStyle/>
        <a:p>
          <a:endParaRPr lang="en-US"/>
        </a:p>
      </dgm:t>
    </dgm:pt>
    <dgm:pt modelId="{2B29F782-737F-4F63-ADB1-5F5936967BCF}" type="sibTrans" cxnId="{C66465F6-A1A6-4C09-9C92-DE2FC4D980C4}">
      <dgm:prSet/>
      <dgm:spPr/>
      <dgm:t>
        <a:bodyPr/>
        <a:lstStyle/>
        <a:p>
          <a:pPr>
            <a:lnSpc>
              <a:spcPct val="100000"/>
            </a:lnSpc>
          </a:pPr>
          <a:endParaRPr lang="en-US"/>
        </a:p>
      </dgm:t>
    </dgm:pt>
    <dgm:pt modelId="{44E9801A-178B-4801-8971-3A819B9B1E8C}">
      <dgm:prSet/>
      <dgm:spPr/>
      <dgm:t>
        <a:bodyPr/>
        <a:lstStyle/>
        <a:p>
          <a:pPr>
            <a:lnSpc>
              <a:spcPct val="100000"/>
            </a:lnSpc>
          </a:pPr>
          <a:r>
            <a:rPr lang="en-IN" b="1"/>
            <a:t>Human factors &amp; organizational readiness → </a:t>
          </a:r>
          <a:r>
            <a:rPr lang="en-IN"/>
            <a:t>Study employee perceptions, resistance, and change management strategies.</a:t>
          </a:r>
          <a:endParaRPr lang="en-US"/>
        </a:p>
      </dgm:t>
    </dgm:pt>
    <dgm:pt modelId="{7A65437B-33D1-4D19-B400-71324E6EED75}" type="parTrans" cxnId="{96602988-E1B0-4309-9F9D-AB4ACABC98E6}">
      <dgm:prSet/>
      <dgm:spPr/>
      <dgm:t>
        <a:bodyPr/>
        <a:lstStyle/>
        <a:p>
          <a:endParaRPr lang="en-US"/>
        </a:p>
      </dgm:t>
    </dgm:pt>
    <dgm:pt modelId="{FA695D23-C33B-48EE-A6D8-E0F8B2AC14FB}" type="sibTrans" cxnId="{96602988-E1B0-4309-9F9D-AB4ACABC98E6}">
      <dgm:prSet/>
      <dgm:spPr/>
      <dgm:t>
        <a:bodyPr/>
        <a:lstStyle/>
        <a:p>
          <a:pPr>
            <a:lnSpc>
              <a:spcPct val="100000"/>
            </a:lnSpc>
          </a:pPr>
          <a:endParaRPr lang="en-US"/>
        </a:p>
      </dgm:t>
    </dgm:pt>
    <dgm:pt modelId="{EAD2C21B-54BF-46AC-B429-485B13EA0A36}">
      <dgm:prSet/>
      <dgm:spPr/>
      <dgm:t>
        <a:bodyPr/>
        <a:lstStyle/>
        <a:p>
          <a:pPr>
            <a:lnSpc>
              <a:spcPct val="100000"/>
            </a:lnSpc>
          </a:pPr>
          <a:r>
            <a:rPr lang="en-IN" b="1"/>
            <a:t>Scenario &amp; sensitivity analysis → </a:t>
          </a:r>
          <a:r>
            <a:rPr lang="en-IN"/>
            <a:t>Test ROI under different cost assumptions and adoption intensities.</a:t>
          </a:r>
          <a:endParaRPr lang="en-US"/>
        </a:p>
      </dgm:t>
    </dgm:pt>
    <dgm:pt modelId="{88C53FE0-0B3C-43BC-80BF-E0AFE9C9D1C6}" type="parTrans" cxnId="{C786BFFD-75C7-46C0-A2DB-0FCB33D6A54D}">
      <dgm:prSet/>
      <dgm:spPr/>
      <dgm:t>
        <a:bodyPr/>
        <a:lstStyle/>
        <a:p>
          <a:endParaRPr lang="en-US"/>
        </a:p>
      </dgm:t>
    </dgm:pt>
    <dgm:pt modelId="{0BE67224-35C7-4681-AFC3-973EC6AB4B5D}" type="sibTrans" cxnId="{C786BFFD-75C7-46C0-A2DB-0FCB33D6A54D}">
      <dgm:prSet/>
      <dgm:spPr/>
      <dgm:t>
        <a:bodyPr/>
        <a:lstStyle/>
        <a:p>
          <a:pPr>
            <a:lnSpc>
              <a:spcPct val="100000"/>
            </a:lnSpc>
          </a:pPr>
          <a:endParaRPr lang="en-US"/>
        </a:p>
      </dgm:t>
    </dgm:pt>
    <dgm:pt modelId="{9168FFDE-CD8C-447F-AECA-88457706AC4E}">
      <dgm:prSet/>
      <dgm:spPr/>
      <dgm:t>
        <a:bodyPr/>
        <a:lstStyle/>
        <a:p>
          <a:pPr>
            <a:lnSpc>
              <a:spcPct val="100000"/>
            </a:lnSpc>
          </a:pPr>
          <a:r>
            <a:rPr lang="en-IN" b="1"/>
            <a:t>Integration with enterprise systems → </a:t>
          </a:r>
          <a:r>
            <a:rPr lang="en-IN"/>
            <a:t>Explore embedding AI productivity metrics into ERP/BI platforms.</a:t>
          </a:r>
          <a:endParaRPr lang="en-US"/>
        </a:p>
      </dgm:t>
    </dgm:pt>
    <dgm:pt modelId="{7B432426-9FF2-456D-AEEB-0AA84B2B9942}" type="parTrans" cxnId="{8D49BF4E-65BB-43D2-8540-3D468AB84245}">
      <dgm:prSet/>
      <dgm:spPr/>
      <dgm:t>
        <a:bodyPr/>
        <a:lstStyle/>
        <a:p>
          <a:endParaRPr lang="en-US"/>
        </a:p>
      </dgm:t>
    </dgm:pt>
    <dgm:pt modelId="{47A742AF-1384-4787-846A-F49E56F7F707}" type="sibTrans" cxnId="{8D49BF4E-65BB-43D2-8540-3D468AB84245}">
      <dgm:prSet/>
      <dgm:spPr/>
      <dgm:t>
        <a:bodyPr/>
        <a:lstStyle/>
        <a:p>
          <a:endParaRPr lang="en-US"/>
        </a:p>
      </dgm:t>
    </dgm:pt>
    <dgm:pt modelId="{4DC994CA-5494-40FA-9C96-078215A24ACC}" type="pres">
      <dgm:prSet presAssocID="{01E008F9-3982-40BA-943C-0D425E88D67C}" presName="root" presStyleCnt="0">
        <dgm:presLayoutVars>
          <dgm:dir/>
          <dgm:resizeHandles val="exact"/>
        </dgm:presLayoutVars>
      </dgm:prSet>
      <dgm:spPr/>
    </dgm:pt>
    <dgm:pt modelId="{57978AB4-E994-4EC4-831B-5D8A3BDF59DA}" type="pres">
      <dgm:prSet presAssocID="{01E008F9-3982-40BA-943C-0D425E88D67C}" presName="container" presStyleCnt="0">
        <dgm:presLayoutVars>
          <dgm:dir/>
          <dgm:resizeHandles val="exact"/>
        </dgm:presLayoutVars>
      </dgm:prSet>
      <dgm:spPr/>
    </dgm:pt>
    <dgm:pt modelId="{C91AE693-CAB9-4298-B98D-D6B0E031CB7F}" type="pres">
      <dgm:prSet presAssocID="{82C85771-1F3E-44E7-A157-174CF12D60B7}" presName="compNode" presStyleCnt="0"/>
      <dgm:spPr/>
    </dgm:pt>
    <dgm:pt modelId="{7438D80D-DBFC-4969-93C3-3626FB862863}" type="pres">
      <dgm:prSet presAssocID="{82C85771-1F3E-44E7-A157-174CF12D60B7}" presName="iconBgRect" presStyleLbl="bgShp" presStyleIdx="0" presStyleCnt="6"/>
      <dgm:spPr/>
    </dgm:pt>
    <dgm:pt modelId="{76EE9B71-0269-4161-8365-8F2FB0A08BE3}" type="pres">
      <dgm:prSet presAssocID="{82C85771-1F3E-44E7-A157-174CF12D60B7}"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3D20AEB4-03CB-4F2E-AF06-C6AFB9FF9FEE}" type="pres">
      <dgm:prSet presAssocID="{82C85771-1F3E-44E7-A157-174CF12D60B7}" presName="spaceRect" presStyleCnt="0"/>
      <dgm:spPr/>
    </dgm:pt>
    <dgm:pt modelId="{3685B42E-91E7-4A29-9EB8-BA3307F4111B}" type="pres">
      <dgm:prSet presAssocID="{82C85771-1F3E-44E7-A157-174CF12D60B7}" presName="textRect" presStyleLbl="revTx" presStyleIdx="0" presStyleCnt="6">
        <dgm:presLayoutVars>
          <dgm:chMax val="1"/>
          <dgm:chPref val="1"/>
        </dgm:presLayoutVars>
      </dgm:prSet>
      <dgm:spPr/>
    </dgm:pt>
    <dgm:pt modelId="{D47137D4-E4FB-4F1D-93B6-473484597375}" type="pres">
      <dgm:prSet presAssocID="{5C608345-FAC0-446D-A69D-FA5D8B7A4AEF}" presName="sibTrans" presStyleLbl="sibTrans2D1" presStyleIdx="0" presStyleCnt="0"/>
      <dgm:spPr/>
    </dgm:pt>
    <dgm:pt modelId="{D628BC18-FD25-4BCD-87DB-B48886D7665F}" type="pres">
      <dgm:prSet presAssocID="{5B254CC8-334A-4876-8F79-00427EEDA8FC}" presName="compNode" presStyleCnt="0"/>
      <dgm:spPr/>
    </dgm:pt>
    <dgm:pt modelId="{54E06218-655C-4F8E-B79B-913B6C17BE4A}" type="pres">
      <dgm:prSet presAssocID="{5B254CC8-334A-4876-8F79-00427EEDA8FC}" presName="iconBgRect" presStyleLbl="bgShp" presStyleIdx="1" presStyleCnt="6"/>
      <dgm:spPr/>
    </dgm:pt>
    <dgm:pt modelId="{478CCFE7-EB37-49D7-809B-8FFDFDC01505}" type="pres">
      <dgm:prSet presAssocID="{5B254CC8-334A-4876-8F79-00427EEDA8F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EBE97C40-2AFC-4582-A196-5C11E3FCDA07}" type="pres">
      <dgm:prSet presAssocID="{5B254CC8-334A-4876-8F79-00427EEDA8FC}" presName="spaceRect" presStyleCnt="0"/>
      <dgm:spPr/>
    </dgm:pt>
    <dgm:pt modelId="{9E6BE057-FC6D-4D17-AE87-A36EFD22DF02}" type="pres">
      <dgm:prSet presAssocID="{5B254CC8-334A-4876-8F79-00427EEDA8FC}" presName="textRect" presStyleLbl="revTx" presStyleIdx="1" presStyleCnt="6">
        <dgm:presLayoutVars>
          <dgm:chMax val="1"/>
          <dgm:chPref val="1"/>
        </dgm:presLayoutVars>
      </dgm:prSet>
      <dgm:spPr/>
    </dgm:pt>
    <dgm:pt modelId="{C0C03288-4507-47CA-A676-63714842646B}" type="pres">
      <dgm:prSet presAssocID="{114A49B5-FB80-41FD-9744-3D8B5EE2D1E8}" presName="sibTrans" presStyleLbl="sibTrans2D1" presStyleIdx="0" presStyleCnt="0"/>
      <dgm:spPr/>
    </dgm:pt>
    <dgm:pt modelId="{2615E4D8-F7D6-4988-93E6-BF0659D38D2E}" type="pres">
      <dgm:prSet presAssocID="{6228BE36-3518-4F1F-8CF0-ED82A4BA1629}" presName="compNode" presStyleCnt="0"/>
      <dgm:spPr/>
    </dgm:pt>
    <dgm:pt modelId="{881876C4-6EC3-451D-A5E9-AB3E883C1202}" type="pres">
      <dgm:prSet presAssocID="{6228BE36-3518-4F1F-8CF0-ED82A4BA1629}" presName="iconBgRect" presStyleLbl="bgShp" presStyleIdx="2" presStyleCnt="6"/>
      <dgm:spPr/>
    </dgm:pt>
    <dgm:pt modelId="{8195F852-172E-4377-9716-6123A82EFA69}" type="pres">
      <dgm:prSet presAssocID="{6228BE36-3518-4F1F-8CF0-ED82A4BA162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1AEB16E8-B393-4480-A420-EC52173C35E4}" type="pres">
      <dgm:prSet presAssocID="{6228BE36-3518-4F1F-8CF0-ED82A4BA1629}" presName="spaceRect" presStyleCnt="0"/>
      <dgm:spPr/>
    </dgm:pt>
    <dgm:pt modelId="{D4D0116F-F671-4F1A-97A4-1E2C0EE67EF8}" type="pres">
      <dgm:prSet presAssocID="{6228BE36-3518-4F1F-8CF0-ED82A4BA1629}" presName="textRect" presStyleLbl="revTx" presStyleIdx="2" presStyleCnt="6">
        <dgm:presLayoutVars>
          <dgm:chMax val="1"/>
          <dgm:chPref val="1"/>
        </dgm:presLayoutVars>
      </dgm:prSet>
      <dgm:spPr/>
    </dgm:pt>
    <dgm:pt modelId="{95FABBEA-2129-4929-8611-7BDC3CB67137}" type="pres">
      <dgm:prSet presAssocID="{2B29F782-737F-4F63-ADB1-5F5936967BCF}" presName="sibTrans" presStyleLbl="sibTrans2D1" presStyleIdx="0" presStyleCnt="0"/>
      <dgm:spPr/>
    </dgm:pt>
    <dgm:pt modelId="{C5AF8A70-13DB-4219-A25F-84AE75890E25}" type="pres">
      <dgm:prSet presAssocID="{44E9801A-178B-4801-8971-3A819B9B1E8C}" presName="compNode" presStyleCnt="0"/>
      <dgm:spPr/>
    </dgm:pt>
    <dgm:pt modelId="{FF5BC84E-08E7-407D-BC05-001EDB5F52E9}" type="pres">
      <dgm:prSet presAssocID="{44E9801A-178B-4801-8971-3A819B9B1E8C}" presName="iconBgRect" presStyleLbl="bgShp" presStyleIdx="3" presStyleCnt="6"/>
      <dgm:spPr/>
    </dgm:pt>
    <dgm:pt modelId="{F6D94272-BAE1-49AB-A197-14B906834B56}" type="pres">
      <dgm:prSet presAssocID="{44E9801A-178B-4801-8971-3A819B9B1E8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E4D08ECC-B5FF-418C-82F3-667965A2F066}" type="pres">
      <dgm:prSet presAssocID="{44E9801A-178B-4801-8971-3A819B9B1E8C}" presName="spaceRect" presStyleCnt="0"/>
      <dgm:spPr/>
    </dgm:pt>
    <dgm:pt modelId="{1C099856-236F-44D7-9BEE-5159BA922450}" type="pres">
      <dgm:prSet presAssocID="{44E9801A-178B-4801-8971-3A819B9B1E8C}" presName="textRect" presStyleLbl="revTx" presStyleIdx="3" presStyleCnt="6">
        <dgm:presLayoutVars>
          <dgm:chMax val="1"/>
          <dgm:chPref val="1"/>
        </dgm:presLayoutVars>
      </dgm:prSet>
      <dgm:spPr/>
    </dgm:pt>
    <dgm:pt modelId="{1440A6DF-A6BC-4DBF-B36D-2DB52AD9ABD2}" type="pres">
      <dgm:prSet presAssocID="{FA695D23-C33B-48EE-A6D8-E0F8B2AC14FB}" presName="sibTrans" presStyleLbl="sibTrans2D1" presStyleIdx="0" presStyleCnt="0"/>
      <dgm:spPr/>
    </dgm:pt>
    <dgm:pt modelId="{360FEEC3-5021-4B5C-B2AB-AEC6FFDFE948}" type="pres">
      <dgm:prSet presAssocID="{EAD2C21B-54BF-46AC-B429-485B13EA0A36}" presName="compNode" presStyleCnt="0"/>
      <dgm:spPr/>
    </dgm:pt>
    <dgm:pt modelId="{FBCBB384-8EC1-4750-850F-793D4C864280}" type="pres">
      <dgm:prSet presAssocID="{EAD2C21B-54BF-46AC-B429-485B13EA0A36}" presName="iconBgRect" presStyleLbl="bgShp" presStyleIdx="4" presStyleCnt="6"/>
      <dgm:spPr/>
    </dgm:pt>
    <dgm:pt modelId="{A984BA0D-8C43-45DB-B844-50958802568B}" type="pres">
      <dgm:prSet presAssocID="{EAD2C21B-54BF-46AC-B429-485B13EA0A36}"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F41E40B0-BC0D-4FA8-AF1F-4699E9D247D3}" type="pres">
      <dgm:prSet presAssocID="{EAD2C21B-54BF-46AC-B429-485B13EA0A36}" presName="spaceRect" presStyleCnt="0"/>
      <dgm:spPr/>
    </dgm:pt>
    <dgm:pt modelId="{602AB619-E8EA-48FD-866A-4FEC7A680310}" type="pres">
      <dgm:prSet presAssocID="{EAD2C21B-54BF-46AC-B429-485B13EA0A36}" presName="textRect" presStyleLbl="revTx" presStyleIdx="4" presStyleCnt="6">
        <dgm:presLayoutVars>
          <dgm:chMax val="1"/>
          <dgm:chPref val="1"/>
        </dgm:presLayoutVars>
      </dgm:prSet>
      <dgm:spPr/>
    </dgm:pt>
    <dgm:pt modelId="{7BECC602-C4E7-400C-A49B-2ACA9CAE24C9}" type="pres">
      <dgm:prSet presAssocID="{0BE67224-35C7-4681-AFC3-973EC6AB4B5D}" presName="sibTrans" presStyleLbl="sibTrans2D1" presStyleIdx="0" presStyleCnt="0"/>
      <dgm:spPr/>
    </dgm:pt>
    <dgm:pt modelId="{295146F0-2636-4E65-A93D-750E6356B047}" type="pres">
      <dgm:prSet presAssocID="{9168FFDE-CD8C-447F-AECA-88457706AC4E}" presName="compNode" presStyleCnt="0"/>
      <dgm:spPr/>
    </dgm:pt>
    <dgm:pt modelId="{B400A5DB-8F45-4D9C-BEE9-6282FF3AF01B}" type="pres">
      <dgm:prSet presAssocID="{9168FFDE-CD8C-447F-AECA-88457706AC4E}" presName="iconBgRect" presStyleLbl="bgShp" presStyleIdx="5" presStyleCnt="6"/>
      <dgm:spPr/>
    </dgm:pt>
    <dgm:pt modelId="{975230F7-91AA-41F6-A176-00754E75CED8}" type="pres">
      <dgm:prSet presAssocID="{9168FFDE-CD8C-447F-AECA-88457706AC4E}"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ED7AE0A1-1F5B-4CC2-8F01-CD116835C91F}" type="pres">
      <dgm:prSet presAssocID="{9168FFDE-CD8C-447F-AECA-88457706AC4E}" presName="spaceRect" presStyleCnt="0"/>
      <dgm:spPr/>
    </dgm:pt>
    <dgm:pt modelId="{5065168B-4547-406C-93E8-28C6876705C8}" type="pres">
      <dgm:prSet presAssocID="{9168FFDE-CD8C-447F-AECA-88457706AC4E}" presName="textRect" presStyleLbl="revTx" presStyleIdx="5" presStyleCnt="6">
        <dgm:presLayoutVars>
          <dgm:chMax val="1"/>
          <dgm:chPref val="1"/>
        </dgm:presLayoutVars>
      </dgm:prSet>
      <dgm:spPr/>
    </dgm:pt>
  </dgm:ptLst>
  <dgm:cxnLst>
    <dgm:cxn modelId="{CC44EB1F-1AF5-4F20-B8EE-54C0B2E3F2A6}" type="presOf" srcId="{82C85771-1F3E-44E7-A157-174CF12D60B7}" destId="{3685B42E-91E7-4A29-9EB8-BA3307F4111B}" srcOrd="0" destOrd="0" presId="urn:microsoft.com/office/officeart/2018/2/layout/IconCircleList"/>
    <dgm:cxn modelId="{30659429-0DB0-4669-89BF-816DBE48FF3D}" type="presOf" srcId="{114A49B5-FB80-41FD-9744-3D8B5EE2D1E8}" destId="{C0C03288-4507-47CA-A676-63714842646B}" srcOrd="0" destOrd="0" presId="urn:microsoft.com/office/officeart/2018/2/layout/IconCircleList"/>
    <dgm:cxn modelId="{92C79144-9004-4777-AD89-D722E5C94715}" srcId="{01E008F9-3982-40BA-943C-0D425E88D67C}" destId="{5B254CC8-334A-4876-8F79-00427EEDA8FC}" srcOrd="1" destOrd="0" parTransId="{F76FBBA3-3A3C-4433-BFF8-1BB5ED3C0968}" sibTransId="{114A49B5-FB80-41FD-9744-3D8B5EE2D1E8}"/>
    <dgm:cxn modelId="{ECBB6365-16EC-4EE0-BF96-6DD0BF6F822D}" type="presOf" srcId="{2B29F782-737F-4F63-ADB1-5F5936967BCF}" destId="{95FABBEA-2129-4929-8611-7BDC3CB67137}" srcOrd="0" destOrd="0" presId="urn:microsoft.com/office/officeart/2018/2/layout/IconCircleList"/>
    <dgm:cxn modelId="{8B928C49-B372-4B57-B887-B0314ED53F3E}" type="presOf" srcId="{0BE67224-35C7-4681-AFC3-973EC6AB4B5D}" destId="{7BECC602-C4E7-400C-A49B-2ACA9CAE24C9}" srcOrd="0" destOrd="0" presId="urn:microsoft.com/office/officeart/2018/2/layout/IconCircleList"/>
    <dgm:cxn modelId="{8D49BF4E-65BB-43D2-8540-3D468AB84245}" srcId="{01E008F9-3982-40BA-943C-0D425E88D67C}" destId="{9168FFDE-CD8C-447F-AECA-88457706AC4E}" srcOrd="5" destOrd="0" parTransId="{7B432426-9FF2-456D-AEEB-0AA84B2B9942}" sibTransId="{47A742AF-1384-4787-846A-F49E56F7F707}"/>
    <dgm:cxn modelId="{372A996F-5AF8-4BCA-942D-DAD6C92A0E86}" type="presOf" srcId="{EAD2C21B-54BF-46AC-B429-485B13EA0A36}" destId="{602AB619-E8EA-48FD-866A-4FEC7A680310}" srcOrd="0" destOrd="0" presId="urn:microsoft.com/office/officeart/2018/2/layout/IconCircleList"/>
    <dgm:cxn modelId="{997BA672-6758-49BA-B2A0-1C3A1559EF74}" type="presOf" srcId="{FA695D23-C33B-48EE-A6D8-E0F8B2AC14FB}" destId="{1440A6DF-A6BC-4DBF-B36D-2DB52AD9ABD2}" srcOrd="0" destOrd="0" presId="urn:microsoft.com/office/officeart/2018/2/layout/IconCircleList"/>
    <dgm:cxn modelId="{FF24E884-E381-4A23-AC7C-EE07BA2E09BE}" type="presOf" srcId="{5B254CC8-334A-4876-8F79-00427EEDA8FC}" destId="{9E6BE057-FC6D-4D17-AE87-A36EFD22DF02}" srcOrd="0" destOrd="0" presId="urn:microsoft.com/office/officeart/2018/2/layout/IconCircleList"/>
    <dgm:cxn modelId="{96602988-E1B0-4309-9F9D-AB4ACABC98E6}" srcId="{01E008F9-3982-40BA-943C-0D425E88D67C}" destId="{44E9801A-178B-4801-8971-3A819B9B1E8C}" srcOrd="3" destOrd="0" parTransId="{7A65437B-33D1-4D19-B400-71324E6EED75}" sibTransId="{FA695D23-C33B-48EE-A6D8-E0F8B2AC14FB}"/>
    <dgm:cxn modelId="{CD7A0796-C5FD-4ABB-89ED-F8705863293C}" type="presOf" srcId="{44E9801A-178B-4801-8971-3A819B9B1E8C}" destId="{1C099856-236F-44D7-9BEE-5159BA922450}" srcOrd="0" destOrd="0" presId="urn:microsoft.com/office/officeart/2018/2/layout/IconCircleList"/>
    <dgm:cxn modelId="{BE124E9B-A597-44BF-89F0-FB6EC3E5A467}" type="presOf" srcId="{01E008F9-3982-40BA-943C-0D425E88D67C}" destId="{4DC994CA-5494-40FA-9C96-078215A24ACC}" srcOrd="0" destOrd="0" presId="urn:microsoft.com/office/officeart/2018/2/layout/IconCircleList"/>
    <dgm:cxn modelId="{FC7850A5-9A82-4461-9E3B-92BAB9BC8D4C}" srcId="{01E008F9-3982-40BA-943C-0D425E88D67C}" destId="{82C85771-1F3E-44E7-A157-174CF12D60B7}" srcOrd="0" destOrd="0" parTransId="{5767FD48-A997-4132-9942-84DC75325596}" sibTransId="{5C608345-FAC0-446D-A69D-FA5D8B7A4AEF}"/>
    <dgm:cxn modelId="{6CB0F3A5-024E-49CD-AB10-6F757DD1B0BB}" type="presOf" srcId="{9168FFDE-CD8C-447F-AECA-88457706AC4E}" destId="{5065168B-4547-406C-93E8-28C6876705C8}" srcOrd="0" destOrd="0" presId="urn:microsoft.com/office/officeart/2018/2/layout/IconCircleList"/>
    <dgm:cxn modelId="{74AEEAB3-AC82-417C-8479-7B76305B5D9D}" type="presOf" srcId="{5C608345-FAC0-446D-A69D-FA5D8B7A4AEF}" destId="{D47137D4-E4FB-4F1D-93B6-473484597375}" srcOrd="0" destOrd="0" presId="urn:microsoft.com/office/officeart/2018/2/layout/IconCircleList"/>
    <dgm:cxn modelId="{156F68E1-0F43-41A8-9D3C-C53DEC3C8076}" type="presOf" srcId="{6228BE36-3518-4F1F-8CF0-ED82A4BA1629}" destId="{D4D0116F-F671-4F1A-97A4-1E2C0EE67EF8}" srcOrd="0" destOrd="0" presId="urn:microsoft.com/office/officeart/2018/2/layout/IconCircleList"/>
    <dgm:cxn modelId="{C66465F6-A1A6-4C09-9C92-DE2FC4D980C4}" srcId="{01E008F9-3982-40BA-943C-0D425E88D67C}" destId="{6228BE36-3518-4F1F-8CF0-ED82A4BA1629}" srcOrd="2" destOrd="0" parTransId="{3001FEB3-7D84-41EE-B578-4F6A7E698F81}" sibTransId="{2B29F782-737F-4F63-ADB1-5F5936967BCF}"/>
    <dgm:cxn modelId="{C786BFFD-75C7-46C0-A2DB-0FCB33D6A54D}" srcId="{01E008F9-3982-40BA-943C-0D425E88D67C}" destId="{EAD2C21B-54BF-46AC-B429-485B13EA0A36}" srcOrd="4" destOrd="0" parTransId="{88C53FE0-0B3C-43BC-80BF-E0AFE9C9D1C6}" sibTransId="{0BE67224-35C7-4681-AFC3-973EC6AB4B5D}"/>
    <dgm:cxn modelId="{83B771C4-7500-4FB0-9884-FBB5AB539F2B}" type="presParOf" srcId="{4DC994CA-5494-40FA-9C96-078215A24ACC}" destId="{57978AB4-E994-4EC4-831B-5D8A3BDF59DA}" srcOrd="0" destOrd="0" presId="urn:microsoft.com/office/officeart/2018/2/layout/IconCircleList"/>
    <dgm:cxn modelId="{10BC20D3-AB57-4747-B43A-6FB173DE84E0}" type="presParOf" srcId="{57978AB4-E994-4EC4-831B-5D8A3BDF59DA}" destId="{C91AE693-CAB9-4298-B98D-D6B0E031CB7F}" srcOrd="0" destOrd="0" presId="urn:microsoft.com/office/officeart/2018/2/layout/IconCircleList"/>
    <dgm:cxn modelId="{7A6D0EE9-7244-4329-968D-0D27F9EE12F6}" type="presParOf" srcId="{C91AE693-CAB9-4298-B98D-D6B0E031CB7F}" destId="{7438D80D-DBFC-4969-93C3-3626FB862863}" srcOrd="0" destOrd="0" presId="urn:microsoft.com/office/officeart/2018/2/layout/IconCircleList"/>
    <dgm:cxn modelId="{B31611CF-E097-41DB-96D0-0289960ACA49}" type="presParOf" srcId="{C91AE693-CAB9-4298-B98D-D6B0E031CB7F}" destId="{76EE9B71-0269-4161-8365-8F2FB0A08BE3}" srcOrd="1" destOrd="0" presId="urn:microsoft.com/office/officeart/2018/2/layout/IconCircleList"/>
    <dgm:cxn modelId="{0EDA09D8-5F58-45B8-B5E4-61A8A3192FD8}" type="presParOf" srcId="{C91AE693-CAB9-4298-B98D-D6B0E031CB7F}" destId="{3D20AEB4-03CB-4F2E-AF06-C6AFB9FF9FEE}" srcOrd="2" destOrd="0" presId="urn:microsoft.com/office/officeart/2018/2/layout/IconCircleList"/>
    <dgm:cxn modelId="{96B55E8F-1F34-41DC-8653-D79EE43FB277}" type="presParOf" srcId="{C91AE693-CAB9-4298-B98D-D6B0E031CB7F}" destId="{3685B42E-91E7-4A29-9EB8-BA3307F4111B}" srcOrd="3" destOrd="0" presId="urn:microsoft.com/office/officeart/2018/2/layout/IconCircleList"/>
    <dgm:cxn modelId="{683ADBFF-7969-4D86-9A16-5D73651BA6E0}" type="presParOf" srcId="{57978AB4-E994-4EC4-831B-5D8A3BDF59DA}" destId="{D47137D4-E4FB-4F1D-93B6-473484597375}" srcOrd="1" destOrd="0" presId="urn:microsoft.com/office/officeart/2018/2/layout/IconCircleList"/>
    <dgm:cxn modelId="{1558C7F8-70BF-480A-861A-6E6E31B20334}" type="presParOf" srcId="{57978AB4-E994-4EC4-831B-5D8A3BDF59DA}" destId="{D628BC18-FD25-4BCD-87DB-B48886D7665F}" srcOrd="2" destOrd="0" presId="urn:microsoft.com/office/officeart/2018/2/layout/IconCircleList"/>
    <dgm:cxn modelId="{1A4A73EE-C65B-4976-9D90-38AE27658065}" type="presParOf" srcId="{D628BC18-FD25-4BCD-87DB-B48886D7665F}" destId="{54E06218-655C-4F8E-B79B-913B6C17BE4A}" srcOrd="0" destOrd="0" presId="urn:microsoft.com/office/officeart/2018/2/layout/IconCircleList"/>
    <dgm:cxn modelId="{2202FD2D-6BB1-4DB6-9FC3-37AC1E2BE2E7}" type="presParOf" srcId="{D628BC18-FD25-4BCD-87DB-B48886D7665F}" destId="{478CCFE7-EB37-49D7-809B-8FFDFDC01505}" srcOrd="1" destOrd="0" presId="urn:microsoft.com/office/officeart/2018/2/layout/IconCircleList"/>
    <dgm:cxn modelId="{3CF455A4-F466-4F6F-B9F3-3E9194360846}" type="presParOf" srcId="{D628BC18-FD25-4BCD-87DB-B48886D7665F}" destId="{EBE97C40-2AFC-4582-A196-5C11E3FCDA07}" srcOrd="2" destOrd="0" presId="urn:microsoft.com/office/officeart/2018/2/layout/IconCircleList"/>
    <dgm:cxn modelId="{8D77EC09-FA8B-460A-A70B-1E3FDC92E99E}" type="presParOf" srcId="{D628BC18-FD25-4BCD-87DB-B48886D7665F}" destId="{9E6BE057-FC6D-4D17-AE87-A36EFD22DF02}" srcOrd="3" destOrd="0" presId="urn:microsoft.com/office/officeart/2018/2/layout/IconCircleList"/>
    <dgm:cxn modelId="{3F8599E4-782C-4D17-AD63-9D078A564C57}" type="presParOf" srcId="{57978AB4-E994-4EC4-831B-5D8A3BDF59DA}" destId="{C0C03288-4507-47CA-A676-63714842646B}" srcOrd="3" destOrd="0" presId="urn:microsoft.com/office/officeart/2018/2/layout/IconCircleList"/>
    <dgm:cxn modelId="{2DC9B0BC-17E4-443F-947E-F1CFA498BD0E}" type="presParOf" srcId="{57978AB4-E994-4EC4-831B-5D8A3BDF59DA}" destId="{2615E4D8-F7D6-4988-93E6-BF0659D38D2E}" srcOrd="4" destOrd="0" presId="urn:microsoft.com/office/officeart/2018/2/layout/IconCircleList"/>
    <dgm:cxn modelId="{B3DA6695-5526-4CB1-B977-A16E469578B9}" type="presParOf" srcId="{2615E4D8-F7D6-4988-93E6-BF0659D38D2E}" destId="{881876C4-6EC3-451D-A5E9-AB3E883C1202}" srcOrd="0" destOrd="0" presId="urn:microsoft.com/office/officeart/2018/2/layout/IconCircleList"/>
    <dgm:cxn modelId="{1F0B4F5F-2274-4356-92C2-42B647B707DC}" type="presParOf" srcId="{2615E4D8-F7D6-4988-93E6-BF0659D38D2E}" destId="{8195F852-172E-4377-9716-6123A82EFA69}" srcOrd="1" destOrd="0" presId="urn:microsoft.com/office/officeart/2018/2/layout/IconCircleList"/>
    <dgm:cxn modelId="{D4DCDBFB-47E0-44E9-A1BF-FC69CF22DF0B}" type="presParOf" srcId="{2615E4D8-F7D6-4988-93E6-BF0659D38D2E}" destId="{1AEB16E8-B393-4480-A420-EC52173C35E4}" srcOrd="2" destOrd="0" presId="urn:microsoft.com/office/officeart/2018/2/layout/IconCircleList"/>
    <dgm:cxn modelId="{674ACC1F-19B5-466E-B052-4CC08E6C54A9}" type="presParOf" srcId="{2615E4D8-F7D6-4988-93E6-BF0659D38D2E}" destId="{D4D0116F-F671-4F1A-97A4-1E2C0EE67EF8}" srcOrd="3" destOrd="0" presId="urn:microsoft.com/office/officeart/2018/2/layout/IconCircleList"/>
    <dgm:cxn modelId="{D8097EA6-F09A-4962-AD12-D31CDDF6421F}" type="presParOf" srcId="{57978AB4-E994-4EC4-831B-5D8A3BDF59DA}" destId="{95FABBEA-2129-4929-8611-7BDC3CB67137}" srcOrd="5" destOrd="0" presId="urn:microsoft.com/office/officeart/2018/2/layout/IconCircleList"/>
    <dgm:cxn modelId="{08EC515D-5041-403A-9416-099CE4904491}" type="presParOf" srcId="{57978AB4-E994-4EC4-831B-5D8A3BDF59DA}" destId="{C5AF8A70-13DB-4219-A25F-84AE75890E25}" srcOrd="6" destOrd="0" presId="urn:microsoft.com/office/officeart/2018/2/layout/IconCircleList"/>
    <dgm:cxn modelId="{6DC2C280-ECCD-4102-81B4-D4853904BF9B}" type="presParOf" srcId="{C5AF8A70-13DB-4219-A25F-84AE75890E25}" destId="{FF5BC84E-08E7-407D-BC05-001EDB5F52E9}" srcOrd="0" destOrd="0" presId="urn:microsoft.com/office/officeart/2018/2/layout/IconCircleList"/>
    <dgm:cxn modelId="{CF3FBFDA-FBB2-4EF9-BEB4-90D17938451F}" type="presParOf" srcId="{C5AF8A70-13DB-4219-A25F-84AE75890E25}" destId="{F6D94272-BAE1-49AB-A197-14B906834B56}" srcOrd="1" destOrd="0" presId="urn:microsoft.com/office/officeart/2018/2/layout/IconCircleList"/>
    <dgm:cxn modelId="{4C0C1B3C-D901-42E9-A6FA-499730CFC696}" type="presParOf" srcId="{C5AF8A70-13DB-4219-A25F-84AE75890E25}" destId="{E4D08ECC-B5FF-418C-82F3-667965A2F066}" srcOrd="2" destOrd="0" presId="urn:microsoft.com/office/officeart/2018/2/layout/IconCircleList"/>
    <dgm:cxn modelId="{A8031AF1-6BB6-4720-8D8E-6D57FACEDC79}" type="presParOf" srcId="{C5AF8A70-13DB-4219-A25F-84AE75890E25}" destId="{1C099856-236F-44D7-9BEE-5159BA922450}" srcOrd="3" destOrd="0" presId="urn:microsoft.com/office/officeart/2018/2/layout/IconCircleList"/>
    <dgm:cxn modelId="{A8CEAA66-B08D-4984-B23A-B53C74DB00B4}" type="presParOf" srcId="{57978AB4-E994-4EC4-831B-5D8A3BDF59DA}" destId="{1440A6DF-A6BC-4DBF-B36D-2DB52AD9ABD2}" srcOrd="7" destOrd="0" presId="urn:microsoft.com/office/officeart/2018/2/layout/IconCircleList"/>
    <dgm:cxn modelId="{B87D4DAF-47C5-4A77-9B36-411504BED4CE}" type="presParOf" srcId="{57978AB4-E994-4EC4-831B-5D8A3BDF59DA}" destId="{360FEEC3-5021-4B5C-B2AB-AEC6FFDFE948}" srcOrd="8" destOrd="0" presId="urn:microsoft.com/office/officeart/2018/2/layout/IconCircleList"/>
    <dgm:cxn modelId="{513499E1-25F6-437C-9E10-17CC4B18E51A}" type="presParOf" srcId="{360FEEC3-5021-4B5C-B2AB-AEC6FFDFE948}" destId="{FBCBB384-8EC1-4750-850F-793D4C864280}" srcOrd="0" destOrd="0" presId="urn:microsoft.com/office/officeart/2018/2/layout/IconCircleList"/>
    <dgm:cxn modelId="{5269C12C-0C0B-416C-AD1D-9AFEFA575D92}" type="presParOf" srcId="{360FEEC3-5021-4B5C-B2AB-AEC6FFDFE948}" destId="{A984BA0D-8C43-45DB-B844-50958802568B}" srcOrd="1" destOrd="0" presId="urn:microsoft.com/office/officeart/2018/2/layout/IconCircleList"/>
    <dgm:cxn modelId="{B8169CBA-EAE7-471C-9026-482DCE9296B4}" type="presParOf" srcId="{360FEEC3-5021-4B5C-B2AB-AEC6FFDFE948}" destId="{F41E40B0-BC0D-4FA8-AF1F-4699E9D247D3}" srcOrd="2" destOrd="0" presId="urn:microsoft.com/office/officeart/2018/2/layout/IconCircleList"/>
    <dgm:cxn modelId="{E31FFA12-D448-4C6A-B030-62BE61B50618}" type="presParOf" srcId="{360FEEC3-5021-4B5C-B2AB-AEC6FFDFE948}" destId="{602AB619-E8EA-48FD-866A-4FEC7A680310}" srcOrd="3" destOrd="0" presId="urn:microsoft.com/office/officeart/2018/2/layout/IconCircleList"/>
    <dgm:cxn modelId="{29C679D7-8A4D-4C01-8686-AE4CA8A53CBD}" type="presParOf" srcId="{57978AB4-E994-4EC4-831B-5D8A3BDF59DA}" destId="{7BECC602-C4E7-400C-A49B-2ACA9CAE24C9}" srcOrd="9" destOrd="0" presId="urn:microsoft.com/office/officeart/2018/2/layout/IconCircleList"/>
    <dgm:cxn modelId="{55FB9966-9F87-4D97-8173-1E911E65CAC7}" type="presParOf" srcId="{57978AB4-E994-4EC4-831B-5D8A3BDF59DA}" destId="{295146F0-2636-4E65-A93D-750E6356B047}" srcOrd="10" destOrd="0" presId="urn:microsoft.com/office/officeart/2018/2/layout/IconCircleList"/>
    <dgm:cxn modelId="{B54F1F4D-BCE9-4FB7-A03D-531ADA8BC038}" type="presParOf" srcId="{295146F0-2636-4E65-A93D-750E6356B047}" destId="{B400A5DB-8F45-4D9C-BEE9-6282FF3AF01B}" srcOrd="0" destOrd="0" presId="urn:microsoft.com/office/officeart/2018/2/layout/IconCircleList"/>
    <dgm:cxn modelId="{6ED52A81-16E1-4246-B8F5-36C119773E48}" type="presParOf" srcId="{295146F0-2636-4E65-A93D-750E6356B047}" destId="{975230F7-91AA-41F6-A176-00754E75CED8}" srcOrd="1" destOrd="0" presId="urn:microsoft.com/office/officeart/2018/2/layout/IconCircleList"/>
    <dgm:cxn modelId="{6807D49D-1C34-4B86-9A15-8EE670D6E83D}" type="presParOf" srcId="{295146F0-2636-4E65-A93D-750E6356B047}" destId="{ED7AE0A1-1F5B-4CC2-8F01-CD116835C91F}" srcOrd="2" destOrd="0" presId="urn:microsoft.com/office/officeart/2018/2/layout/IconCircleList"/>
    <dgm:cxn modelId="{CD6D04AA-2895-4A5A-B7C5-893CF91A706B}" type="presParOf" srcId="{295146F0-2636-4E65-A93D-750E6356B047}" destId="{5065168B-4547-406C-93E8-28C6876705C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842FC-7692-4B4E-966A-CC3410238EFF}">
      <dsp:nvSpPr>
        <dsp:cNvPr id="0" name=""/>
        <dsp:cNvSpPr/>
      </dsp:nvSpPr>
      <dsp:spPr>
        <a:xfrm>
          <a:off x="0" y="0"/>
          <a:ext cx="7293023" cy="120809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AD163C-83EB-4E42-A4E5-008A6590A794}">
      <dsp:nvSpPr>
        <dsp:cNvPr id="0" name=""/>
        <dsp:cNvSpPr/>
      </dsp:nvSpPr>
      <dsp:spPr>
        <a:xfrm>
          <a:off x="365450" y="274183"/>
          <a:ext cx="665104" cy="6644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CD2C1C-C37B-4363-8C0F-658D9BC958A3}">
      <dsp:nvSpPr>
        <dsp:cNvPr id="0" name=""/>
        <dsp:cNvSpPr/>
      </dsp:nvSpPr>
      <dsp:spPr>
        <a:xfrm>
          <a:off x="1147145" y="0"/>
          <a:ext cx="5711711" cy="120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82" tIns="127982" rIns="127982" bIns="127982" numCol="1" spcCol="1270" anchor="ctr" anchorCtr="0">
          <a:noAutofit/>
        </a:bodyPr>
        <a:lstStyle/>
        <a:p>
          <a:pPr marL="0" lvl="0" indent="0" algn="l" defTabSz="800100">
            <a:lnSpc>
              <a:spcPct val="100000"/>
            </a:lnSpc>
            <a:spcBef>
              <a:spcPct val="0"/>
            </a:spcBef>
            <a:spcAft>
              <a:spcPct val="35000"/>
            </a:spcAft>
            <a:buNone/>
          </a:pPr>
          <a:r>
            <a:rPr lang="en-US" sz="1800" kern="1200" dirty="0"/>
            <a:t>AI Transformation: Artificial Intelligence is reshaping the IT services sector by enhancing efficiency and enabling data-driven decision-making.</a:t>
          </a:r>
        </a:p>
        <a:p>
          <a:pPr marL="0" lvl="0" indent="0" algn="l" defTabSz="800100">
            <a:lnSpc>
              <a:spcPct val="100000"/>
            </a:lnSpc>
            <a:spcBef>
              <a:spcPct val="0"/>
            </a:spcBef>
            <a:spcAft>
              <a:spcPct val="35000"/>
            </a:spcAft>
            <a:buNone/>
          </a:pPr>
          <a:endParaRPr lang="en-US" sz="1800" kern="1200" dirty="0"/>
        </a:p>
      </dsp:txBody>
      <dsp:txXfrm>
        <a:off x="1147145" y="0"/>
        <a:ext cx="5711711" cy="1209280"/>
      </dsp:txXfrm>
    </dsp:sp>
    <dsp:sp modelId="{E81DFD52-22C2-41CA-88F2-9C8908FA92B7}">
      <dsp:nvSpPr>
        <dsp:cNvPr id="0" name=""/>
        <dsp:cNvSpPr/>
      </dsp:nvSpPr>
      <dsp:spPr>
        <a:xfrm>
          <a:off x="0" y="1453497"/>
          <a:ext cx="7293023" cy="120809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F32FF6-7277-4760-8E0F-A6707B4B4F42}">
      <dsp:nvSpPr>
        <dsp:cNvPr id="0" name=""/>
        <dsp:cNvSpPr/>
      </dsp:nvSpPr>
      <dsp:spPr>
        <a:xfrm>
          <a:off x="365450" y="1725320"/>
          <a:ext cx="665104" cy="664454"/>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95029D-A7BE-4227-93CA-1330E1D8886E}">
      <dsp:nvSpPr>
        <dsp:cNvPr id="0" name=""/>
        <dsp:cNvSpPr/>
      </dsp:nvSpPr>
      <dsp:spPr>
        <a:xfrm>
          <a:off x="1396004" y="1453497"/>
          <a:ext cx="5711711" cy="120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82" tIns="127982" rIns="127982" bIns="127982" numCol="1" spcCol="1270" anchor="ctr" anchorCtr="0">
          <a:noAutofit/>
        </a:bodyPr>
        <a:lstStyle/>
        <a:p>
          <a:pPr marL="0" lvl="0" indent="0" algn="l" defTabSz="800100">
            <a:lnSpc>
              <a:spcPct val="100000"/>
            </a:lnSpc>
            <a:spcBef>
              <a:spcPct val="0"/>
            </a:spcBef>
            <a:spcAft>
              <a:spcPct val="35000"/>
            </a:spcAft>
            <a:buNone/>
          </a:pPr>
          <a:r>
            <a:rPr lang="en-US" sz="1800" kern="1200" dirty="0">
              <a:solidFill>
                <a:prstClr val="black">
                  <a:hueOff val="0"/>
                  <a:satOff val="0"/>
                  <a:lumOff val="0"/>
                  <a:alphaOff val="0"/>
                </a:prstClr>
              </a:solidFill>
              <a:latin typeface="Calibri"/>
              <a:ea typeface="+mn-ea"/>
              <a:cs typeface="+mn-cs"/>
            </a:rPr>
            <a:t>IT Industry Reliance: The sector depends on knowledge-based work like software development and data analysis, which are now being transformed by AI-driven automation.</a:t>
          </a:r>
          <a:endParaRPr lang="en-IN" sz="1800" kern="1200" dirty="0">
            <a:solidFill>
              <a:prstClr val="black">
                <a:hueOff val="0"/>
                <a:satOff val="0"/>
                <a:lumOff val="0"/>
                <a:alphaOff val="0"/>
              </a:prstClr>
            </a:solidFill>
            <a:latin typeface="Calibri"/>
            <a:ea typeface="+mn-ea"/>
            <a:cs typeface="+mn-cs"/>
          </a:endParaRPr>
        </a:p>
      </dsp:txBody>
      <dsp:txXfrm>
        <a:off x="1396004" y="1453497"/>
        <a:ext cx="5711711" cy="1209280"/>
      </dsp:txXfrm>
    </dsp:sp>
    <dsp:sp modelId="{58886BFB-5769-4FD5-82AC-15034361683B}">
      <dsp:nvSpPr>
        <dsp:cNvPr id="0" name=""/>
        <dsp:cNvSpPr/>
      </dsp:nvSpPr>
      <dsp:spPr>
        <a:xfrm>
          <a:off x="0" y="2904634"/>
          <a:ext cx="7293023" cy="120809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1A1DA2-A3C1-4024-8F5B-8044BF07AFFD}">
      <dsp:nvSpPr>
        <dsp:cNvPr id="0" name=""/>
        <dsp:cNvSpPr/>
      </dsp:nvSpPr>
      <dsp:spPr>
        <a:xfrm>
          <a:off x="365450" y="3176456"/>
          <a:ext cx="665104" cy="66445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EE025A-C947-4F72-B956-02F290708703}">
      <dsp:nvSpPr>
        <dsp:cNvPr id="0" name=""/>
        <dsp:cNvSpPr/>
      </dsp:nvSpPr>
      <dsp:spPr>
        <a:xfrm>
          <a:off x="1396004" y="2904634"/>
          <a:ext cx="5711711" cy="120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82" tIns="127982" rIns="127982" bIns="127982" numCol="1" spcCol="1270" anchor="ctr" anchorCtr="0">
          <a:noAutofit/>
        </a:bodyPr>
        <a:lstStyle/>
        <a:p>
          <a:pPr marL="0" lvl="0" indent="0" algn="l" defTabSz="844550">
            <a:lnSpc>
              <a:spcPct val="100000"/>
            </a:lnSpc>
            <a:spcBef>
              <a:spcPct val="0"/>
            </a:spcBef>
            <a:spcAft>
              <a:spcPct val="35000"/>
            </a:spcAft>
            <a:buNone/>
          </a:pPr>
          <a:r>
            <a:rPr lang="en-US" sz="1900" kern="1200"/>
            <a:t>Role of Generative AI: Unlike traditional AI, Generative AI creates content (text, code, insights), significantly reducing manual effort and improving output quality.</a:t>
          </a:r>
          <a:endParaRPr lang="en-IN" sz="1900" kern="1200"/>
        </a:p>
      </dsp:txBody>
      <dsp:txXfrm>
        <a:off x="1396004" y="2904634"/>
        <a:ext cx="5711711" cy="1209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7CB7C-6EC5-459A-A7F4-1866C35661BD}">
      <dsp:nvSpPr>
        <dsp:cNvPr id="0" name=""/>
        <dsp:cNvSpPr/>
      </dsp:nvSpPr>
      <dsp:spPr>
        <a:xfrm>
          <a:off x="0" y="621"/>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28651F-87E1-469F-A482-51262284D310}">
      <dsp:nvSpPr>
        <dsp:cNvPr id="0" name=""/>
        <dsp:cNvSpPr/>
      </dsp:nvSpPr>
      <dsp:spPr>
        <a:xfrm>
          <a:off x="0" y="621"/>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Problem Statement</a:t>
          </a:r>
          <a:r>
            <a:rPr lang="en-US" sz="1400" b="1" kern="1200"/>
            <a:t>:</a:t>
          </a:r>
          <a:endParaRPr lang="en-IN" sz="1400" b="1" kern="1200"/>
        </a:p>
      </dsp:txBody>
      <dsp:txXfrm>
        <a:off x="0" y="621"/>
        <a:ext cx="7886700" cy="509186"/>
      </dsp:txXfrm>
    </dsp:sp>
    <dsp:sp modelId="{4E848711-D8AC-4A87-8B65-76A54F55A28D}">
      <dsp:nvSpPr>
        <dsp:cNvPr id="0" name=""/>
        <dsp:cNvSpPr/>
      </dsp:nvSpPr>
      <dsp:spPr>
        <a:xfrm>
          <a:off x="0" y="509808"/>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55F362-FC4F-46F4-A7F7-1070519808FC}">
      <dsp:nvSpPr>
        <dsp:cNvPr id="0" name=""/>
        <dsp:cNvSpPr/>
      </dsp:nvSpPr>
      <dsp:spPr>
        <a:xfrm>
          <a:off x="0" y="509808"/>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Measurement Challenge: Organizations face difficulty in systematically quantifying productivity improvements from AI adoption</a:t>
          </a:r>
        </a:p>
      </dsp:txBody>
      <dsp:txXfrm>
        <a:off x="0" y="509808"/>
        <a:ext cx="7886700" cy="509186"/>
      </dsp:txXfrm>
    </dsp:sp>
    <dsp:sp modelId="{E27BCD9A-C2B9-4725-BAE4-4ADC1D41DC04}">
      <dsp:nvSpPr>
        <dsp:cNvPr id="0" name=""/>
        <dsp:cNvSpPr/>
      </dsp:nvSpPr>
      <dsp:spPr>
        <a:xfrm>
          <a:off x="0" y="1018994"/>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6908E5-DDEF-407C-9E22-A53E97B825E9}">
      <dsp:nvSpPr>
        <dsp:cNvPr id="0" name=""/>
        <dsp:cNvSpPr/>
      </dsp:nvSpPr>
      <dsp:spPr>
        <a:xfrm>
          <a:off x="0" y="1018994"/>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Subjectivity: Most current assessments are based on perceptions rather than objective, empirical data</a:t>
          </a:r>
        </a:p>
      </dsp:txBody>
      <dsp:txXfrm>
        <a:off x="0" y="1018994"/>
        <a:ext cx="7886700" cy="509186"/>
      </dsp:txXfrm>
    </dsp:sp>
    <dsp:sp modelId="{35ED4714-D5E2-4CD9-827D-EC9EEA19D9A6}">
      <dsp:nvSpPr>
        <dsp:cNvPr id="0" name=""/>
        <dsp:cNvSpPr/>
      </dsp:nvSpPr>
      <dsp:spPr>
        <a:xfrm>
          <a:off x="0" y="1528181"/>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33F97-7A44-4198-B2CE-0F18C9F692CD}">
      <dsp:nvSpPr>
        <dsp:cNvPr id="0" name=""/>
        <dsp:cNvSpPr/>
      </dsp:nvSpPr>
      <dsp:spPr>
        <a:xfrm>
          <a:off x="0" y="1528181"/>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mj-lt"/>
            <a:buNone/>
          </a:pPr>
          <a:endParaRPr lang="en-IN" sz="1400" kern="1200"/>
        </a:p>
      </dsp:txBody>
      <dsp:txXfrm>
        <a:off x="0" y="1528181"/>
        <a:ext cx="7886700" cy="509186"/>
      </dsp:txXfrm>
    </dsp:sp>
    <dsp:sp modelId="{FAF0DC19-0334-44DF-8D8F-494F3A5E44BC}">
      <dsp:nvSpPr>
        <dsp:cNvPr id="0" name=""/>
        <dsp:cNvSpPr/>
      </dsp:nvSpPr>
      <dsp:spPr>
        <a:xfrm>
          <a:off x="0" y="2037367"/>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28B638-DB58-4D7D-B440-2C278A5ECF29}">
      <dsp:nvSpPr>
        <dsp:cNvPr id="0" name=""/>
        <dsp:cNvSpPr/>
      </dsp:nvSpPr>
      <dsp:spPr>
        <a:xfrm>
          <a:off x="0" y="2037367"/>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Project Objectives</a:t>
          </a:r>
          <a:r>
            <a:rPr lang="en-US" sz="1400" b="1" kern="1200" dirty="0"/>
            <a:t>:</a:t>
          </a:r>
        </a:p>
      </dsp:txBody>
      <dsp:txXfrm>
        <a:off x="0" y="2037367"/>
        <a:ext cx="7886700" cy="509186"/>
      </dsp:txXfrm>
    </dsp:sp>
    <dsp:sp modelId="{A193FC90-C6D6-45D0-A21E-0AEECF39B19E}">
      <dsp:nvSpPr>
        <dsp:cNvPr id="0" name=""/>
        <dsp:cNvSpPr/>
      </dsp:nvSpPr>
      <dsp:spPr>
        <a:xfrm>
          <a:off x="0" y="2546554"/>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49C77C-E43B-40C1-9816-509B585F43E5}">
      <dsp:nvSpPr>
        <dsp:cNvPr id="0" name=""/>
        <dsp:cNvSpPr/>
      </dsp:nvSpPr>
      <dsp:spPr>
        <a:xfrm>
          <a:off x="0" y="2546554"/>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Primary Goal: Evaluate how Generative AI influences productivity and contributes to competitive advantage using business analytics</a:t>
          </a:r>
        </a:p>
      </dsp:txBody>
      <dsp:txXfrm>
        <a:off x="0" y="2546554"/>
        <a:ext cx="7886700" cy="509186"/>
      </dsp:txXfrm>
    </dsp:sp>
    <dsp:sp modelId="{ECA36FAD-841E-4D97-A6F5-E8ED86042ECC}">
      <dsp:nvSpPr>
        <dsp:cNvPr id="0" name=""/>
        <dsp:cNvSpPr/>
      </dsp:nvSpPr>
      <dsp:spPr>
        <a:xfrm>
          <a:off x="0" y="3055741"/>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E28AB3-7885-41CB-8D34-E67FA0A371B6}">
      <dsp:nvSpPr>
        <dsp:cNvPr id="0" name=""/>
        <dsp:cNvSpPr/>
      </dsp:nvSpPr>
      <dsp:spPr>
        <a:xfrm>
          <a:off x="0" y="3055741"/>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Quantify Improvements: Analyze changes in task completion time, efficiency, and output quality</a:t>
          </a:r>
        </a:p>
      </dsp:txBody>
      <dsp:txXfrm>
        <a:off x="0" y="3055741"/>
        <a:ext cx="7886700" cy="509186"/>
      </dsp:txXfrm>
    </dsp:sp>
    <dsp:sp modelId="{CF1C4BA4-D566-4A20-B412-65507EB65535}">
      <dsp:nvSpPr>
        <dsp:cNvPr id="0" name=""/>
        <dsp:cNvSpPr/>
      </dsp:nvSpPr>
      <dsp:spPr>
        <a:xfrm>
          <a:off x="0" y="3564927"/>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790C32-C4EB-423F-9197-5BAB7EB38717}">
      <dsp:nvSpPr>
        <dsp:cNvPr id="0" name=""/>
        <dsp:cNvSpPr/>
      </dsp:nvSpPr>
      <dsp:spPr>
        <a:xfrm>
          <a:off x="0" y="3564927"/>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Comparative Analysis: Compare performance outcomes between AI-assisted and non-AI workflows.</a:t>
          </a:r>
        </a:p>
      </dsp:txBody>
      <dsp:txXfrm>
        <a:off x="0" y="3564927"/>
        <a:ext cx="7886700" cy="509186"/>
      </dsp:txXfrm>
    </dsp:sp>
    <dsp:sp modelId="{D51CABEA-0C06-40D9-AE76-5276DFF1034F}">
      <dsp:nvSpPr>
        <dsp:cNvPr id="0" name=""/>
        <dsp:cNvSpPr/>
      </dsp:nvSpPr>
      <dsp:spPr>
        <a:xfrm>
          <a:off x="0" y="4074114"/>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E5A03F-39CA-4EFA-AA75-BC176A5DBECD}">
      <dsp:nvSpPr>
        <dsp:cNvPr id="0" name=""/>
        <dsp:cNvSpPr/>
      </dsp:nvSpPr>
      <dsp:spPr>
        <a:xfrm>
          <a:off x="0" y="4074114"/>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Develop Indices: Create a composite productivity index and examine the relationship between AI usage intensity and performance</a:t>
          </a:r>
        </a:p>
      </dsp:txBody>
      <dsp:txXfrm>
        <a:off x="0" y="4074114"/>
        <a:ext cx="7886700" cy="509186"/>
      </dsp:txXfrm>
    </dsp:sp>
    <dsp:sp modelId="{140ED8C5-0616-48B1-8F4A-47B363F87BDF}">
      <dsp:nvSpPr>
        <dsp:cNvPr id="0" name=""/>
        <dsp:cNvSpPr/>
      </dsp:nvSpPr>
      <dsp:spPr>
        <a:xfrm>
          <a:off x="0" y="4583300"/>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5DE15B-1E27-4EA0-9136-49FD55534704}">
      <dsp:nvSpPr>
        <dsp:cNvPr id="0" name=""/>
        <dsp:cNvSpPr/>
      </dsp:nvSpPr>
      <dsp:spPr>
        <a:xfrm>
          <a:off x="0" y="4583300"/>
          <a:ext cx="7886700" cy="509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kern="1200" dirty="0">
            <a:latin typeface="Calibri"/>
            <a:ea typeface="+mn-ea"/>
            <a:cs typeface="+mn-cs"/>
          </a:endParaRPr>
        </a:p>
      </dsp:txBody>
      <dsp:txXfrm>
        <a:off x="0" y="4583300"/>
        <a:ext cx="7886700" cy="5091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D4C27E-45B7-42F2-A18F-939C3318964B}">
      <dsp:nvSpPr>
        <dsp:cNvPr id="0" name=""/>
        <dsp:cNvSpPr/>
      </dsp:nvSpPr>
      <dsp:spPr>
        <a:xfrm>
          <a:off x="808887" y="374769"/>
          <a:ext cx="975605" cy="975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CB3B2-0279-49DD-8437-5EAF450C4C74}">
      <dsp:nvSpPr>
        <dsp:cNvPr id="0" name=""/>
        <dsp:cNvSpPr/>
      </dsp:nvSpPr>
      <dsp:spPr>
        <a:xfrm>
          <a:off x="212683" y="1673589"/>
          <a:ext cx="2168013"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Productivity Mechanisms:</a:t>
          </a:r>
          <a:r>
            <a:rPr lang="en-US" sz="1100" kern="1200" dirty="0"/>
            <a:t> Research shows AI boosts productivity by automating repetitive processes and reducing "time-to-value".</a:t>
          </a:r>
        </a:p>
      </dsp:txBody>
      <dsp:txXfrm>
        <a:off x="212683" y="1673589"/>
        <a:ext cx="2168013" cy="855000"/>
      </dsp:txXfrm>
    </dsp:sp>
    <dsp:sp modelId="{99DB8AFB-5038-4604-AD91-75CECAD6C3AA}">
      <dsp:nvSpPr>
        <dsp:cNvPr id="0" name=""/>
        <dsp:cNvSpPr/>
      </dsp:nvSpPr>
      <dsp:spPr>
        <a:xfrm>
          <a:off x="3356302" y="374769"/>
          <a:ext cx="975605" cy="975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E860E6-3683-4262-B39C-F6EE101627A4}">
      <dsp:nvSpPr>
        <dsp:cNvPr id="0" name=""/>
        <dsp:cNvSpPr/>
      </dsp:nvSpPr>
      <dsp:spPr>
        <a:xfrm>
          <a:off x="2760098" y="1673589"/>
          <a:ext cx="2168013"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The Jagged Frontier:</a:t>
          </a:r>
          <a:r>
            <a:rPr lang="en-US" sz="1100" kern="1200" dirty="0"/>
            <a:t> AI significantly enhances tasks within its capabilities (e.g., boilerplate code) but requires human oversight for complex reasoning.</a:t>
          </a:r>
        </a:p>
      </dsp:txBody>
      <dsp:txXfrm>
        <a:off x="2760098" y="1673589"/>
        <a:ext cx="2168013" cy="855000"/>
      </dsp:txXfrm>
    </dsp:sp>
    <dsp:sp modelId="{F7D24907-91DA-4DF0-9379-C28D0FE82A4A}">
      <dsp:nvSpPr>
        <dsp:cNvPr id="0" name=""/>
        <dsp:cNvSpPr/>
      </dsp:nvSpPr>
      <dsp:spPr>
        <a:xfrm>
          <a:off x="5903718" y="374769"/>
          <a:ext cx="975605" cy="975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C23AEA-AEC1-495B-9BDE-420ECD5CE261}">
      <dsp:nvSpPr>
        <dsp:cNvPr id="0" name=""/>
        <dsp:cNvSpPr/>
      </dsp:nvSpPr>
      <dsp:spPr>
        <a:xfrm>
          <a:off x="5307514" y="1673589"/>
          <a:ext cx="2168013"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Resource-Based View (RBV):</a:t>
          </a:r>
          <a:r>
            <a:rPr lang="en-US" sz="1100" kern="1200"/>
            <a:t> AI acts as a "valuable and rare" resource that helps firms achieve sustainable competitive advantage</a:t>
          </a:r>
        </a:p>
      </dsp:txBody>
      <dsp:txXfrm>
        <a:off x="5307514" y="1673589"/>
        <a:ext cx="2168013" cy="85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FC9D2-894A-465C-B8AD-D70319EB47E2}">
      <dsp:nvSpPr>
        <dsp:cNvPr id="0" name=""/>
        <dsp:cNvSpPr/>
      </dsp:nvSpPr>
      <dsp:spPr>
        <a:xfrm>
          <a:off x="5595" y="386708"/>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53229-E249-4F18-80C8-414DF223BD07}">
      <dsp:nvSpPr>
        <dsp:cNvPr id="0" name=""/>
        <dsp:cNvSpPr/>
      </dsp:nvSpPr>
      <dsp:spPr>
        <a:xfrm>
          <a:off x="232418" y="594674"/>
          <a:ext cx="626472" cy="62647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EDAAF1-0FDB-404A-8F39-9CFD5BC83EF2}">
      <dsp:nvSpPr>
        <dsp:cNvPr id="0" name=""/>
        <dsp:cNvSpPr/>
      </dsp:nvSpPr>
      <dsp:spPr>
        <a:xfrm>
          <a:off x="1170786" y="290252"/>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dirty="0"/>
            <a:t>Empirical Scarcity &amp; Lack of Quantitative Validation: </a:t>
          </a:r>
          <a:r>
            <a:rPr lang="en-US" sz="1200" b="0" kern="1200" dirty="0"/>
            <a:t>While the adoption of Generative AI is widespread, existing literature is predominantly qualitative. There is a significant gap in systematically measuring and providing empirical, quantitative evidence to validate reported productivity improvements</a:t>
          </a:r>
        </a:p>
      </dsp:txBody>
      <dsp:txXfrm>
        <a:off x="1170786" y="290252"/>
        <a:ext cx="2546008" cy="1080124"/>
      </dsp:txXfrm>
    </dsp:sp>
    <dsp:sp modelId="{15E94CF5-E2FA-454C-AE6C-4ABF0B21FB1D}">
      <dsp:nvSpPr>
        <dsp:cNvPr id="0" name=""/>
        <dsp:cNvSpPr/>
      </dsp:nvSpPr>
      <dsp:spPr>
        <a:xfrm>
          <a:off x="4329575" y="386708"/>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374C9-DDBA-4043-8D8C-BF7F8AC937EF}">
      <dsp:nvSpPr>
        <dsp:cNvPr id="0" name=""/>
        <dsp:cNvSpPr/>
      </dsp:nvSpPr>
      <dsp:spPr>
        <a:xfrm>
          <a:off x="4556408" y="613537"/>
          <a:ext cx="626472" cy="62647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216629-0A5D-4615-AC81-714956D71F3A}">
      <dsp:nvSpPr>
        <dsp:cNvPr id="0" name=""/>
        <dsp:cNvSpPr/>
      </dsp:nvSpPr>
      <dsp:spPr>
        <a:xfrm>
          <a:off x="5613606" y="299023"/>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Isolation of Metrics: </a:t>
          </a:r>
          <a:r>
            <a:rPr lang="en-US" sz="1200" b="0" kern="1200" dirty="0">
              <a:solidFill>
                <a:prstClr val="black">
                  <a:hueOff val="0"/>
                  <a:satOff val="0"/>
                  <a:lumOff val="0"/>
                  <a:alphaOff val="0"/>
                </a:prstClr>
              </a:solidFill>
              <a:latin typeface="Calibri"/>
              <a:ea typeface="+mn-ea"/>
              <a:cs typeface="+mn-cs"/>
            </a:rPr>
            <a:t>Traditional productivity metrics, such as "output per hour," fail to capture the multidimensional nature of AI-driven work. Most studies analyze metrics like speed or volume in isolation rather than integrating qualitative gains such as improved decision-making, accuracy, and error reduction into a unified framework</a:t>
          </a:r>
        </a:p>
      </dsp:txBody>
      <dsp:txXfrm>
        <a:off x="5613606" y="299023"/>
        <a:ext cx="2546008" cy="1080124"/>
      </dsp:txXfrm>
    </dsp:sp>
    <dsp:sp modelId="{319A2B90-1854-4C00-8FE0-3F3F68E8D49E}">
      <dsp:nvSpPr>
        <dsp:cNvPr id="0" name=""/>
        <dsp:cNvSpPr/>
      </dsp:nvSpPr>
      <dsp:spPr>
        <a:xfrm>
          <a:off x="18535" y="2664816"/>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99B45E-65D5-404E-85AE-CA36302CF079}">
      <dsp:nvSpPr>
        <dsp:cNvPr id="0" name=""/>
        <dsp:cNvSpPr/>
      </dsp:nvSpPr>
      <dsp:spPr>
        <a:xfrm>
          <a:off x="245361" y="2891642"/>
          <a:ext cx="626472" cy="62647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A23AB-F195-4D74-81D0-23EAD8A71BB5}">
      <dsp:nvSpPr>
        <dsp:cNvPr id="0" name=""/>
        <dsp:cNvSpPr/>
      </dsp:nvSpPr>
      <dsp:spPr>
        <a:xfrm>
          <a:off x="1280952" y="2320688"/>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Limited Comparative Analysis: </a:t>
          </a:r>
          <a:r>
            <a:rPr lang="en-US" sz="1200" b="0" kern="1200" dirty="0">
              <a:solidFill>
                <a:prstClr val="black">
                  <a:hueOff val="0"/>
                  <a:satOff val="0"/>
                  <a:lumOff val="0"/>
                  <a:alphaOff val="0"/>
                </a:prstClr>
              </a:solidFill>
              <a:latin typeface="Calibri"/>
              <a:ea typeface="+mn-ea"/>
              <a:cs typeface="+mn-cs"/>
            </a:rPr>
            <a:t>There is a lack of rigorous, real-world comparison between AI-assisted workflows and traditional (non-AI) methods. Research has yet to establish clear benchmarks by comparing performance outcomes across identical tasks performed with and without AI integration</a:t>
          </a:r>
        </a:p>
      </dsp:txBody>
      <dsp:txXfrm>
        <a:off x="1280952" y="2320688"/>
        <a:ext cx="2546008" cy="1080124"/>
      </dsp:txXfrm>
    </dsp:sp>
    <dsp:sp modelId="{EBA62F12-7C44-4D5D-8FC5-4AE7C80BBDD6}">
      <dsp:nvSpPr>
        <dsp:cNvPr id="0" name=""/>
        <dsp:cNvSpPr/>
      </dsp:nvSpPr>
      <dsp:spPr>
        <a:xfrm>
          <a:off x="4319746" y="2664816"/>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50AFF6-687F-4D41-99AF-EEAD8FC526F0}">
      <dsp:nvSpPr>
        <dsp:cNvPr id="0" name=""/>
        <dsp:cNvSpPr/>
      </dsp:nvSpPr>
      <dsp:spPr>
        <a:xfrm>
          <a:off x="4546573" y="2891642"/>
          <a:ext cx="626472" cy="62647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6BA1B6-220D-4478-8078-1311AFD1CCBA}">
      <dsp:nvSpPr>
        <dsp:cNvPr id="0" name=""/>
        <dsp:cNvSpPr/>
      </dsp:nvSpPr>
      <dsp:spPr>
        <a:xfrm>
          <a:off x="5631327" y="2664816"/>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1" kern="1200" dirty="0">
              <a:solidFill>
                <a:prstClr val="black">
                  <a:hueOff val="0"/>
                  <a:satOff val="0"/>
                  <a:lumOff val="0"/>
                  <a:alphaOff val="0"/>
                </a:prstClr>
              </a:solidFill>
              <a:latin typeface="Calibri"/>
              <a:ea typeface="+mn-ea"/>
              <a:cs typeface="+mn-cs"/>
            </a:rPr>
            <a:t>Weak Strategic Linkage: </a:t>
          </a:r>
          <a:r>
            <a:rPr lang="en-US" sz="1200" b="0" kern="1200" dirty="0">
              <a:solidFill>
                <a:prstClr val="black">
                  <a:hueOff val="0"/>
                  <a:satOff val="0"/>
                  <a:lumOff val="0"/>
                  <a:alphaOff val="0"/>
                </a:prstClr>
              </a:solidFill>
              <a:latin typeface="Calibri"/>
              <a:ea typeface="+mn-ea"/>
              <a:cs typeface="+mn-cs"/>
            </a:rPr>
            <a:t>While individual productivity gains are often acknowledged, the direct and measurable connection between these improvements and a sustainable organizational competitive advantage remains underexplored. Most research focuses on potential benefits rather than validating how AI-driven efficiency translates into strategic market superiority.</a:t>
          </a:r>
        </a:p>
      </dsp:txBody>
      <dsp:txXfrm>
        <a:off x="5631327" y="2664816"/>
        <a:ext cx="2546008" cy="10801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A8AD6-6C28-4B2A-AD2B-CD0C937A037F}">
      <dsp:nvSpPr>
        <dsp:cNvPr id="0" name=""/>
        <dsp:cNvSpPr/>
      </dsp:nvSpPr>
      <dsp:spPr>
        <a:xfrm>
          <a:off x="0" y="1491"/>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B18CAD-4FB3-414F-83F0-8F0367DF628C}">
      <dsp:nvSpPr>
        <dsp:cNvPr id="0" name=""/>
        <dsp:cNvSpPr/>
      </dsp:nvSpPr>
      <dsp:spPr>
        <a:xfrm>
          <a:off x="192279" y="144509"/>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FA192D-1AF6-4BD9-84D5-424E7FB02F98}">
      <dsp:nvSpPr>
        <dsp:cNvPr id="0" name=""/>
        <dsp:cNvSpPr/>
      </dsp:nvSpPr>
      <dsp:spPr>
        <a:xfrm>
          <a:off x="734157" y="1491"/>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Standardized salary benchmarks applied</a:t>
          </a:r>
        </a:p>
      </dsp:txBody>
      <dsp:txXfrm>
        <a:off x="734157" y="1491"/>
        <a:ext cx="7554435" cy="635633"/>
      </dsp:txXfrm>
    </dsp:sp>
    <dsp:sp modelId="{AE605723-7937-4281-AB01-C7BEBA923921}">
      <dsp:nvSpPr>
        <dsp:cNvPr id="0" name=""/>
        <dsp:cNvSpPr/>
      </dsp:nvSpPr>
      <dsp:spPr>
        <a:xfrm>
          <a:off x="0" y="796034"/>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3DBD30-7AD8-47B2-A66E-8056AE06C982}">
      <dsp:nvSpPr>
        <dsp:cNvPr id="0" name=""/>
        <dsp:cNvSpPr/>
      </dsp:nvSpPr>
      <dsp:spPr>
        <a:xfrm>
          <a:off x="192279" y="939051"/>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27E3B2-1904-4EAF-B010-39F66F7C15EA}">
      <dsp:nvSpPr>
        <dsp:cNvPr id="0" name=""/>
        <dsp:cNvSpPr/>
      </dsp:nvSpPr>
      <dsp:spPr>
        <a:xfrm>
          <a:off x="734157" y="796034"/>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220 working days, 8 hours/day considered</a:t>
          </a:r>
        </a:p>
      </dsp:txBody>
      <dsp:txXfrm>
        <a:off x="734157" y="796034"/>
        <a:ext cx="7554435" cy="635633"/>
      </dsp:txXfrm>
    </dsp:sp>
    <dsp:sp modelId="{5F8C123C-52EC-4F9D-A639-888D6C4B74CA}">
      <dsp:nvSpPr>
        <dsp:cNvPr id="0" name=""/>
        <dsp:cNvSpPr/>
      </dsp:nvSpPr>
      <dsp:spPr>
        <a:xfrm>
          <a:off x="0" y="1590576"/>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0E2B8-DD7F-485E-9F31-58C72B8B99F7}">
      <dsp:nvSpPr>
        <dsp:cNvPr id="0" name=""/>
        <dsp:cNvSpPr/>
      </dsp:nvSpPr>
      <dsp:spPr>
        <a:xfrm>
          <a:off x="192279" y="1733594"/>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55A9C3-DCF3-4981-938B-CCE07ED15754}">
      <dsp:nvSpPr>
        <dsp:cNvPr id="0" name=""/>
        <dsp:cNvSpPr/>
      </dsp:nvSpPr>
      <dsp:spPr>
        <a:xfrm>
          <a:off x="734157" y="1590576"/>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Fixed annual AI enablement cost (₹19,800 per employee)</a:t>
          </a:r>
        </a:p>
      </dsp:txBody>
      <dsp:txXfrm>
        <a:off x="734157" y="1590576"/>
        <a:ext cx="7554435" cy="635633"/>
      </dsp:txXfrm>
    </dsp:sp>
    <dsp:sp modelId="{191026A5-FEE9-44C8-9541-760D2C127AFC}">
      <dsp:nvSpPr>
        <dsp:cNvPr id="0" name=""/>
        <dsp:cNvSpPr/>
      </dsp:nvSpPr>
      <dsp:spPr>
        <a:xfrm>
          <a:off x="0" y="2385118"/>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249C18-24E1-46EE-BFE3-E43B88380308}">
      <dsp:nvSpPr>
        <dsp:cNvPr id="0" name=""/>
        <dsp:cNvSpPr/>
      </dsp:nvSpPr>
      <dsp:spPr>
        <a:xfrm>
          <a:off x="192279" y="2528136"/>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CADB48-6310-46DB-9077-904FA11E1B19}">
      <dsp:nvSpPr>
        <dsp:cNvPr id="0" name=""/>
        <dsp:cNvSpPr/>
      </dsp:nvSpPr>
      <dsp:spPr>
        <a:xfrm>
          <a:off x="734157" y="2385118"/>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Midpoints of survey ranges used for time‑saved estimates</a:t>
          </a:r>
        </a:p>
      </dsp:txBody>
      <dsp:txXfrm>
        <a:off x="734157" y="2385118"/>
        <a:ext cx="7554435" cy="635633"/>
      </dsp:txXfrm>
    </dsp:sp>
    <dsp:sp modelId="{4F82D713-98E8-48C3-BC59-9D873DF61A02}">
      <dsp:nvSpPr>
        <dsp:cNvPr id="0" name=""/>
        <dsp:cNvSpPr/>
      </dsp:nvSpPr>
      <dsp:spPr>
        <a:xfrm>
          <a:off x="0" y="3179661"/>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CE353-0E77-45FE-94B1-F210A6DCFA99}">
      <dsp:nvSpPr>
        <dsp:cNvPr id="0" name=""/>
        <dsp:cNvSpPr/>
      </dsp:nvSpPr>
      <dsp:spPr>
        <a:xfrm>
          <a:off x="192279" y="3322678"/>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FEBC09-C251-446E-9A12-059478AA4208}">
      <dsp:nvSpPr>
        <dsp:cNvPr id="0" name=""/>
        <dsp:cNvSpPr/>
      </dsp:nvSpPr>
      <dsp:spPr>
        <a:xfrm>
          <a:off x="734157" y="3179661"/>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Roles grouped into defined categories; others consolidated</a:t>
          </a:r>
        </a:p>
      </dsp:txBody>
      <dsp:txXfrm>
        <a:off x="734157" y="3179661"/>
        <a:ext cx="7554435" cy="635633"/>
      </dsp:txXfrm>
    </dsp:sp>
    <dsp:sp modelId="{E5E3DEFD-957B-4D82-92F3-1A22249D6A4D}">
      <dsp:nvSpPr>
        <dsp:cNvPr id="0" name=""/>
        <dsp:cNvSpPr/>
      </dsp:nvSpPr>
      <dsp:spPr>
        <a:xfrm>
          <a:off x="0" y="3974203"/>
          <a:ext cx="8288593" cy="6356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F5DA3E-8622-4FCE-9863-4DE37AD47E0C}">
      <dsp:nvSpPr>
        <dsp:cNvPr id="0" name=""/>
        <dsp:cNvSpPr/>
      </dsp:nvSpPr>
      <dsp:spPr>
        <a:xfrm>
          <a:off x="192279" y="4117221"/>
          <a:ext cx="349598" cy="3495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79A4A-21A6-4F3A-953F-215F239C0591}">
      <dsp:nvSpPr>
        <dsp:cNvPr id="0" name=""/>
        <dsp:cNvSpPr/>
      </dsp:nvSpPr>
      <dsp:spPr>
        <a:xfrm>
          <a:off x="734157" y="3974203"/>
          <a:ext cx="7554435" cy="635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271" tIns="67271" rIns="67271" bIns="67271" numCol="1" spcCol="1270" anchor="ctr" anchorCtr="0">
          <a:noAutofit/>
        </a:bodyPr>
        <a:lstStyle/>
        <a:p>
          <a:pPr marL="0" lvl="0" indent="0" algn="l" defTabSz="711200">
            <a:lnSpc>
              <a:spcPct val="100000"/>
            </a:lnSpc>
            <a:spcBef>
              <a:spcPct val="0"/>
            </a:spcBef>
            <a:spcAft>
              <a:spcPct val="35000"/>
            </a:spcAft>
            <a:buNone/>
          </a:pPr>
          <a:r>
            <a:rPr lang="en-US" sz="1600" kern="1200"/>
            <a:t>Productivity weightage calculated by combining time efficiency, work efficiency, and output quality into the AI Productivity Index (API)</a:t>
          </a:r>
        </a:p>
      </dsp:txBody>
      <dsp:txXfrm>
        <a:off x="734157" y="3974203"/>
        <a:ext cx="7554435" cy="6356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90E88A-BF23-4D75-B054-E68F757DF55B}">
      <dsp:nvSpPr>
        <dsp:cNvPr id="0" name=""/>
        <dsp:cNvSpPr/>
      </dsp:nvSpPr>
      <dsp:spPr>
        <a:xfrm>
          <a:off x="0" y="27879"/>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Generative AI adoption delivers measurable productivity and cost benefits</a:t>
          </a:r>
        </a:p>
      </dsp:txBody>
      <dsp:txXfrm>
        <a:off x="29088" y="56967"/>
        <a:ext cx="7998133" cy="537701"/>
      </dsp:txXfrm>
    </dsp:sp>
    <dsp:sp modelId="{DBC173FC-C372-4912-8DB0-974AEFCFEDF1}">
      <dsp:nvSpPr>
        <dsp:cNvPr id="0" name=""/>
        <dsp:cNvSpPr/>
      </dsp:nvSpPr>
      <dsp:spPr>
        <a:xfrm>
          <a:off x="0" y="666956"/>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Productivity gains translate into faster delivery, improved quality, and better decision‑making.</a:t>
          </a:r>
        </a:p>
      </dsp:txBody>
      <dsp:txXfrm>
        <a:off x="29088" y="696044"/>
        <a:ext cx="7998133" cy="537701"/>
      </dsp:txXfrm>
    </dsp:sp>
    <dsp:sp modelId="{51BF716D-29EC-435B-8394-CEE7DE8B4D07}">
      <dsp:nvSpPr>
        <dsp:cNvPr id="0" name=""/>
        <dsp:cNvSpPr/>
      </dsp:nvSpPr>
      <dsp:spPr>
        <a:xfrm>
          <a:off x="0" y="1306033"/>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Provides a structured framework for data‑driven managerial decisions.</a:t>
          </a:r>
        </a:p>
      </dsp:txBody>
      <dsp:txXfrm>
        <a:off x="29088" y="1335121"/>
        <a:ext cx="7998133" cy="537701"/>
      </dsp:txXfrm>
    </dsp:sp>
    <dsp:sp modelId="{B96ADC4E-0D5E-4B8A-8700-A42062DA6193}">
      <dsp:nvSpPr>
        <dsp:cNvPr id="0" name=""/>
        <dsp:cNvSpPr/>
      </dsp:nvSpPr>
      <dsp:spPr>
        <a:xfrm>
          <a:off x="0" y="1945111"/>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Role‑wise analysis shows strongest impact in technical functions, with modest gains in QA/Test roles.</a:t>
          </a:r>
        </a:p>
      </dsp:txBody>
      <dsp:txXfrm>
        <a:off x="29088" y="1974199"/>
        <a:ext cx="7998133" cy="537701"/>
      </dsp:txXfrm>
    </dsp:sp>
    <dsp:sp modelId="{5AB82CE2-C383-4642-8CA9-F450F40ED704}">
      <dsp:nvSpPr>
        <dsp:cNvPr id="0" name=""/>
        <dsp:cNvSpPr/>
      </dsp:nvSpPr>
      <dsp:spPr>
        <a:xfrm>
          <a:off x="0" y="2584188"/>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AI adoption strengthens organizational competitiveness by reducing project duration and enhancing efficiency.</a:t>
          </a:r>
        </a:p>
      </dsp:txBody>
      <dsp:txXfrm>
        <a:off x="29088" y="2613276"/>
        <a:ext cx="7998133" cy="537701"/>
      </dsp:txXfrm>
    </dsp:sp>
    <dsp:sp modelId="{1916968E-3BFA-4DBA-B7F8-B18B7DC939E0}">
      <dsp:nvSpPr>
        <dsp:cNvPr id="0" name=""/>
        <dsp:cNvSpPr/>
      </dsp:nvSpPr>
      <dsp:spPr>
        <a:xfrm>
          <a:off x="0" y="3223266"/>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Highlights the micro‑macro gap: task‑level improvements are clear, but project‑level outcomes require structured measurement.</a:t>
          </a:r>
        </a:p>
      </dsp:txBody>
      <dsp:txXfrm>
        <a:off x="29088" y="3252354"/>
        <a:ext cx="7998133" cy="537701"/>
      </dsp:txXfrm>
    </dsp:sp>
    <dsp:sp modelId="{9AB34CA4-E16E-4195-A2BB-7662A823FBF8}">
      <dsp:nvSpPr>
        <dsp:cNvPr id="0" name=""/>
        <dsp:cNvSpPr/>
      </dsp:nvSpPr>
      <dsp:spPr>
        <a:xfrm>
          <a:off x="0" y="3862343"/>
          <a:ext cx="8056309" cy="5958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Establishes a replicable model (AI Productivity Index) for cross‑industry benchmarking and future research.</a:t>
          </a:r>
        </a:p>
      </dsp:txBody>
      <dsp:txXfrm>
        <a:off x="29088" y="3891431"/>
        <a:ext cx="7998133" cy="5377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BDDA2-43E8-4DFE-98F2-3AF927BA1387}">
      <dsp:nvSpPr>
        <dsp:cNvPr id="0" name=""/>
        <dsp:cNvSpPr/>
      </dsp:nvSpPr>
      <dsp:spPr>
        <a:xfrm>
          <a:off x="1009638" y="379196"/>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C83E3D-B148-4E30-830A-D87360075CC6}">
      <dsp:nvSpPr>
        <dsp:cNvPr id="0" name=""/>
        <dsp:cNvSpPr/>
      </dsp:nvSpPr>
      <dsp:spPr>
        <a:xfrm>
          <a:off x="591982" y="1331800"/>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Scale AI adoption across roles </a:t>
          </a:r>
          <a:r>
            <a:rPr lang="en-US" sz="1100" kern="1200"/>
            <a:t>→ Extend beyond technical teams to business analysts, QA, and support functions.</a:t>
          </a:r>
        </a:p>
      </dsp:txBody>
      <dsp:txXfrm>
        <a:off x="591982" y="1331800"/>
        <a:ext cx="1518750" cy="721406"/>
      </dsp:txXfrm>
    </dsp:sp>
    <dsp:sp modelId="{6D9BD95D-C0D9-41C8-90BB-622E728DDC78}">
      <dsp:nvSpPr>
        <dsp:cNvPr id="0" name=""/>
        <dsp:cNvSpPr/>
      </dsp:nvSpPr>
      <dsp:spPr>
        <a:xfrm>
          <a:off x="2794170" y="379196"/>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8F5CFE-156D-41AD-8879-324844DF6741}">
      <dsp:nvSpPr>
        <dsp:cNvPr id="0" name=""/>
        <dsp:cNvSpPr/>
      </dsp:nvSpPr>
      <dsp:spPr>
        <a:xfrm>
          <a:off x="2376513" y="1331800"/>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Explore task‑specific AI tools </a:t>
          </a:r>
          <a:r>
            <a:rPr lang="en-US" sz="1100" kern="1200"/>
            <a:t>→ Match tools to workflows (e.g., documentation, coding assistance, error detection).</a:t>
          </a:r>
        </a:p>
      </dsp:txBody>
      <dsp:txXfrm>
        <a:off x="2376513" y="1331800"/>
        <a:ext cx="1518750" cy="721406"/>
      </dsp:txXfrm>
    </dsp:sp>
    <dsp:sp modelId="{09476186-407F-4714-B4AF-B5021343C49C}">
      <dsp:nvSpPr>
        <dsp:cNvPr id="0" name=""/>
        <dsp:cNvSpPr/>
      </dsp:nvSpPr>
      <dsp:spPr>
        <a:xfrm>
          <a:off x="4578701" y="379196"/>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D44A85-1378-4C65-9695-0CB99F47CCE3}">
      <dsp:nvSpPr>
        <dsp:cNvPr id="0" name=""/>
        <dsp:cNvSpPr/>
      </dsp:nvSpPr>
      <dsp:spPr>
        <a:xfrm>
          <a:off x="4161045" y="1331800"/>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Invest in employee training &amp; change management </a:t>
          </a:r>
          <a:r>
            <a:rPr lang="en-US" sz="1100" kern="1200"/>
            <a:t>→ Address resistance, build confidence, and improve adoption maturity.</a:t>
          </a:r>
        </a:p>
      </dsp:txBody>
      <dsp:txXfrm>
        <a:off x="4161045" y="1331800"/>
        <a:ext cx="1518750" cy="721406"/>
      </dsp:txXfrm>
    </dsp:sp>
    <dsp:sp modelId="{05C1B9DF-D937-4B35-BF97-3DE88C4DA412}">
      <dsp:nvSpPr>
        <dsp:cNvPr id="0" name=""/>
        <dsp:cNvSpPr/>
      </dsp:nvSpPr>
      <dsp:spPr>
        <a:xfrm>
          <a:off x="6363232" y="379196"/>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E7BB06-F43E-4822-9E2A-16D687A7306D}">
      <dsp:nvSpPr>
        <dsp:cNvPr id="0" name=""/>
        <dsp:cNvSpPr/>
      </dsp:nvSpPr>
      <dsp:spPr>
        <a:xfrm>
          <a:off x="5945576" y="1331800"/>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Integrate AI metrics into enterprise analytics </a:t>
          </a:r>
          <a:r>
            <a:rPr lang="en-US" sz="1100" kern="1200"/>
            <a:t>→ Embed the AI Productivity Index into dashboards for continuous monitoring.</a:t>
          </a:r>
        </a:p>
      </dsp:txBody>
      <dsp:txXfrm>
        <a:off x="5945576" y="1331800"/>
        <a:ext cx="1518750" cy="721406"/>
      </dsp:txXfrm>
    </dsp:sp>
    <dsp:sp modelId="{471569A4-7127-4AC9-8DAC-5D03B5FF8561}">
      <dsp:nvSpPr>
        <dsp:cNvPr id="0" name=""/>
        <dsp:cNvSpPr/>
      </dsp:nvSpPr>
      <dsp:spPr>
        <a:xfrm>
          <a:off x="2794170" y="2432893"/>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BDB260-579E-4D1D-B98C-4A4368FB1D2D}">
      <dsp:nvSpPr>
        <dsp:cNvPr id="0" name=""/>
        <dsp:cNvSpPr/>
      </dsp:nvSpPr>
      <dsp:spPr>
        <a:xfrm>
          <a:off x="2376513" y="3385497"/>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Leverage multi‑tool usage </a:t>
          </a:r>
          <a:r>
            <a:rPr lang="en-US" sz="1100" kern="1200"/>
            <a:t>→ Encourage employees to combine tools (e.g., ChatGPT + Copilot + domain‑specific apps) for higher ROI.</a:t>
          </a:r>
        </a:p>
      </dsp:txBody>
      <dsp:txXfrm>
        <a:off x="2376513" y="3385497"/>
        <a:ext cx="1518750" cy="721406"/>
      </dsp:txXfrm>
    </dsp:sp>
    <dsp:sp modelId="{CF83838C-4711-41CF-9900-8ABC338C693E}">
      <dsp:nvSpPr>
        <dsp:cNvPr id="0" name=""/>
        <dsp:cNvSpPr/>
      </dsp:nvSpPr>
      <dsp:spPr>
        <a:xfrm>
          <a:off x="4578701" y="2432893"/>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57693A-0AB7-48F7-A4BC-F57D1330B410}">
      <dsp:nvSpPr>
        <dsp:cNvPr id="0" name=""/>
        <dsp:cNvSpPr/>
      </dsp:nvSpPr>
      <dsp:spPr>
        <a:xfrm>
          <a:off x="4161045" y="3385497"/>
          <a:ext cx="1518750" cy="72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Redesign processes </a:t>
          </a:r>
          <a:r>
            <a:rPr lang="en-US" sz="1100" kern="1200"/>
            <a:t>→ Aggregate individual task savings into project‑level outcomes through structured workflows.</a:t>
          </a:r>
        </a:p>
      </dsp:txBody>
      <dsp:txXfrm>
        <a:off x="4161045" y="3385497"/>
        <a:ext cx="1518750" cy="7214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8D80D-DBFC-4969-93C3-3626FB862863}">
      <dsp:nvSpPr>
        <dsp:cNvPr id="0" name=""/>
        <dsp:cNvSpPr/>
      </dsp:nvSpPr>
      <dsp:spPr>
        <a:xfrm>
          <a:off x="1215335" y="72641"/>
          <a:ext cx="763241" cy="7632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EE9B71-0269-4161-8365-8F2FB0A08BE3}">
      <dsp:nvSpPr>
        <dsp:cNvPr id="0" name=""/>
        <dsp:cNvSpPr/>
      </dsp:nvSpPr>
      <dsp:spPr>
        <a:xfrm>
          <a:off x="1375616" y="232921"/>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85B42E-91E7-4A29-9EB8-BA3307F4111B}">
      <dsp:nvSpPr>
        <dsp:cNvPr id="0" name=""/>
        <dsp:cNvSpPr/>
      </dsp:nvSpPr>
      <dsp:spPr>
        <a:xfrm>
          <a:off x="2142128" y="72641"/>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dirty="0"/>
            <a:t>Longitudinal studies on sustained ROI → </a:t>
          </a:r>
          <a:r>
            <a:rPr lang="en-IN" sz="1100" kern="1200" dirty="0"/>
            <a:t>Track productivity gains over multiple years to measure durability.</a:t>
          </a:r>
          <a:endParaRPr lang="en-US" sz="1100" kern="1200" dirty="0"/>
        </a:p>
      </dsp:txBody>
      <dsp:txXfrm>
        <a:off x="2142128" y="72641"/>
        <a:ext cx="1799069" cy="763241"/>
      </dsp:txXfrm>
    </dsp:sp>
    <dsp:sp modelId="{54E06218-655C-4F8E-B79B-913B6C17BE4A}">
      <dsp:nvSpPr>
        <dsp:cNvPr id="0" name=""/>
        <dsp:cNvSpPr/>
      </dsp:nvSpPr>
      <dsp:spPr>
        <a:xfrm>
          <a:off x="4254672" y="72641"/>
          <a:ext cx="763241" cy="7632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8CCFE7-EB37-49D7-809B-8FFDFDC01505}">
      <dsp:nvSpPr>
        <dsp:cNvPr id="0" name=""/>
        <dsp:cNvSpPr/>
      </dsp:nvSpPr>
      <dsp:spPr>
        <a:xfrm>
          <a:off x="4414953" y="232921"/>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6BE057-FC6D-4D17-AE87-A36EFD22DF02}">
      <dsp:nvSpPr>
        <dsp:cNvPr id="0" name=""/>
        <dsp:cNvSpPr/>
      </dsp:nvSpPr>
      <dsp:spPr>
        <a:xfrm>
          <a:off x="5181466" y="72641"/>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Cross‑industry comparisons → </a:t>
          </a:r>
          <a:r>
            <a:rPr lang="en-IN" sz="1100" kern="1200"/>
            <a:t>Apply framework to BFSI, healthcare, and manufacturing to benchmark adoption impact.</a:t>
          </a:r>
          <a:endParaRPr lang="en-US" sz="1100" kern="1200"/>
        </a:p>
      </dsp:txBody>
      <dsp:txXfrm>
        <a:off x="5181466" y="72641"/>
        <a:ext cx="1799069" cy="763241"/>
      </dsp:txXfrm>
    </dsp:sp>
    <dsp:sp modelId="{881876C4-6EC3-451D-A5E9-AB3E883C1202}">
      <dsp:nvSpPr>
        <dsp:cNvPr id="0" name=""/>
        <dsp:cNvSpPr/>
      </dsp:nvSpPr>
      <dsp:spPr>
        <a:xfrm>
          <a:off x="1215335" y="1463081"/>
          <a:ext cx="763241" cy="7632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95F852-172E-4377-9716-6123A82EFA69}">
      <dsp:nvSpPr>
        <dsp:cNvPr id="0" name=""/>
        <dsp:cNvSpPr/>
      </dsp:nvSpPr>
      <dsp:spPr>
        <a:xfrm>
          <a:off x="1375616" y="1623362"/>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D0116F-F671-4F1A-97A4-1E2C0EE67EF8}">
      <dsp:nvSpPr>
        <dsp:cNvPr id="0" name=""/>
        <dsp:cNvSpPr/>
      </dsp:nvSpPr>
      <dsp:spPr>
        <a:xfrm>
          <a:off x="2142128" y="1463081"/>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Task‑level deep dives → </a:t>
          </a:r>
          <a:r>
            <a:rPr lang="en-IN" sz="1100" kern="1200"/>
            <a:t>Identify which tasks (documentation, coding, testing) yield maximum ROI.</a:t>
          </a:r>
          <a:endParaRPr lang="en-US" sz="1100" kern="1200"/>
        </a:p>
      </dsp:txBody>
      <dsp:txXfrm>
        <a:off x="2142128" y="1463081"/>
        <a:ext cx="1799069" cy="763241"/>
      </dsp:txXfrm>
    </dsp:sp>
    <dsp:sp modelId="{FF5BC84E-08E7-407D-BC05-001EDB5F52E9}">
      <dsp:nvSpPr>
        <dsp:cNvPr id="0" name=""/>
        <dsp:cNvSpPr/>
      </dsp:nvSpPr>
      <dsp:spPr>
        <a:xfrm>
          <a:off x="4254672" y="1463081"/>
          <a:ext cx="763241" cy="7632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94272-BAE1-49AB-A197-14B906834B56}">
      <dsp:nvSpPr>
        <dsp:cNvPr id="0" name=""/>
        <dsp:cNvSpPr/>
      </dsp:nvSpPr>
      <dsp:spPr>
        <a:xfrm>
          <a:off x="4414953" y="1623362"/>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C099856-236F-44D7-9BEE-5159BA922450}">
      <dsp:nvSpPr>
        <dsp:cNvPr id="0" name=""/>
        <dsp:cNvSpPr/>
      </dsp:nvSpPr>
      <dsp:spPr>
        <a:xfrm>
          <a:off x="5181466" y="1463081"/>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Human factors &amp; organizational readiness → </a:t>
          </a:r>
          <a:r>
            <a:rPr lang="en-IN" sz="1100" kern="1200"/>
            <a:t>Study employee perceptions, resistance, and change management strategies.</a:t>
          </a:r>
          <a:endParaRPr lang="en-US" sz="1100" kern="1200"/>
        </a:p>
      </dsp:txBody>
      <dsp:txXfrm>
        <a:off x="5181466" y="1463081"/>
        <a:ext cx="1799069" cy="763241"/>
      </dsp:txXfrm>
    </dsp:sp>
    <dsp:sp modelId="{FBCBB384-8EC1-4750-850F-793D4C864280}">
      <dsp:nvSpPr>
        <dsp:cNvPr id="0" name=""/>
        <dsp:cNvSpPr/>
      </dsp:nvSpPr>
      <dsp:spPr>
        <a:xfrm>
          <a:off x="1215335" y="2853522"/>
          <a:ext cx="763241" cy="763241"/>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84BA0D-8C43-45DB-B844-50958802568B}">
      <dsp:nvSpPr>
        <dsp:cNvPr id="0" name=""/>
        <dsp:cNvSpPr/>
      </dsp:nvSpPr>
      <dsp:spPr>
        <a:xfrm>
          <a:off x="1375616" y="3013802"/>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2AB619-E8EA-48FD-866A-4FEC7A680310}">
      <dsp:nvSpPr>
        <dsp:cNvPr id="0" name=""/>
        <dsp:cNvSpPr/>
      </dsp:nvSpPr>
      <dsp:spPr>
        <a:xfrm>
          <a:off x="2142128" y="2853522"/>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Scenario &amp; sensitivity analysis → </a:t>
          </a:r>
          <a:r>
            <a:rPr lang="en-IN" sz="1100" kern="1200"/>
            <a:t>Test ROI under different cost assumptions and adoption intensities.</a:t>
          </a:r>
          <a:endParaRPr lang="en-US" sz="1100" kern="1200"/>
        </a:p>
      </dsp:txBody>
      <dsp:txXfrm>
        <a:off x="2142128" y="2853522"/>
        <a:ext cx="1799069" cy="763241"/>
      </dsp:txXfrm>
    </dsp:sp>
    <dsp:sp modelId="{B400A5DB-8F45-4D9C-BEE9-6282FF3AF01B}">
      <dsp:nvSpPr>
        <dsp:cNvPr id="0" name=""/>
        <dsp:cNvSpPr/>
      </dsp:nvSpPr>
      <dsp:spPr>
        <a:xfrm>
          <a:off x="4254672" y="2853522"/>
          <a:ext cx="763241" cy="7632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5230F7-91AA-41F6-A176-00754E75CED8}">
      <dsp:nvSpPr>
        <dsp:cNvPr id="0" name=""/>
        <dsp:cNvSpPr/>
      </dsp:nvSpPr>
      <dsp:spPr>
        <a:xfrm>
          <a:off x="4414953" y="3013802"/>
          <a:ext cx="442680" cy="4426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65168B-4547-406C-93E8-28C6876705C8}">
      <dsp:nvSpPr>
        <dsp:cNvPr id="0" name=""/>
        <dsp:cNvSpPr/>
      </dsp:nvSpPr>
      <dsp:spPr>
        <a:xfrm>
          <a:off x="5181466" y="2853522"/>
          <a:ext cx="1799069" cy="763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Integration with enterprise systems → </a:t>
          </a:r>
          <a:r>
            <a:rPr lang="en-IN" sz="1100" kern="1200"/>
            <a:t>Explore embedding AI productivity metrics into ERP/BI platforms.</a:t>
          </a:r>
          <a:endParaRPr lang="en-US" sz="1100" kern="1200"/>
        </a:p>
      </dsp:txBody>
      <dsp:txXfrm>
        <a:off x="5181466" y="2853522"/>
        <a:ext cx="1799069" cy="76324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7B490A-8AF9-444A-879C-C75FEB69BA22}" type="datetimeFigureOut">
              <a:rPr lang="en-IN" smtClean="0"/>
              <a:t>2026-05-28</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39FE02-87E2-4607-9765-4112E4224654}" type="slidenum">
              <a:rPr lang="en-IN" smtClean="0"/>
              <a:t>‹#›</a:t>
            </a:fld>
            <a:endParaRPr lang="en-IN"/>
          </a:p>
        </p:txBody>
      </p:sp>
    </p:spTree>
    <p:extLst>
      <p:ext uri="{BB962C8B-B14F-4D97-AF65-F5344CB8AC3E}">
        <p14:creationId xmlns:p14="http://schemas.microsoft.com/office/powerpoint/2010/main" val="194796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Key financial risk indicators such as revenue volatility, margin trends, liquidity ratios, leverage metrics, and cash flow stability were identified using income statements, balance sheets, and cash flow statements.</a:t>
            </a:r>
            <a:endParaRPr lang="en-US" dirty="0"/>
          </a:p>
          <a:p>
            <a:endParaRPr lang="en-US" b="1" dirty="0"/>
          </a:p>
          <a:p>
            <a:r>
              <a:rPr lang="en-US" b="1" dirty="0"/>
              <a:t>Revenue Volatility Risk</a:t>
            </a:r>
          </a:p>
          <a:p>
            <a:r>
              <a:rPr lang="en-US" b="1" dirty="0"/>
              <a:t>Source:</a:t>
            </a:r>
            <a:r>
              <a:rPr lang="en-US" dirty="0"/>
              <a:t> Income Statement</a:t>
            </a:r>
            <a:br>
              <a:rPr lang="en-US" dirty="0"/>
            </a:br>
            <a:r>
              <a:rPr lang="en-US" b="1" dirty="0"/>
              <a:t>Indicators:</a:t>
            </a:r>
            <a:endParaRPr lang="en-US" dirty="0"/>
          </a:p>
          <a:p>
            <a:r>
              <a:rPr lang="en-US" dirty="0"/>
              <a:t>Year-on-year revenue growth rate</a:t>
            </a:r>
          </a:p>
          <a:p>
            <a:r>
              <a:rPr lang="en-US" dirty="0"/>
              <a:t>Revenue variability across multiple years</a:t>
            </a:r>
          </a:p>
          <a:p>
            <a:r>
              <a:rPr lang="en-US" b="1" dirty="0"/>
              <a:t>Risk Insight:</a:t>
            </a:r>
            <a:br>
              <a:rPr lang="en-US" dirty="0"/>
            </a:br>
            <a:r>
              <a:rPr lang="en-US" dirty="0"/>
              <a:t>High volatility indicates uncertainty in demand, pricing pressure, or unstable digital investment returns.</a:t>
            </a:r>
          </a:p>
          <a:p>
            <a:endParaRPr lang="en-IN" dirty="0"/>
          </a:p>
          <a:p>
            <a:r>
              <a:rPr lang="en-US" b="1" dirty="0"/>
              <a:t>Margin Pressure Risk</a:t>
            </a:r>
          </a:p>
          <a:p>
            <a:r>
              <a:rPr lang="en-US" b="1" dirty="0"/>
              <a:t>Source:</a:t>
            </a:r>
            <a:r>
              <a:rPr lang="en-US" dirty="0"/>
              <a:t> Income Statement</a:t>
            </a:r>
            <a:br>
              <a:rPr lang="en-US" dirty="0"/>
            </a:br>
            <a:r>
              <a:rPr lang="en-US" b="1" dirty="0"/>
              <a:t>Indicators:</a:t>
            </a:r>
            <a:endParaRPr lang="en-US" dirty="0"/>
          </a:p>
          <a:p>
            <a:r>
              <a:rPr lang="en-US" dirty="0"/>
              <a:t>Operating margin (%)</a:t>
            </a:r>
          </a:p>
          <a:p>
            <a:r>
              <a:rPr lang="en-US" dirty="0"/>
              <a:t>Net profit margin (%)</a:t>
            </a:r>
          </a:p>
          <a:p>
            <a:r>
              <a:rPr lang="en-US" b="1" dirty="0"/>
              <a:t>Risk Insight:</a:t>
            </a:r>
            <a:br>
              <a:rPr lang="en-US" dirty="0"/>
            </a:br>
            <a:r>
              <a:rPr lang="en-US" dirty="0"/>
              <a:t>Declining margins suggest rising costs, inefficient technology investments, or pricing competition.</a:t>
            </a:r>
          </a:p>
          <a:p>
            <a:r>
              <a:rPr lang="en-US" b="1" dirty="0"/>
              <a:t>Liquidity Risk</a:t>
            </a:r>
          </a:p>
          <a:p>
            <a:r>
              <a:rPr lang="en-US" b="1" dirty="0"/>
              <a:t>Source:</a:t>
            </a:r>
            <a:r>
              <a:rPr lang="en-US" dirty="0"/>
              <a:t> Balance Sheet</a:t>
            </a:r>
            <a:br>
              <a:rPr lang="en-US" dirty="0"/>
            </a:br>
            <a:r>
              <a:rPr lang="en-US" b="1" dirty="0"/>
              <a:t>Indicators:</a:t>
            </a:r>
            <a:endParaRPr lang="en-US" dirty="0"/>
          </a:p>
          <a:p>
            <a:r>
              <a:rPr lang="en-US" dirty="0"/>
              <a:t>Current ratio</a:t>
            </a:r>
          </a:p>
          <a:p>
            <a:r>
              <a:rPr lang="en-US" dirty="0"/>
              <a:t>Quick ratio</a:t>
            </a:r>
          </a:p>
          <a:p>
            <a:r>
              <a:rPr lang="en-US" b="1" dirty="0"/>
              <a:t>Risk Insight:</a:t>
            </a:r>
            <a:br>
              <a:rPr lang="en-US" dirty="0"/>
            </a:br>
            <a:r>
              <a:rPr lang="en-US" dirty="0"/>
              <a:t>Weak liquidity ratios reflect reduced ability to meet short-term obligations.</a:t>
            </a:r>
          </a:p>
          <a:p>
            <a:endParaRPr lang="en-IN" dirty="0"/>
          </a:p>
        </p:txBody>
      </p:sp>
      <p:sp>
        <p:nvSpPr>
          <p:cNvPr id="4" name="Slide Number Placeholder 3"/>
          <p:cNvSpPr>
            <a:spLocks noGrp="1"/>
          </p:cNvSpPr>
          <p:nvPr>
            <p:ph type="sldNum" sz="quarter" idx="5"/>
          </p:nvPr>
        </p:nvSpPr>
        <p:spPr/>
        <p:txBody>
          <a:bodyPr/>
          <a:lstStyle/>
          <a:p>
            <a:fld id="{8739FE02-87E2-4607-9765-4112E4224654}" type="slidenum">
              <a:rPr lang="en-IN" smtClean="0"/>
              <a:t>5</a:t>
            </a:fld>
            <a:endParaRPr lang="en-IN"/>
          </a:p>
        </p:txBody>
      </p:sp>
    </p:spTree>
    <p:extLst>
      <p:ext uri="{BB962C8B-B14F-4D97-AF65-F5344CB8AC3E}">
        <p14:creationId xmlns:p14="http://schemas.microsoft.com/office/powerpoint/2010/main" val="3652069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descr="Financial graphs on a dark display">
            <a:extLst>
              <a:ext uri="{FF2B5EF4-FFF2-40B4-BE49-F238E27FC236}">
                <a16:creationId xmlns:a16="http://schemas.microsoft.com/office/drawing/2014/main" id="{5A1C818E-3C10-80B0-E4AA-C0E72C19A3B8}"/>
              </a:ext>
            </a:extLst>
          </p:cNvPr>
          <p:cNvPicPr>
            <a:picLocks noChangeAspect="1"/>
          </p:cNvPicPr>
          <p:nvPr/>
        </p:nvPicPr>
        <p:blipFill>
          <a:blip r:embed="rId2"/>
          <a:srcRect l="5607" r="11414" b="-2"/>
          <a:stretch>
            <a:fillRect/>
          </a:stretch>
        </p:blipFill>
        <p:spPr>
          <a:xfrm>
            <a:off x="20" y="-7619"/>
            <a:ext cx="9143979" cy="6887364"/>
          </a:xfrm>
          <a:prstGeom prst="rect">
            <a:avLst/>
          </a:prstGeom>
        </p:spPr>
      </p:pic>
      <p:sp>
        <p:nvSpPr>
          <p:cNvPr id="17" name="Rectangle 16">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539219" y="271092"/>
            <a:ext cx="4065561" cy="9144000"/>
          </a:xfrm>
          <a:prstGeom prst="rect">
            <a:avLst/>
          </a:prstGeom>
          <a:gradFill flip="none" rotWithShape="1">
            <a:gsLst>
              <a:gs pos="17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92CB243-67C5-E304-31A0-4D7D607BA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14594" y="623125"/>
            <a:ext cx="3067943" cy="1806455"/>
          </a:xfrm>
          <a:prstGeom prst="rect">
            <a:avLst/>
          </a:prstGeom>
          <a:gradFill flip="none" rotWithShape="1">
            <a:gsLst>
              <a:gs pos="0">
                <a:schemeClr val="accent2"/>
              </a:gs>
              <a:gs pos="51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11A95761-C93E-94BF-087D-D2A823789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794" y="4172881"/>
            <a:ext cx="5366057" cy="2702991"/>
          </a:xfrm>
          <a:prstGeom prst="rect">
            <a:avLst/>
          </a:prstGeom>
          <a:gradFill flip="none" rotWithShape="1">
            <a:gsLst>
              <a:gs pos="0">
                <a:schemeClr val="accent5"/>
              </a:gs>
              <a:gs pos="52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p:cNvSpPr>
            <a:spLocks noGrp="1"/>
          </p:cNvSpPr>
          <p:nvPr>
            <p:ph type="ctrTitle"/>
          </p:nvPr>
        </p:nvSpPr>
        <p:spPr>
          <a:xfrm>
            <a:off x="924232" y="201298"/>
            <a:ext cx="7438593" cy="2839273"/>
          </a:xfrm>
        </p:spPr>
        <p:txBody>
          <a:bodyPr>
            <a:normAutofit/>
          </a:bodyPr>
          <a:lstStyle/>
          <a:p>
            <a:pPr algn="l"/>
            <a:r>
              <a:rPr lang="en-US" sz="4000" dirty="0">
                <a:solidFill>
                  <a:srgbClr val="FFFFFF"/>
                </a:solidFill>
              </a:rPr>
              <a:t>Analytics for Competitive Advantage: Measuring Productivity Improvements from Generative AI</a:t>
            </a:r>
          </a:p>
        </p:txBody>
      </p:sp>
      <p:sp>
        <p:nvSpPr>
          <p:cNvPr id="3" name="Subtitle 2"/>
          <p:cNvSpPr>
            <a:spLocks noGrp="1"/>
          </p:cNvSpPr>
          <p:nvPr>
            <p:ph type="subTitle" idx="1"/>
          </p:nvPr>
        </p:nvSpPr>
        <p:spPr>
          <a:xfrm>
            <a:off x="644271" y="4873600"/>
            <a:ext cx="3636783" cy="1183602"/>
          </a:xfrm>
        </p:spPr>
        <p:txBody>
          <a:bodyPr>
            <a:normAutofit/>
          </a:bodyPr>
          <a:lstStyle/>
          <a:p>
            <a:pPr algn="l"/>
            <a:r>
              <a:rPr lang="en-US" sz="1700" dirty="0">
                <a:solidFill>
                  <a:srgbClr val="FFFFFF"/>
                </a:solidFill>
              </a:rPr>
              <a:t>Project Presentation</a:t>
            </a:r>
          </a:p>
          <a:p>
            <a:pPr algn="l"/>
            <a:r>
              <a:rPr lang="en-US" sz="1700" dirty="0">
                <a:solidFill>
                  <a:srgbClr val="FFFFFF"/>
                </a:solidFill>
              </a:rPr>
              <a:t>MBA Business Analytics</a:t>
            </a:r>
          </a:p>
        </p:txBody>
      </p:sp>
      <p:sp>
        <p:nvSpPr>
          <p:cNvPr id="15" name="Rectangle 14">
            <a:extLst>
              <a:ext uri="{FF2B5EF4-FFF2-40B4-BE49-F238E27FC236}">
                <a16:creationId xmlns:a16="http://schemas.microsoft.com/office/drawing/2014/main" id="{6E63D1A5-FD49-4756-F62E-786C34E6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05052" y="-7619"/>
            <a:ext cx="746740" cy="6918113"/>
          </a:xfrm>
          <a:prstGeom prst="rect">
            <a:avLst/>
          </a:prstGeom>
          <a:gradFill flip="none" rotWithShape="1">
            <a:gsLst>
              <a:gs pos="0">
                <a:schemeClr val="accent5">
                  <a:alpha val="68000"/>
                </a:schemeClr>
              </a:gs>
              <a:gs pos="37000">
                <a:schemeClr val="accent5">
                  <a:alpha val="0"/>
                </a:schemeClr>
              </a:gs>
            </a:gsLst>
            <a:lin ang="10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0138EC-1550-9705-7832-CC6A6C1AFCF5}"/>
              </a:ext>
            </a:extLst>
          </p:cNvPr>
          <p:cNvSpPr>
            <a:spLocks noGrp="1"/>
          </p:cNvSpPr>
          <p:nvPr>
            <p:ph type="title"/>
          </p:nvPr>
        </p:nvSpPr>
        <p:spPr>
          <a:xfrm>
            <a:off x="1028699" y="294538"/>
            <a:ext cx="7421963" cy="1033669"/>
          </a:xfrm>
        </p:spPr>
        <p:txBody>
          <a:bodyPr>
            <a:normAutofit/>
          </a:bodyPr>
          <a:lstStyle/>
          <a:p>
            <a:r>
              <a:rPr lang="en-US" sz="3500" dirty="0">
                <a:solidFill>
                  <a:srgbClr val="FFFFFF"/>
                </a:solidFill>
              </a:rPr>
              <a:t>Background</a:t>
            </a:r>
            <a:endParaRPr lang="en-IN" sz="3500" dirty="0">
              <a:solidFill>
                <a:srgbClr val="FFFFFF"/>
              </a:solidFill>
            </a:endParaRPr>
          </a:p>
        </p:txBody>
      </p:sp>
      <p:graphicFrame>
        <p:nvGraphicFramePr>
          <p:cNvPr id="35" name="Content Placeholder 2">
            <a:extLst>
              <a:ext uri="{FF2B5EF4-FFF2-40B4-BE49-F238E27FC236}">
                <a16:creationId xmlns:a16="http://schemas.microsoft.com/office/drawing/2014/main" id="{3E1A2219-F777-0887-8CD1-1FFF3490A843}"/>
              </a:ext>
            </a:extLst>
          </p:cNvPr>
          <p:cNvGraphicFramePr>
            <a:graphicFrameLocks noGrp="1"/>
          </p:cNvGraphicFramePr>
          <p:nvPr>
            <p:ph idx="1"/>
            <p:extLst>
              <p:ext uri="{D42A27DB-BD31-4B8C-83A1-F6EECF244321}">
                <p14:modId xmlns:p14="http://schemas.microsoft.com/office/powerpoint/2010/main" val="4119337801"/>
              </p:ext>
            </p:extLst>
          </p:nvPr>
        </p:nvGraphicFramePr>
        <p:xfrm>
          <a:off x="1028699" y="1885279"/>
          <a:ext cx="7293023" cy="411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342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IN" sz="4500"/>
              <a:t>Objectives &amp; Scope</a:t>
            </a:r>
          </a:p>
        </p:txBody>
      </p:sp>
      <p:graphicFrame>
        <p:nvGraphicFramePr>
          <p:cNvPr id="10" name="Content Placeholder 2">
            <a:extLst>
              <a:ext uri="{FF2B5EF4-FFF2-40B4-BE49-F238E27FC236}">
                <a16:creationId xmlns:a16="http://schemas.microsoft.com/office/drawing/2014/main" id="{54AEDE90-1E9B-8206-040D-A56CB9BCA0BA}"/>
              </a:ext>
            </a:extLst>
          </p:cNvPr>
          <p:cNvGraphicFramePr>
            <a:graphicFrameLocks noGrp="1"/>
          </p:cNvGraphicFramePr>
          <p:nvPr>
            <p:ph idx="1"/>
            <p:extLst>
              <p:ext uri="{D42A27DB-BD31-4B8C-83A1-F6EECF244321}">
                <p14:modId xmlns:p14="http://schemas.microsoft.com/office/powerpoint/2010/main" val="1170376595"/>
              </p:ext>
            </p:extLst>
          </p:nvPr>
        </p:nvGraphicFramePr>
        <p:xfrm>
          <a:off x="628650" y="1543665"/>
          <a:ext cx="7886700" cy="5093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5712"/>
            <a:ext cx="7421963" cy="1033669"/>
          </a:xfrm>
        </p:spPr>
        <p:txBody>
          <a:bodyPr>
            <a:normAutofit/>
          </a:bodyPr>
          <a:lstStyle/>
          <a:p>
            <a:r>
              <a:rPr lang="en-IN" sz="3600" dirty="0">
                <a:solidFill>
                  <a:schemeClr val="bg1"/>
                </a:solidFill>
              </a:rPr>
              <a:t>Literature Review – Key Themes</a:t>
            </a:r>
            <a:endParaRPr lang="en-IN" sz="3500" dirty="0">
              <a:solidFill>
                <a:schemeClr val="bg1"/>
              </a:solidFill>
            </a:endParaRPr>
          </a:p>
        </p:txBody>
      </p:sp>
      <p:graphicFrame>
        <p:nvGraphicFramePr>
          <p:cNvPr id="46" name="Rectangle 3">
            <a:extLst>
              <a:ext uri="{FF2B5EF4-FFF2-40B4-BE49-F238E27FC236}">
                <a16:creationId xmlns:a16="http://schemas.microsoft.com/office/drawing/2014/main" id="{ECCC8897-7431-0D0D-0BEF-FA34E8198052}"/>
              </a:ext>
            </a:extLst>
          </p:cNvPr>
          <p:cNvGraphicFramePr>
            <a:graphicFrameLocks noGrp="1"/>
          </p:cNvGraphicFramePr>
          <p:nvPr>
            <p:ph idx="1"/>
          </p:nvPr>
        </p:nvGraphicFramePr>
        <p:xfrm>
          <a:off x="723121" y="2492464"/>
          <a:ext cx="7688211" cy="29033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lvl="0">
              <a:lnSpc>
                <a:spcPct val="100000"/>
              </a:lnSpc>
            </a:pPr>
            <a:r>
              <a:rPr lang="en-IN" sz="3600" b="1" dirty="0">
                <a:solidFill>
                  <a:schemeClr val="bg1"/>
                </a:solidFill>
              </a:rPr>
              <a:t>Literature Review – Research Gaps</a:t>
            </a:r>
          </a:p>
        </p:txBody>
      </p:sp>
      <p:graphicFrame>
        <p:nvGraphicFramePr>
          <p:cNvPr id="5" name="Content Placeholder 2">
            <a:extLst>
              <a:ext uri="{FF2B5EF4-FFF2-40B4-BE49-F238E27FC236}">
                <a16:creationId xmlns:a16="http://schemas.microsoft.com/office/drawing/2014/main" id="{0186AD15-2862-DC9E-95EC-377815AE6D08}"/>
              </a:ext>
            </a:extLst>
          </p:cNvPr>
          <p:cNvGraphicFramePr>
            <a:graphicFrameLocks noGrp="1"/>
          </p:cNvGraphicFramePr>
          <p:nvPr>
            <p:ph idx="1"/>
            <p:extLst>
              <p:ext uri="{D42A27DB-BD31-4B8C-83A1-F6EECF244321}">
                <p14:modId xmlns:p14="http://schemas.microsoft.com/office/powerpoint/2010/main" val="4149857407"/>
              </p:ext>
            </p:extLst>
          </p:nvPr>
        </p:nvGraphicFramePr>
        <p:xfrm>
          <a:off x="483042" y="1750143"/>
          <a:ext cx="8195871" cy="4555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r>
              <a:rPr lang="en-IN" sz="3500" dirty="0">
                <a:solidFill>
                  <a:srgbClr val="FFFFFF"/>
                </a:solidFill>
              </a:rPr>
              <a:t>Research Methodology – Framework &amp; Approach</a:t>
            </a:r>
          </a:p>
        </p:txBody>
      </p:sp>
      <p:sp>
        <p:nvSpPr>
          <p:cNvPr id="7" name="Rectangle 2">
            <a:extLst>
              <a:ext uri="{FF2B5EF4-FFF2-40B4-BE49-F238E27FC236}">
                <a16:creationId xmlns:a16="http://schemas.microsoft.com/office/drawing/2014/main" id="{05ADF5D8-936A-C183-8E05-0CC3D07DEE6C}"/>
              </a:ext>
            </a:extLst>
          </p:cNvPr>
          <p:cNvSpPr>
            <a:spLocks noGrp="1" noChangeArrowheads="1"/>
          </p:cNvSpPr>
          <p:nvPr>
            <p:ph idx="1"/>
          </p:nvPr>
        </p:nvSpPr>
        <p:spPr bwMode="auto">
          <a:xfrm>
            <a:off x="422787" y="1601984"/>
            <a:ext cx="7934633" cy="4909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Conceptual Framework:</a:t>
            </a:r>
            <a:r>
              <a:rPr kumimoji="0" lang="en-US" altLang="en-US" sz="1600" b="0" i="0" u="none" strike="noStrike" cap="none" normalizeH="0" baseline="0" dirty="0">
                <a:ln>
                  <a:noFill/>
                </a:ln>
                <a:solidFill>
                  <a:schemeClr val="tx1"/>
                </a:solidFill>
                <a:effectLst/>
                <a:latin typeface="Arial" panose="020B0604020202020204" pitchFamily="34" charset="0"/>
              </a:rPr>
              <a:t> Generative AI Usage → Productivity Improvement → Competitive Advantage.</a:t>
            </a:r>
          </a:p>
          <a:p>
            <a:pPr marL="0" marR="0" lvl="0" indent="0" algn="l" defTabSz="914400" rtl="0" eaLnBrk="0" fontAlgn="base" latinLnBrk="0" hangingPunct="0">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Key Variables: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Independent:</a:t>
            </a:r>
            <a:r>
              <a:rPr kumimoji="0" lang="en-US" altLang="en-US" sz="1600" b="0" i="0" u="none" strike="noStrike" cap="none" normalizeH="0" baseline="0" dirty="0">
                <a:ln>
                  <a:noFill/>
                </a:ln>
                <a:solidFill>
                  <a:schemeClr val="tx1"/>
                </a:solidFill>
                <a:effectLst/>
                <a:latin typeface="Arial" panose="020B0604020202020204" pitchFamily="34" charset="0"/>
              </a:rPr>
              <a:t> AI usage intensity (frequency and integration).</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Dependent:</a:t>
            </a:r>
            <a:r>
              <a:rPr kumimoji="0" lang="en-US" altLang="en-US" sz="1600" b="0" i="0" u="none" strike="noStrike" cap="none" normalizeH="0" baseline="0" dirty="0">
                <a:ln>
                  <a:noFill/>
                </a:ln>
                <a:solidFill>
                  <a:schemeClr val="tx1"/>
                </a:solidFill>
                <a:effectLst/>
                <a:latin typeface="Arial" panose="020B0604020202020204" pitchFamily="34" charset="0"/>
              </a:rPr>
              <a:t> Employee productivity (Time efficiency, Work efficiency, Output quality).</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Outcome:</a:t>
            </a:r>
            <a:r>
              <a:rPr kumimoji="0" lang="en-US" altLang="en-US" sz="1600" b="0" i="0" u="none" strike="noStrike" cap="none" normalizeH="0" baseline="0" dirty="0">
                <a:ln>
                  <a:noFill/>
                </a:ln>
                <a:solidFill>
                  <a:schemeClr val="tx1"/>
                </a:solidFill>
                <a:effectLst/>
                <a:latin typeface="Arial" panose="020B0604020202020204" pitchFamily="34" charset="0"/>
              </a:rPr>
              <a:t> Competitive advantage (faster delivery, better decisions).</a:t>
            </a:r>
            <a:endParaRPr lang="en-US" altLang="en-US" sz="1600" dirty="0">
              <a:latin typeface="Arial" panose="020B0604020202020204" pitchFamily="34" charset="0"/>
            </a:endParaRPr>
          </a:p>
          <a:p>
            <a:pPr marL="57150" indent="0" defTabSz="914400" eaLnBrk="0" fontAlgn="base" hangingPunct="0">
              <a:spcBef>
                <a:spcPct val="0"/>
              </a:spcBef>
              <a:spcAft>
                <a:spcPct val="0"/>
              </a:spcAft>
              <a:buNone/>
            </a:pPr>
            <a:endParaRPr lang="en-US" altLang="en-US" sz="2000" dirty="0">
              <a:latin typeface="Arial" panose="020B0604020202020204" pitchFamily="34" charset="0"/>
            </a:endParaRPr>
          </a:p>
          <a:p>
            <a:pPr marL="57150" indent="0" defTabSz="914400" eaLnBrk="0" fontAlgn="base" hangingPunct="0">
              <a:spcBef>
                <a:spcPct val="0"/>
              </a:spcBef>
              <a:spcAft>
                <a:spcPct val="0"/>
              </a:spcAft>
              <a:buNone/>
            </a:pPr>
            <a:r>
              <a:rPr lang="en-US" altLang="en-US" sz="1600" b="1" dirty="0">
                <a:latin typeface="Arial" panose="020B0604020202020204" pitchFamily="34" charset="0"/>
              </a:rPr>
              <a:t>Research Methodology – Analytical Approach</a:t>
            </a:r>
          </a:p>
          <a:p>
            <a:pPr marL="457200" lvl="1" indent="0" defTabSz="914400" eaLnBrk="0" fontAlgn="base" hangingPunct="0">
              <a:lnSpc>
                <a:spcPct val="150000"/>
              </a:lnSpc>
              <a:spcBef>
                <a:spcPct val="0"/>
              </a:spcBef>
              <a:spcAft>
                <a:spcPct val="0"/>
              </a:spcAft>
              <a:buFontTx/>
              <a:buChar char="•"/>
            </a:pPr>
            <a:r>
              <a:rPr lang="en-US" altLang="en-US" sz="1600" b="1" dirty="0">
                <a:latin typeface="Arial" panose="020B0604020202020204" pitchFamily="34" charset="0"/>
              </a:rPr>
              <a:t>Quantitative Research: </a:t>
            </a:r>
            <a:r>
              <a:rPr lang="en-US" altLang="en-US" sz="1600" dirty="0">
                <a:latin typeface="Arial" panose="020B0604020202020204" pitchFamily="34" charset="0"/>
              </a:rPr>
              <a:t>Survey‑based approach targeting IT professionals</a:t>
            </a:r>
          </a:p>
          <a:p>
            <a:pPr marL="457200" lvl="1" indent="0" defTabSz="914400" eaLnBrk="0" fontAlgn="base" hangingPunct="0">
              <a:lnSpc>
                <a:spcPct val="150000"/>
              </a:lnSpc>
              <a:spcBef>
                <a:spcPct val="0"/>
              </a:spcBef>
              <a:spcAft>
                <a:spcPct val="0"/>
              </a:spcAft>
              <a:buFontTx/>
              <a:buChar char="•"/>
            </a:pPr>
            <a:r>
              <a:rPr lang="en-US" altLang="en-US" sz="1600" b="1" dirty="0">
                <a:latin typeface="Arial" panose="020B0604020202020204" pitchFamily="34" charset="0"/>
              </a:rPr>
              <a:t>Descriptive Analytics: </a:t>
            </a:r>
            <a:r>
              <a:rPr lang="en-US" altLang="en-US" sz="1600" dirty="0">
                <a:latin typeface="Arial" panose="020B0604020202020204" pitchFamily="34" charset="0"/>
              </a:rPr>
              <a:t>Summarize metrics and identify adoption patterns</a:t>
            </a:r>
          </a:p>
          <a:p>
            <a:pPr marL="457200" lvl="1" indent="0" defTabSz="914400" eaLnBrk="0" fontAlgn="base" hangingPunct="0">
              <a:lnSpc>
                <a:spcPct val="150000"/>
              </a:lnSpc>
              <a:spcBef>
                <a:spcPct val="0"/>
              </a:spcBef>
              <a:spcAft>
                <a:spcPct val="0"/>
              </a:spcAft>
              <a:buFontTx/>
              <a:buChar char="•"/>
            </a:pPr>
            <a:r>
              <a:rPr lang="en-US" altLang="en-US" sz="1600" b="1" dirty="0">
                <a:latin typeface="Arial" panose="020B0604020202020204" pitchFamily="34" charset="0"/>
              </a:rPr>
              <a:t>Comparative Analysis: </a:t>
            </a:r>
            <a:r>
              <a:rPr lang="en-US" altLang="en-US" sz="1600" dirty="0">
                <a:latin typeface="Arial" panose="020B0604020202020204" pitchFamily="34" charset="0"/>
              </a:rPr>
              <a:t>Compare AI‑assisted vs. non‑AI workflows</a:t>
            </a:r>
          </a:p>
          <a:p>
            <a:pPr marL="457200" lvl="1" indent="0" defTabSz="914400" eaLnBrk="0" fontAlgn="base" hangingPunct="0">
              <a:lnSpc>
                <a:spcPct val="150000"/>
              </a:lnSpc>
              <a:spcBef>
                <a:spcPct val="0"/>
              </a:spcBef>
              <a:spcAft>
                <a:spcPct val="0"/>
              </a:spcAft>
              <a:buFontTx/>
              <a:buChar char="•"/>
            </a:pPr>
            <a:r>
              <a:rPr lang="en-US" altLang="en-US" sz="1600" b="1" dirty="0">
                <a:latin typeface="Arial" panose="020B0604020202020204" pitchFamily="34" charset="0"/>
              </a:rPr>
              <a:t>Statistical Modeling: </a:t>
            </a:r>
            <a:r>
              <a:rPr lang="en-US" altLang="en-US" sz="1600" dirty="0">
                <a:latin typeface="Arial" panose="020B0604020202020204" pitchFamily="34" charset="0"/>
              </a:rPr>
              <a:t>Regression, ANOVA, and t‑tests to evaluate relationships between AI usage and productivity</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655298-2B42-75B4-4A72-C60DE9F0972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7EA0E3-9F00-B37D-DA9F-AFCEE342FE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FE6B9F-8224-097C-E354-9EF045CA7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85EE9CA-97FA-58FD-4A7E-6DBEE91C9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1060285-B5DF-8EE2-BB2D-F14578157D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122ED1-E6AC-0AE7-5878-59E7C9BC526F}"/>
              </a:ext>
            </a:extLst>
          </p:cNvPr>
          <p:cNvSpPr>
            <a:spLocks noGrp="1"/>
          </p:cNvSpPr>
          <p:nvPr>
            <p:ph type="title"/>
          </p:nvPr>
        </p:nvSpPr>
        <p:spPr>
          <a:xfrm>
            <a:off x="1028697" y="348865"/>
            <a:ext cx="7533018" cy="877729"/>
          </a:xfrm>
        </p:spPr>
        <p:txBody>
          <a:bodyPr anchor="ctr">
            <a:normAutofit/>
          </a:bodyPr>
          <a:lstStyle/>
          <a:p>
            <a:r>
              <a:rPr lang="en-IN" sz="3500">
                <a:solidFill>
                  <a:srgbClr val="FFFFFF"/>
                </a:solidFill>
              </a:rPr>
              <a:t>Data Collection &amp; Progress</a:t>
            </a:r>
            <a:endParaRPr lang="en-IN" sz="3500" dirty="0">
              <a:solidFill>
                <a:srgbClr val="FFFFFF"/>
              </a:solidFill>
            </a:endParaRPr>
          </a:p>
        </p:txBody>
      </p:sp>
      <p:sp>
        <p:nvSpPr>
          <p:cNvPr id="7" name="Rectangle 2">
            <a:extLst>
              <a:ext uri="{FF2B5EF4-FFF2-40B4-BE49-F238E27FC236}">
                <a16:creationId xmlns:a16="http://schemas.microsoft.com/office/drawing/2014/main" id="{13015B73-6D4B-6397-E74A-D02CBFB944D3}"/>
              </a:ext>
            </a:extLst>
          </p:cNvPr>
          <p:cNvSpPr>
            <a:spLocks noGrp="1" noChangeArrowheads="1"/>
          </p:cNvSpPr>
          <p:nvPr>
            <p:ph idx="1"/>
          </p:nvPr>
        </p:nvSpPr>
        <p:spPr bwMode="auto">
          <a:xfrm>
            <a:off x="314632" y="1717071"/>
            <a:ext cx="8514736" cy="424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Data Source: </a:t>
            </a:r>
            <a:r>
              <a:rPr kumimoji="0" lang="en-US" altLang="en-US" sz="1600" i="0" u="none" strike="noStrike" cap="none" normalizeH="0" baseline="0" dirty="0">
                <a:ln>
                  <a:noFill/>
                </a:ln>
                <a:solidFill>
                  <a:schemeClr val="tx1"/>
                </a:solidFill>
                <a:effectLst/>
                <a:latin typeface="Arial" panose="020B0604020202020204" pitchFamily="34" charset="0"/>
              </a:rPr>
              <a:t>Primary data collected via structured surveys distributed through professional networks like LinkedIn</a:t>
            </a:r>
            <a:r>
              <a:rPr kumimoji="0" lang="en-US" altLang="en-US" sz="1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spcBef>
                <a:spcPct val="0"/>
              </a:spcBef>
              <a:spcAft>
                <a:spcPct val="0"/>
              </a:spcAft>
              <a:buClrTx/>
              <a:buSzTx/>
              <a:buNone/>
              <a:tabLst/>
            </a:pPr>
            <a:endParaRPr lang="en-US" altLang="en-US" sz="1600" b="1" dirty="0">
              <a:latin typeface="Arial" panose="020B0604020202020204" pitchFamily="34" charset="0"/>
            </a:endParaRPr>
          </a:p>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Survey Design: </a:t>
            </a:r>
            <a:r>
              <a:rPr kumimoji="0" lang="en-US" altLang="en-US" sz="1600" i="0" u="none" strike="noStrike" cap="none" normalizeH="0" baseline="0" dirty="0">
                <a:ln>
                  <a:noFill/>
                </a:ln>
                <a:solidFill>
                  <a:schemeClr val="tx1"/>
                </a:solidFill>
                <a:effectLst/>
                <a:latin typeface="Arial" panose="020B0604020202020204" pitchFamily="34" charset="0"/>
              </a:rPr>
              <a:t>Segregated for both AI users and non-users to establish a control benchmark.</a:t>
            </a:r>
          </a:p>
          <a:p>
            <a:pPr marL="0" marR="0" lvl="0" indent="0" algn="l" defTabSz="914400" rtl="0" eaLnBrk="0" fontAlgn="base" latinLnBrk="0" hangingPunct="0">
              <a:spcBef>
                <a:spcPct val="0"/>
              </a:spcBef>
              <a:spcAft>
                <a:spcPct val="0"/>
              </a:spcAft>
              <a:buClrTx/>
              <a:buSzTx/>
              <a:buNone/>
              <a:tabLst/>
            </a:pPr>
            <a:endParaRPr lang="en-US" altLang="en-US" sz="1600" b="1" dirty="0">
              <a:latin typeface="Arial" panose="020B0604020202020204" pitchFamily="34" charset="0"/>
            </a:endParaRPr>
          </a:p>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Target Metrics: </a:t>
            </a:r>
            <a:r>
              <a:rPr kumimoji="0" lang="en-US" altLang="en-US" sz="1600" i="0" u="none" strike="noStrike" cap="none" normalizeH="0" baseline="0" dirty="0">
                <a:ln>
                  <a:noFill/>
                </a:ln>
                <a:solidFill>
                  <a:schemeClr val="tx1"/>
                </a:solidFill>
                <a:effectLst/>
                <a:latin typeface="Arial" panose="020B0604020202020204" pitchFamily="34" charset="0"/>
              </a:rPr>
              <a:t>Captures task completion time (pre- vs. post-AI), reduction in manual effort, and accuracy improvements</a:t>
            </a:r>
          </a:p>
          <a:p>
            <a:pPr marL="0" marR="0" lvl="0" indent="0" algn="l" defTabSz="914400" rtl="0" eaLnBrk="0" fontAlgn="base" latinLnBrk="0" hangingPunct="0">
              <a:spcBef>
                <a:spcPct val="0"/>
              </a:spcBef>
              <a:spcAft>
                <a:spcPct val="0"/>
              </a:spcAft>
              <a:buClrTx/>
              <a:buSzTx/>
              <a:buNone/>
              <a:tabLst/>
            </a:pPr>
            <a:endParaRPr lang="en-US" altLang="en-US" sz="1600" dirty="0">
              <a:latin typeface="Arial" panose="020B0604020202020204" pitchFamily="34" charset="0"/>
            </a:endParaRPr>
          </a:p>
          <a:p>
            <a:pPr marL="0" marR="0" lvl="0" indent="0" algn="l" defTabSz="914400" rtl="0" eaLnBrk="0" fontAlgn="base" latinLnBrk="0" hangingPunct="0">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Data Sources for Analysis- </a:t>
            </a:r>
            <a:endParaRPr kumimoji="0" lang="en-US" altLang="en-US" sz="1600" i="0" u="none" strike="noStrike" cap="none" normalizeH="0" baseline="0" dirty="0">
              <a:ln>
                <a:noFill/>
              </a:ln>
              <a:solidFill>
                <a:schemeClr val="tx1"/>
              </a:solidFill>
              <a:effectLst/>
              <a:latin typeface="Arial" panose="020B0604020202020204" pitchFamily="34" charset="0"/>
            </a:endParaRPr>
          </a:p>
          <a:p>
            <a:pPr>
              <a:lnSpc>
                <a:spcPct val="150000"/>
              </a:lnSpc>
            </a:pPr>
            <a:r>
              <a:rPr lang="en-US" sz="1800" b="1" dirty="0"/>
              <a:t>Assessment Responses:</a:t>
            </a:r>
            <a:r>
              <a:rPr lang="en-US" sz="1800" dirty="0"/>
              <a:t> Raw survey data</a:t>
            </a:r>
          </a:p>
          <a:p>
            <a:pPr>
              <a:lnSpc>
                <a:spcPct val="150000"/>
              </a:lnSpc>
            </a:pPr>
            <a:r>
              <a:rPr lang="en-US" sz="1800" b="1" dirty="0"/>
              <a:t>Productivity Gain:</a:t>
            </a:r>
            <a:r>
              <a:rPr lang="en-US" sz="1800" dirty="0"/>
              <a:t> Cost &amp; savings calculations</a:t>
            </a:r>
          </a:p>
          <a:p>
            <a:pPr>
              <a:lnSpc>
                <a:spcPct val="150000"/>
              </a:lnSpc>
            </a:pPr>
            <a:r>
              <a:rPr lang="en-US" sz="1800" b="1" dirty="0"/>
              <a:t>Python Output:</a:t>
            </a:r>
            <a:r>
              <a:rPr lang="en-US" sz="1800" dirty="0"/>
              <a:t> Statistical results &amp; productivity index</a:t>
            </a:r>
          </a:p>
          <a:p>
            <a:pPr marL="0" marR="0" lvl="0" indent="0" algn="l" defTabSz="914400" rtl="0" eaLnBrk="0" fontAlgn="base" latinLnBrk="0" hangingPunct="0">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3854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982C27-106C-D05E-C5F4-1E6ED659175D}"/>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94F88D-FE3A-4512-DA65-16CEEBAAC3BE}"/>
              </a:ext>
            </a:extLst>
          </p:cNvPr>
          <p:cNvSpPr>
            <a:spLocks noGrp="1"/>
          </p:cNvSpPr>
          <p:nvPr>
            <p:ph type="title"/>
          </p:nvPr>
        </p:nvSpPr>
        <p:spPr>
          <a:xfrm>
            <a:off x="1028699" y="294538"/>
            <a:ext cx="7421963" cy="1033669"/>
          </a:xfrm>
        </p:spPr>
        <p:txBody>
          <a:bodyPr>
            <a:normAutofit/>
          </a:bodyPr>
          <a:lstStyle/>
          <a:p>
            <a:r>
              <a:rPr lang="en-IN" sz="3500" dirty="0">
                <a:solidFill>
                  <a:srgbClr val="FFFFFF"/>
                </a:solidFill>
              </a:rPr>
              <a:t>Assumptions</a:t>
            </a:r>
          </a:p>
        </p:txBody>
      </p:sp>
      <p:graphicFrame>
        <p:nvGraphicFramePr>
          <p:cNvPr id="30" name="Rectangle 2">
            <a:extLst>
              <a:ext uri="{FF2B5EF4-FFF2-40B4-BE49-F238E27FC236}">
                <a16:creationId xmlns:a16="http://schemas.microsoft.com/office/drawing/2014/main" id="{2D8AFEC1-A8DC-598F-82BB-F1B7BABADD68}"/>
              </a:ext>
            </a:extLst>
          </p:cNvPr>
          <p:cNvGraphicFramePr>
            <a:graphicFrameLocks noGrp="1"/>
          </p:cNvGraphicFramePr>
          <p:nvPr>
            <p:ph idx="1"/>
          </p:nvPr>
        </p:nvGraphicFramePr>
        <p:xfrm>
          <a:off x="560439" y="1769806"/>
          <a:ext cx="8288593" cy="4611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4827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64E9BD-2143-8F09-3D28-2EE0DE840B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FA2EB9-ECFE-F01B-7515-CA14CEA57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8F7DAB2-88DD-B75D-FA3C-A12A5DE12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EB673C-D66A-CDF7-D485-5202AFF84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8BF9734-C775-E99B-879D-627966FA2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891C10-1E4A-5A04-DF77-A952C50FC4A0}"/>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Hypothesis Testing</a:t>
            </a:r>
          </a:p>
        </p:txBody>
      </p:sp>
      <p:sp>
        <p:nvSpPr>
          <p:cNvPr id="7" name="Rectangle 2">
            <a:extLst>
              <a:ext uri="{FF2B5EF4-FFF2-40B4-BE49-F238E27FC236}">
                <a16:creationId xmlns:a16="http://schemas.microsoft.com/office/drawing/2014/main" id="{C3058A14-2C5B-DEEB-CA94-2C4D7ECB870E}"/>
              </a:ext>
            </a:extLst>
          </p:cNvPr>
          <p:cNvSpPr>
            <a:spLocks noGrp="1" noChangeArrowheads="1"/>
          </p:cNvSpPr>
          <p:nvPr>
            <p:ph idx="1"/>
          </p:nvPr>
        </p:nvSpPr>
        <p:spPr bwMode="auto">
          <a:xfrm>
            <a:off x="314632" y="1621020"/>
            <a:ext cx="8514736"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1800" b="1" dirty="0">
                <a:solidFill>
                  <a:schemeClr val="tx2"/>
                </a:solidFill>
              </a:rPr>
              <a:t>Main Hypothesis : Impact on Employee Productivity</a:t>
            </a:r>
          </a:p>
          <a:p>
            <a:pPr marL="0" indent="0">
              <a:buNone/>
            </a:pPr>
            <a:r>
              <a:rPr lang="en-IN" sz="1400" i="1" dirty="0"/>
              <a:t>•	</a:t>
            </a:r>
            <a:r>
              <a:rPr lang="en-IN" sz="1600" i="1" dirty="0"/>
              <a:t>H0 (Null Hypothesis): Generative AI usage has no significant impact on employee productivity.</a:t>
            </a:r>
          </a:p>
          <a:p>
            <a:pPr marL="0" indent="0">
              <a:buNone/>
            </a:pPr>
            <a:r>
              <a:rPr lang="en-IN" sz="1600" i="1" dirty="0"/>
              <a:t>•	H1 (Alternative Hypothesis): Generative AI usage has a significant positive impact on employee productivity</a:t>
            </a:r>
            <a:r>
              <a:rPr lang="en-IN" sz="1400" i="1" dirty="0"/>
              <a:t>.</a:t>
            </a:r>
          </a:p>
          <a:p>
            <a:pPr marL="0" indent="0">
              <a:buNone/>
            </a:pPr>
            <a:endParaRPr lang="en-IN" sz="1100" b="1" dirty="0"/>
          </a:p>
          <a:p>
            <a:pPr marL="0" indent="0">
              <a:buNone/>
            </a:pPr>
            <a:r>
              <a:rPr lang="en-IN" sz="1800" b="1" dirty="0">
                <a:solidFill>
                  <a:schemeClr val="tx2"/>
                </a:solidFill>
              </a:rPr>
              <a:t>Validated</a:t>
            </a:r>
            <a:endParaRPr lang="en-IN" sz="1800" dirty="0">
              <a:solidFill>
                <a:schemeClr val="tx2"/>
              </a:solidFill>
            </a:endParaRPr>
          </a:p>
          <a:p>
            <a:pPr marL="285750" lvl="1">
              <a:buFont typeface="Arial" panose="020B0604020202020204" pitchFamily="34" charset="0"/>
              <a:buChar char="•"/>
            </a:pPr>
            <a:r>
              <a:rPr lang="en-IN" sz="1600" b="1" i="1" dirty="0"/>
              <a:t>Paired t‑test </a:t>
            </a:r>
            <a:r>
              <a:rPr lang="en-IN" sz="1600" i="1" dirty="0"/>
              <a:t>→ Task completion time reduced (42 → 28 mins, p &lt; 0.01)</a:t>
            </a:r>
          </a:p>
          <a:p>
            <a:pPr marL="285750" lvl="1">
              <a:buFont typeface="Arial" panose="020B0604020202020204" pitchFamily="34" charset="0"/>
              <a:buChar char="•"/>
            </a:pPr>
            <a:r>
              <a:rPr lang="en-IN" sz="1600" b="1" i="1" dirty="0"/>
              <a:t>Independent t‑test </a:t>
            </a:r>
            <a:r>
              <a:rPr lang="en-IN" sz="1600" i="1" dirty="0"/>
              <a:t>→ AI users gained more productivity (18% vs. 6%, p &lt; 0.05)</a:t>
            </a:r>
          </a:p>
          <a:p>
            <a:pPr marL="0" lvl="1" indent="0">
              <a:buNone/>
            </a:pPr>
            <a:endParaRPr lang="en-IN" sz="1100" i="1" dirty="0"/>
          </a:p>
          <a:p>
            <a:pPr marL="0" indent="0">
              <a:buNone/>
            </a:pPr>
            <a:r>
              <a:rPr lang="en-IN" sz="1800" b="1" dirty="0">
                <a:solidFill>
                  <a:schemeClr val="tx2"/>
                </a:solidFill>
              </a:rPr>
              <a:t>Role &amp; Task‑Level Analysis (Implied Sub‑Hypotheses)</a:t>
            </a:r>
            <a:endParaRPr lang="en-IN" sz="1800" dirty="0">
              <a:solidFill>
                <a:schemeClr val="tx2"/>
              </a:solidFill>
            </a:endParaRPr>
          </a:p>
          <a:p>
            <a:pPr marL="0" indent="0">
              <a:buNone/>
            </a:pPr>
            <a:r>
              <a:rPr lang="en-IN" sz="1600" i="1" dirty="0"/>
              <a:t>Productivity gains vary across roles and tasks</a:t>
            </a:r>
          </a:p>
          <a:p>
            <a:pPr marL="0" indent="0">
              <a:buNone/>
            </a:pPr>
            <a:endParaRPr lang="en-IN" sz="1600" dirty="0"/>
          </a:p>
          <a:p>
            <a:pPr marL="0" indent="0">
              <a:buNone/>
            </a:pPr>
            <a:r>
              <a:rPr lang="en-IN" sz="1800" b="1" dirty="0">
                <a:solidFill>
                  <a:schemeClr val="tx2"/>
                </a:solidFill>
              </a:rPr>
              <a:t>Evidence</a:t>
            </a:r>
            <a:endParaRPr lang="en-IN" sz="1800" dirty="0">
              <a:solidFill>
                <a:schemeClr val="tx2"/>
              </a:solidFill>
            </a:endParaRPr>
          </a:p>
          <a:p>
            <a:pPr marL="285750" lvl="1">
              <a:buFont typeface="Arial" panose="020B0604020202020204" pitchFamily="34" charset="0"/>
              <a:buChar char="•"/>
            </a:pPr>
            <a:r>
              <a:rPr lang="en-IN" sz="1600" b="1" i="1" dirty="0"/>
              <a:t>Regression Analysis </a:t>
            </a:r>
            <a:r>
              <a:rPr lang="en-IN" sz="1600" i="1" dirty="0"/>
              <a:t>→ AI usage intensity (frequency, % tasks assisted) significantly predicted productivity gain (coefficients positive, p &lt; 0.05).</a:t>
            </a:r>
          </a:p>
          <a:p>
            <a:pPr marL="285750" lvl="1">
              <a:buFont typeface="Arial" panose="020B0604020202020204" pitchFamily="34" charset="0"/>
              <a:buChar char="•"/>
            </a:pPr>
            <a:r>
              <a:rPr lang="en-IN" sz="1600" b="1" i="1" dirty="0"/>
              <a:t>ANOVA </a:t>
            </a:r>
            <a:r>
              <a:rPr lang="en-IN" sz="1600" i="1" dirty="0"/>
              <a:t>→ Significant role‑wise differences (F = 3.85, p = 0.021).</a:t>
            </a:r>
          </a:p>
          <a:p>
            <a:pPr lvl="2"/>
            <a:r>
              <a:rPr lang="en-IN" sz="1600" dirty="0"/>
              <a:t>QA/Test Engineers showed lower mean gains compared to Software Engineers and Data Engineers.</a:t>
            </a:r>
          </a:p>
        </p:txBody>
      </p:sp>
    </p:spTree>
    <p:extLst>
      <p:ext uri="{BB962C8B-B14F-4D97-AF65-F5344CB8AC3E}">
        <p14:creationId xmlns:p14="http://schemas.microsoft.com/office/powerpoint/2010/main" val="1181368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4C23EC-6207-712F-8322-8DF2D28FF66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C3FB4F-7B68-C523-FCAB-316BD5DE2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C621B36-F2C6-418A-58A0-035D78E8B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291C8A-9537-E6E4-3694-996C9F13D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B487C4F-F553-D22F-FC6E-ABCFFA71B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4F40C4-6D4E-1F6F-131D-EE08E1A73CF3}"/>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Hypothesis Testing Results</a:t>
            </a:r>
          </a:p>
        </p:txBody>
      </p:sp>
      <p:graphicFrame>
        <p:nvGraphicFramePr>
          <p:cNvPr id="3" name="Table 2">
            <a:extLst>
              <a:ext uri="{FF2B5EF4-FFF2-40B4-BE49-F238E27FC236}">
                <a16:creationId xmlns:a16="http://schemas.microsoft.com/office/drawing/2014/main" id="{690AF646-329F-4B79-ACD6-7E80F5480384}"/>
              </a:ext>
            </a:extLst>
          </p:cNvPr>
          <p:cNvGraphicFramePr>
            <a:graphicFrameLocks noGrp="1"/>
          </p:cNvGraphicFramePr>
          <p:nvPr>
            <p:extLst>
              <p:ext uri="{D42A27DB-BD31-4B8C-83A1-F6EECF244321}">
                <p14:modId xmlns:p14="http://schemas.microsoft.com/office/powerpoint/2010/main" val="3517416274"/>
              </p:ext>
            </p:extLst>
          </p:nvPr>
        </p:nvGraphicFramePr>
        <p:xfrm>
          <a:off x="540773" y="1848465"/>
          <a:ext cx="8020944" cy="4708644"/>
        </p:xfrm>
        <a:graphic>
          <a:graphicData uri="http://schemas.openxmlformats.org/drawingml/2006/table">
            <a:tbl>
              <a:tblPr>
                <a:tableStyleId>{3C2FFA5D-87B4-456A-9821-1D502468CF0F}</a:tableStyleId>
              </a:tblPr>
              <a:tblGrid>
                <a:gridCol w="1336824">
                  <a:extLst>
                    <a:ext uri="{9D8B030D-6E8A-4147-A177-3AD203B41FA5}">
                      <a16:colId xmlns:a16="http://schemas.microsoft.com/office/drawing/2014/main" val="1858227821"/>
                    </a:ext>
                  </a:extLst>
                </a:gridCol>
                <a:gridCol w="1336824">
                  <a:extLst>
                    <a:ext uri="{9D8B030D-6E8A-4147-A177-3AD203B41FA5}">
                      <a16:colId xmlns:a16="http://schemas.microsoft.com/office/drawing/2014/main" val="1304728558"/>
                    </a:ext>
                  </a:extLst>
                </a:gridCol>
                <a:gridCol w="1336824">
                  <a:extLst>
                    <a:ext uri="{9D8B030D-6E8A-4147-A177-3AD203B41FA5}">
                      <a16:colId xmlns:a16="http://schemas.microsoft.com/office/drawing/2014/main" val="860752738"/>
                    </a:ext>
                  </a:extLst>
                </a:gridCol>
                <a:gridCol w="1336824">
                  <a:extLst>
                    <a:ext uri="{9D8B030D-6E8A-4147-A177-3AD203B41FA5}">
                      <a16:colId xmlns:a16="http://schemas.microsoft.com/office/drawing/2014/main" val="3826234267"/>
                    </a:ext>
                  </a:extLst>
                </a:gridCol>
                <a:gridCol w="1336824">
                  <a:extLst>
                    <a:ext uri="{9D8B030D-6E8A-4147-A177-3AD203B41FA5}">
                      <a16:colId xmlns:a16="http://schemas.microsoft.com/office/drawing/2014/main" val="3045573268"/>
                    </a:ext>
                  </a:extLst>
                </a:gridCol>
                <a:gridCol w="1336824">
                  <a:extLst>
                    <a:ext uri="{9D8B030D-6E8A-4147-A177-3AD203B41FA5}">
                      <a16:colId xmlns:a16="http://schemas.microsoft.com/office/drawing/2014/main" val="3743426227"/>
                    </a:ext>
                  </a:extLst>
                </a:gridCol>
              </a:tblGrid>
              <a:tr h="677732">
                <a:tc>
                  <a:txBody>
                    <a:bodyPr/>
                    <a:lstStyle/>
                    <a:p>
                      <a:pPr>
                        <a:buNone/>
                      </a:pPr>
                      <a:r>
                        <a:rPr lang="en-IN" sz="1600" b="1" dirty="0"/>
                        <a:t>Test Type</a:t>
                      </a:r>
                    </a:p>
                  </a:txBody>
                  <a:tcPr marL="72999" marR="72999" marT="36500" marB="36500" anchor="ctr"/>
                </a:tc>
                <a:tc>
                  <a:txBody>
                    <a:bodyPr/>
                    <a:lstStyle/>
                    <a:p>
                      <a:pPr>
                        <a:buNone/>
                      </a:pPr>
                      <a:r>
                        <a:rPr lang="en-IN" sz="1600" b="1" dirty="0"/>
                        <a:t>Metric / Variable</a:t>
                      </a:r>
                    </a:p>
                  </a:txBody>
                  <a:tcPr marL="72999" marR="72999" marT="36500" marB="36500" anchor="ctr"/>
                </a:tc>
                <a:tc>
                  <a:txBody>
                    <a:bodyPr/>
                    <a:lstStyle/>
                    <a:p>
                      <a:pPr>
                        <a:buNone/>
                      </a:pPr>
                      <a:r>
                        <a:rPr lang="en-IN" sz="1600" b="1"/>
                        <a:t>Result (Mean/Coef)</a:t>
                      </a:r>
                    </a:p>
                  </a:txBody>
                  <a:tcPr marL="72999" marR="72999" marT="36500" marB="36500" anchor="ctr"/>
                </a:tc>
                <a:tc>
                  <a:txBody>
                    <a:bodyPr/>
                    <a:lstStyle/>
                    <a:p>
                      <a:pPr>
                        <a:buNone/>
                      </a:pPr>
                      <a:r>
                        <a:rPr lang="en-IN" sz="1600" b="1"/>
                        <a:t>Statistic</a:t>
                      </a:r>
                    </a:p>
                  </a:txBody>
                  <a:tcPr marL="72999" marR="72999" marT="36500" marB="36500" anchor="ctr"/>
                </a:tc>
                <a:tc>
                  <a:txBody>
                    <a:bodyPr/>
                    <a:lstStyle/>
                    <a:p>
                      <a:pPr>
                        <a:buNone/>
                      </a:pPr>
                      <a:r>
                        <a:rPr lang="en-IN" sz="1600" b="1"/>
                        <a:t>p‑value</a:t>
                      </a:r>
                    </a:p>
                  </a:txBody>
                  <a:tcPr marL="72999" marR="72999" marT="36500" marB="36500" anchor="ctr"/>
                </a:tc>
                <a:tc>
                  <a:txBody>
                    <a:bodyPr/>
                    <a:lstStyle/>
                    <a:p>
                      <a:pPr>
                        <a:buNone/>
                      </a:pPr>
                      <a:r>
                        <a:rPr lang="en-IN" sz="1600" b="1" dirty="0"/>
                        <a:t>Interpretation</a:t>
                      </a:r>
                    </a:p>
                  </a:txBody>
                  <a:tcPr marL="72999" marR="72999" marT="36500" marB="36500" anchor="ctr"/>
                </a:tc>
                <a:extLst>
                  <a:ext uri="{0D108BD9-81ED-4DB2-BD59-A6C34878D82A}">
                    <a16:rowId xmlns:a16="http://schemas.microsoft.com/office/drawing/2014/main" val="1988512279"/>
                  </a:ext>
                </a:extLst>
              </a:tr>
              <a:tr h="967096">
                <a:tc>
                  <a:txBody>
                    <a:bodyPr/>
                    <a:lstStyle/>
                    <a:p>
                      <a:pPr>
                        <a:buNone/>
                      </a:pPr>
                      <a:r>
                        <a:rPr lang="en-IN" sz="1600" b="1"/>
                        <a:t>Paired t‑test</a:t>
                      </a:r>
                      <a:endParaRPr lang="en-IN" sz="1600"/>
                    </a:p>
                  </a:txBody>
                  <a:tcPr marL="72999" marR="72999" marT="36500" marB="36500" anchor="ctr"/>
                </a:tc>
                <a:tc>
                  <a:txBody>
                    <a:bodyPr/>
                    <a:lstStyle/>
                    <a:p>
                      <a:pPr>
                        <a:buNone/>
                      </a:pPr>
                      <a:r>
                        <a:rPr lang="en-IN" sz="1600"/>
                        <a:t>Task Completion Time</a:t>
                      </a:r>
                    </a:p>
                  </a:txBody>
                  <a:tcPr marL="72999" marR="72999" marT="36500" marB="36500" anchor="ctr"/>
                </a:tc>
                <a:tc>
                  <a:txBody>
                    <a:bodyPr/>
                    <a:lstStyle/>
                    <a:p>
                      <a:pPr>
                        <a:buNone/>
                      </a:pPr>
                      <a:r>
                        <a:rPr lang="en-US" sz="1600" dirty="0"/>
                        <a:t>Before: 42 mins After: 28 mins</a:t>
                      </a:r>
                    </a:p>
                  </a:txBody>
                  <a:tcPr marL="72999" marR="72999" marT="36500" marB="36500" anchor="ctr"/>
                </a:tc>
                <a:tc>
                  <a:txBody>
                    <a:bodyPr/>
                    <a:lstStyle/>
                    <a:p>
                      <a:pPr>
                        <a:buNone/>
                      </a:pPr>
                      <a:r>
                        <a:rPr lang="en-IN" sz="1600" dirty="0"/>
                        <a:t>t = 4.12</a:t>
                      </a:r>
                    </a:p>
                  </a:txBody>
                  <a:tcPr marL="72999" marR="72999" marT="36500" marB="36500" anchor="ctr"/>
                </a:tc>
                <a:tc>
                  <a:txBody>
                    <a:bodyPr/>
                    <a:lstStyle/>
                    <a:p>
                      <a:pPr>
                        <a:buNone/>
                      </a:pPr>
                      <a:r>
                        <a:rPr lang="en-IN" sz="1600"/>
                        <a:t>0.0003</a:t>
                      </a:r>
                    </a:p>
                  </a:txBody>
                  <a:tcPr marL="72999" marR="72999" marT="36500" marB="36500" anchor="ctr"/>
                </a:tc>
                <a:tc>
                  <a:txBody>
                    <a:bodyPr/>
                    <a:lstStyle/>
                    <a:p>
                      <a:pPr>
                        <a:buNone/>
                      </a:pPr>
                      <a:r>
                        <a:rPr lang="en-US" sz="1600"/>
                        <a:t>AI significantly reduced task time</a:t>
                      </a:r>
                    </a:p>
                  </a:txBody>
                  <a:tcPr marL="72999" marR="72999" marT="36500" marB="36500" anchor="ctr"/>
                </a:tc>
                <a:extLst>
                  <a:ext uri="{0D108BD9-81ED-4DB2-BD59-A6C34878D82A}">
                    <a16:rowId xmlns:a16="http://schemas.microsoft.com/office/drawing/2014/main" val="326579204"/>
                  </a:ext>
                </a:extLst>
              </a:tr>
              <a:tr h="725681">
                <a:tc>
                  <a:txBody>
                    <a:bodyPr/>
                    <a:lstStyle/>
                    <a:p>
                      <a:pPr>
                        <a:buNone/>
                      </a:pPr>
                      <a:r>
                        <a:rPr lang="en-IN" sz="1600" b="1"/>
                        <a:t>Independent t‑test</a:t>
                      </a:r>
                      <a:endParaRPr lang="en-IN" sz="1600"/>
                    </a:p>
                  </a:txBody>
                  <a:tcPr marL="72999" marR="72999" marT="36500" marB="36500" anchor="ctr"/>
                </a:tc>
                <a:tc>
                  <a:txBody>
                    <a:bodyPr/>
                    <a:lstStyle/>
                    <a:p>
                      <a:pPr>
                        <a:buNone/>
                      </a:pPr>
                      <a:r>
                        <a:rPr lang="en-IN" sz="1600"/>
                        <a:t>Productivity Gain (%)</a:t>
                      </a:r>
                    </a:p>
                  </a:txBody>
                  <a:tcPr marL="72999" marR="72999" marT="36500" marB="36500" anchor="ctr"/>
                </a:tc>
                <a:tc>
                  <a:txBody>
                    <a:bodyPr/>
                    <a:lstStyle/>
                    <a:p>
                      <a:pPr>
                        <a:buNone/>
                      </a:pPr>
                      <a:r>
                        <a:rPr lang="it-IT" sz="1600" dirty="0"/>
                        <a:t>AI Users: 18% Non‑Users: 6%</a:t>
                      </a:r>
                    </a:p>
                  </a:txBody>
                  <a:tcPr marL="72999" marR="72999" marT="36500" marB="36500" anchor="ctr"/>
                </a:tc>
                <a:tc>
                  <a:txBody>
                    <a:bodyPr/>
                    <a:lstStyle/>
                    <a:p>
                      <a:pPr>
                        <a:buNone/>
                      </a:pPr>
                      <a:r>
                        <a:rPr lang="en-IN" sz="1600" dirty="0"/>
                        <a:t>t = 2.45</a:t>
                      </a:r>
                    </a:p>
                  </a:txBody>
                  <a:tcPr marL="72999" marR="72999" marT="36500" marB="36500" anchor="ctr"/>
                </a:tc>
                <a:tc>
                  <a:txBody>
                    <a:bodyPr/>
                    <a:lstStyle/>
                    <a:p>
                      <a:pPr>
                        <a:buNone/>
                      </a:pPr>
                      <a:r>
                        <a:rPr lang="en-IN" sz="1600" dirty="0"/>
                        <a:t>0.015</a:t>
                      </a:r>
                    </a:p>
                  </a:txBody>
                  <a:tcPr marL="72999" marR="72999" marT="36500" marB="36500" anchor="ctr"/>
                </a:tc>
                <a:tc>
                  <a:txBody>
                    <a:bodyPr/>
                    <a:lstStyle/>
                    <a:p>
                      <a:pPr>
                        <a:buNone/>
                      </a:pPr>
                      <a:r>
                        <a:rPr lang="en-US" sz="1600"/>
                        <a:t>AI users show higher gains</a:t>
                      </a:r>
                    </a:p>
                  </a:txBody>
                  <a:tcPr marL="72999" marR="72999" marT="36500" marB="36500" anchor="ctr"/>
                </a:tc>
                <a:extLst>
                  <a:ext uri="{0D108BD9-81ED-4DB2-BD59-A6C34878D82A}">
                    <a16:rowId xmlns:a16="http://schemas.microsoft.com/office/drawing/2014/main" val="857292416"/>
                  </a:ext>
                </a:extLst>
              </a:tr>
              <a:tr h="1165570">
                <a:tc>
                  <a:txBody>
                    <a:bodyPr/>
                    <a:lstStyle/>
                    <a:p>
                      <a:pPr>
                        <a:buNone/>
                      </a:pPr>
                      <a:r>
                        <a:rPr lang="en-IN" sz="1600" b="1"/>
                        <a:t>Regression</a:t>
                      </a:r>
                      <a:endParaRPr lang="en-IN" sz="1600"/>
                    </a:p>
                  </a:txBody>
                  <a:tcPr marL="72999" marR="72999" marT="36500" marB="36500" anchor="ctr"/>
                </a:tc>
                <a:tc>
                  <a:txBody>
                    <a:bodyPr/>
                    <a:lstStyle/>
                    <a:p>
                      <a:pPr>
                        <a:buNone/>
                      </a:pPr>
                      <a:r>
                        <a:rPr lang="en-IN" sz="1600"/>
                        <a:t>AI Frequency % Tasks Assisted</a:t>
                      </a:r>
                    </a:p>
                  </a:txBody>
                  <a:tcPr marL="72999" marR="72999" marT="36500" marB="36500" anchor="ctr"/>
                </a:tc>
                <a:tc>
                  <a:txBody>
                    <a:bodyPr/>
                    <a:lstStyle/>
                    <a:p>
                      <a:pPr>
                        <a:buNone/>
                      </a:pPr>
                      <a:r>
                        <a:rPr lang="en-IN" sz="1600" dirty="0" err="1"/>
                        <a:t>Coef</a:t>
                      </a:r>
                      <a:r>
                        <a:rPr lang="en-IN" sz="1600" dirty="0"/>
                        <a:t>: +0.32 </a:t>
                      </a:r>
                      <a:r>
                        <a:rPr lang="en-IN" sz="1600" dirty="0" err="1"/>
                        <a:t>Coef</a:t>
                      </a:r>
                      <a:r>
                        <a:rPr lang="en-IN" sz="1600" dirty="0"/>
                        <a:t>: +0.28</a:t>
                      </a:r>
                    </a:p>
                  </a:txBody>
                  <a:tcPr marL="72999" marR="72999" marT="36500" marB="36500" anchor="ctr"/>
                </a:tc>
                <a:tc>
                  <a:txBody>
                    <a:bodyPr/>
                    <a:lstStyle/>
                    <a:p>
                      <a:pPr>
                        <a:buNone/>
                      </a:pPr>
                      <a:r>
                        <a:rPr lang="en-IN" sz="1600"/>
                        <a:t>—</a:t>
                      </a:r>
                    </a:p>
                  </a:txBody>
                  <a:tcPr marL="72999" marR="72999" marT="36500" marB="36500" anchor="ctr"/>
                </a:tc>
                <a:tc>
                  <a:txBody>
                    <a:bodyPr/>
                    <a:lstStyle/>
                    <a:p>
                      <a:pPr>
                        <a:buNone/>
                      </a:pPr>
                      <a:r>
                        <a:rPr lang="en-IN" sz="1600" dirty="0"/>
                        <a:t>0.002 0.009</a:t>
                      </a:r>
                    </a:p>
                  </a:txBody>
                  <a:tcPr marL="72999" marR="72999" marT="36500" marB="36500" anchor="ctr"/>
                </a:tc>
                <a:tc>
                  <a:txBody>
                    <a:bodyPr/>
                    <a:lstStyle/>
                    <a:p>
                      <a:pPr>
                        <a:buNone/>
                      </a:pPr>
                      <a:r>
                        <a:rPr lang="en-US" sz="1600"/>
                        <a:t>Both predictors strongly linked to productivity</a:t>
                      </a:r>
                    </a:p>
                  </a:txBody>
                  <a:tcPr marL="72999" marR="72999" marT="36500" marB="36500" anchor="ctr"/>
                </a:tc>
                <a:extLst>
                  <a:ext uri="{0D108BD9-81ED-4DB2-BD59-A6C34878D82A}">
                    <a16:rowId xmlns:a16="http://schemas.microsoft.com/office/drawing/2014/main" val="2819391284"/>
                  </a:ext>
                </a:extLst>
              </a:tr>
              <a:tr h="967096">
                <a:tc>
                  <a:txBody>
                    <a:bodyPr/>
                    <a:lstStyle/>
                    <a:p>
                      <a:pPr>
                        <a:buNone/>
                      </a:pPr>
                      <a:r>
                        <a:rPr lang="en-IN" sz="1600" b="1"/>
                        <a:t>ANOVA</a:t>
                      </a:r>
                      <a:endParaRPr lang="en-IN" sz="1600"/>
                    </a:p>
                  </a:txBody>
                  <a:tcPr marL="72999" marR="72999" marT="36500" marB="36500" anchor="ctr"/>
                </a:tc>
                <a:tc>
                  <a:txBody>
                    <a:bodyPr/>
                    <a:lstStyle/>
                    <a:p>
                      <a:pPr>
                        <a:buNone/>
                      </a:pPr>
                      <a:r>
                        <a:rPr lang="en-IN" sz="1600"/>
                        <a:t>Role‑wise Productivity Index</a:t>
                      </a:r>
                    </a:p>
                  </a:txBody>
                  <a:tcPr marL="72999" marR="72999" marT="36500" marB="36500" anchor="ctr"/>
                </a:tc>
                <a:tc>
                  <a:txBody>
                    <a:bodyPr/>
                    <a:lstStyle/>
                    <a:p>
                      <a:pPr>
                        <a:buNone/>
                      </a:pPr>
                      <a:r>
                        <a:rPr lang="en-IN" sz="1600" dirty="0"/>
                        <a:t>SE: 72 DE: 70 QA: 58</a:t>
                      </a:r>
                    </a:p>
                  </a:txBody>
                  <a:tcPr marL="72999" marR="72999" marT="36500" marB="36500" anchor="ctr"/>
                </a:tc>
                <a:tc>
                  <a:txBody>
                    <a:bodyPr/>
                    <a:lstStyle/>
                    <a:p>
                      <a:pPr>
                        <a:buNone/>
                      </a:pPr>
                      <a:r>
                        <a:rPr lang="en-IN" sz="1600"/>
                        <a:t>F = 3.85</a:t>
                      </a:r>
                    </a:p>
                  </a:txBody>
                  <a:tcPr marL="72999" marR="72999" marT="36500" marB="36500" anchor="ctr"/>
                </a:tc>
                <a:tc>
                  <a:txBody>
                    <a:bodyPr/>
                    <a:lstStyle/>
                    <a:p>
                      <a:pPr>
                        <a:buNone/>
                      </a:pPr>
                      <a:r>
                        <a:rPr lang="en-IN" sz="1600" dirty="0"/>
                        <a:t>0.021</a:t>
                      </a:r>
                    </a:p>
                  </a:txBody>
                  <a:tcPr marL="72999" marR="72999" marT="36500" marB="36500" anchor="ctr"/>
                </a:tc>
                <a:tc>
                  <a:txBody>
                    <a:bodyPr/>
                    <a:lstStyle/>
                    <a:p>
                      <a:pPr>
                        <a:buNone/>
                      </a:pPr>
                      <a:r>
                        <a:rPr lang="en-IN" sz="1600" dirty="0"/>
                        <a:t>Significant role‑wise differences</a:t>
                      </a:r>
                    </a:p>
                  </a:txBody>
                  <a:tcPr marL="72999" marR="72999" marT="36500" marB="36500" anchor="ctr"/>
                </a:tc>
                <a:extLst>
                  <a:ext uri="{0D108BD9-81ED-4DB2-BD59-A6C34878D82A}">
                    <a16:rowId xmlns:a16="http://schemas.microsoft.com/office/drawing/2014/main" val="1008491995"/>
                  </a:ext>
                </a:extLst>
              </a:tr>
            </a:tbl>
          </a:graphicData>
        </a:graphic>
      </p:graphicFrame>
    </p:spTree>
    <p:extLst>
      <p:ext uri="{BB962C8B-B14F-4D97-AF65-F5344CB8AC3E}">
        <p14:creationId xmlns:p14="http://schemas.microsoft.com/office/powerpoint/2010/main" val="734015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1F3346-8378-C3D7-2B1C-46DC3D6A195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16FF21-BCDE-D187-B8D6-B6D51E6DA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0D1DF05-8D16-332F-AD88-F2FC0C834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0CED21-9E2C-FD68-0DC9-983CC296A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3FB2E07-BA89-B0EE-CDFF-CD74C1BAE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519720-B91E-F81D-FAD0-DB5F1FF039B5}"/>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Key Findings</a:t>
            </a:r>
          </a:p>
        </p:txBody>
      </p:sp>
      <p:sp>
        <p:nvSpPr>
          <p:cNvPr id="5" name="TextBox 4">
            <a:extLst>
              <a:ext uri="{FF2B5EF4-FFF2-40B4-BE49-F238E27FC236}">
                <a16:creationId xmlns:a16="http://schemas.microsoft.com/office/drawing/2014/main" id="{00B5D2F8-6D05-05B5-194E-99769FFB44A6}"/>
              </a:ext>
            </a:extLst>
          </p:cNvPr>
          <p:cNvSpPr txBox="1"/>
          <p:nvPr/>
        </p:nvSpPr>
        <p:spPr>
          <a:xfrm>
            <a:off x="543845" y="4893308"/>
            <a:ext cx="8056309" cy="144655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effectLst/>
              </a:rPr>
              <a:t>AI adoption significantly reduces task completion time</a:t>
            </a:r>
            <a:endParaRPr lang="en-US" sz="1600" dirty="0"/>
          </a:p>
          <a:p>
            <a:pPr marL="285750" indent="-285750">
              <a:lnSpc>
                <a:spcPct val="150000"/>
              </a:lnSpc>
              <a:buFont typeface="Arial" panose="020B0604020202020204" pitchFamily="34" charset="0"/>
              <a:buChar char="•"/>
            </a:pPr>
            <a:r>
              <a:rPr lang="en-US" sz="1600" dirty="0">
                <a:effectLst/>
              </a:rPr>
              <a:t>Technical roles (Software Engineers, Data Engineers) show highest savings</a:t>
            </a:r>
            <a:endParaRPr lang="en-US" sz="1600" dirty="0"/>
          </a:p>
          <a:p>
            <a:pPr marL="285750" indent="-285750">
              <a:lnSpc>
                <a:spcPct val="150000"/>
              </a:lnSpc>
              <a:buFont typeface="Arial" panose="020B0604020202020204" pitchFamily="34" charset="0"/>
              <a:buChar char="•"/>
            </a:pPr>
            <a:r>
              <a:rPr lang="en-US" sz="1600" dirty="0">
                <a:effectLst/>
              </a:rPr>
              <a:t>QA/Test Engineers report modest gains</a:t>
            </a:r>
            <a:endParaRPr lang="en-US" sz="1600" dirty="0"/>
          </a:p>
          <a:p>
            <a:pPr marL="285750" indent="-285750">
              <a:buFont typeface="Arial" panose="020B0604020202020204" pitchFamily="34" charset="0"/>
              <a:buChar char="•"/>
            </a:pPr>
            <a:r>
              <a:rPr lang="en-US" sz="1600" dirty="0">
                <a:effectLst/>
              </a:rPr>
              <a:t>AI users outperform non‑users in efficiency and quality metrics</a:t>
            </a:r>
            <a:endParaRPr lang="en-US" sz="1600" dirty="0"/>
          </a:p>
        </p:txBody>
      </p:sp>
      <p:pic>
        <p:nvPicPr>
          <p:cNvPr id="6" name="Picture 5">
            <a:extLst>
              <a:ext uri="{FF2B5EF4-FFF2-40B4-BE49-F238E27FC236}">
                <a16:creationId xmlns:a16="http://schemas.microsoft.com/office/drawing/2014/main" id="{686DDCB4-28F5-271A-EA62-AC65F71CE6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549" y="1685066"/>
            <a:ext cx="3548316" cy="2956930"/>
          </a:xfrm>
          <a:prstGeom prst="rect">
            <a:avLst/>
          </a:prstGeom>
          <a:ln>
            <a:solidFill>
              <a:schemeClr val="accent1"/>
            </a:solidFill>
          </a:ln>
        </p:spPr>
      </p:pic>
      <p:pic>
        <p:nvPicPr>
          <p:cNvPr id="7" name="Picture 6">
            <a:extLst>
              <a:ext uri="{FF2B5EF4-FFF2-40B4-BE49-F238E27FC236}">
                <a16:creationId xmlns:a16="http://schemas.microsoft.com/office/drawing/2014/main" id="{24B99B08-927D-DE9D-F122-5BF0877D8D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15414" y="1685066"/>
            <a:ext cx="4927759" cy="2956930"/>
          </a:xfrm>
          <a:prstGeom prst="rect">
            <a:avLst/>
          </a:prstGeom>
          <a:ln>
            <a:solidFill>
              <a:schemeClr val="accent1"/>
            </a:solidFill>
          </a:ln>
        </p:spPr>
      </p:pic>
    </p:spTree>
    <p:extLst>
      <p:ext uri="{BB962C8B-B14F-4D97-AF65-F5344CB8AC3E}">
        <p14:creationId xmlns:p14="http://schemas.microsoft.com/office/powerpoint/2010/main" val="187179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322965-26AC-8740-45C9-916AEEE915B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757E553-CE2D-9B5E-CCA0-C45261D4D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970B70-B851-4B3B-22A2-D8228333A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9C3179-29EC-DA60-B7F2-111FFE75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AC5968-59B6-9B27-C10F-B8CD858D2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D642467-5649-E816-6BE6-6960DC38DB4E}"/>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Key Findings</a:t>
            </a:r>
          </a:p>
        </p:txBody>
      </p:sp>
      <p:sp>
        <p:nvSpPr>
          <p:cNvPr id="5" name="TextBox 4">
            <a:extLst>
              <a:ext uri="{FF2B5EF4-FFF2-40B4-BE49-F238E27FC236}">
                <a16:creationId xmlns:a16="http://schemas.microsoft.com/office/drawing/2014/main" id="{9488DB0B-D9E7-3E0D-EC64-520188158D0A}"/>
              </a:ext>
            </a:extLst>
          </p:cNvPr>
          <p:cNvSpPr txBox="1"/>
          <p:nvPr/>
        </p:nvSpPr>
        <p:spPr>
          <a:xfrm>
            <a:off x="543845" y="5029246"/>
            <a:ext cx="8056309" cy="1323439"/>
          </a:xfrm>
          <a:prstGeom prst="rect">
            <a:avLst/>
          </a:prstGeom>
          <a:noFill/>
        </p:spPr>
        <p:txBody>
          <a:bodyPr wrap="square">
            <a:spAutoFit/>
          </a:bodyPr>
          <a:lstStyle/>
          <a:p>
            <a:pPr marL="285750" indent="-285750">
              <a:buFont typeface="Arial" panose="020B0604020202020204" pitchFamily="34" charset="0"/>
              <a:buChar char="•"/>
            </a:pPr>
            <a:r>
              <a:rPr lang="en-US" sz="1600" dirty="0">
                <a:effectLst/>
              </a:rPr>
              <a:t>Time saved shows small positive impact, while higher AI frequency and task coverage sometimes reduce project‑level gains.</a:t>
            </a:r>
          </a:p>
          <a:p>
            <a:endParaRPr lang="en-US" sz="1600" dirty="0">
              <a:effectLst/>
            </a:endParaRPr>
          </a:p>
          <a:p>
            <a:pPr marL="285750" indent="-285750">
              <a:buFont typeface="Arial" panose="020B0604020202020204" pitchFamily="34" charset="0"/>
              <a:buChar char="•"/>
            </a:pPr>
            <a:r>
              <a:rPr lang="en-US" sz="1600" dirty="0">
                <a:effectLst/>
              </a:rPr>
              <a:t>All project outcomes (delivery, cost, efficiency, advantage) load negatively, highlighting a gap between task‑level productivity and overall project efficiency.</a:t>
            </a:r>
            <a:endParaRPr lang="en-US" sz="1600" dirty="0"/>
          </a:p>
        </p:txBody>
      </p:sp>
      <p:pic>
        <p:nvPicPr>
          <p:cNvPr id="3" name="Picture 2">
            <a:extLst>
              <a:ext uri="{FF2B5EF4-FFF2-40B4-BE49-F238E27FC236}">
                <a16:creationId xmlns:a16="http://schemas.microsoft.com/office/drawing/2014/main" id="{36D8CA3E-FC14-D7C1-76C8-A13ECF9C37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601" y="1667551"/>
            <a:ext cx="4098797" cy="3078211"/>
          </a:xfrm>
          <a:prstGeom prst="rect">
            <a:avLst/>
          </a:prstGeom>
          <a:ln>
            <a:solidFill>
              <a:schemeClr val="accent1"/>
            </a:solidFill>
          </a:ln>
        </p:spPr>
      </p:pic>
      <p:pic>
        <p:nvPicPr>
          <p:cNvPr id="4" name="Picture 3">
            <a:extLst>
              <a:ext uri="{FF2B5EF4-FFF2-40B4-BE49-F238E27FC236}">
                <a16:creationId xmlns:a16="http://schemas.microsoft.com/office/drawing/2014/main" id="{39A43E84-E8BF-0B98-A4D4-625E6400C4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1999" y="1650485"/>
            <a:ext cx="4104495" cy="3078211"/>
          </a:xfrm>
          <a:prstGeom prst="rect">
            <a:avLst/>
          </a:prstGeom>
          <a:ln>
            <a:solidFill>
              <a:schemeClr val="accent1"/>
            </a:solidFill>
          </a:ln>
        </p:spPr>
      </p:pic>
    </p:spTree>
    <p:extLst>
      <p:ext uri="{BB962C8B-B14F-4D97-AF65-F5344CB8AC3E}">
        <p14:creationId xmlns:p14="http://schemas.microsoft.com/office/powerpoint/2010/main" val="2649980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351AC9-C26A-A4E9-3B92-7010218C65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8D6949-62B9-8958-D1C4-90F30C3B3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A1B246F-A2CF-7822-08F4-8168ADEB5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82136F5-05B8-E5A5-4779-3B667468D8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5C0EEAA-77E6-D790-7BA6-1A4545C1A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3863D2-138E-EC4D-857B-96F21D8C089B}"/>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Dashboards (Power BI)</a:t>
            </a:r>
          </a:p>
        </p:txBody>
      </p:sp>
      <p:pic>
        <p:nvPicPr>
          <p:cNvPr id="6" name="Picture 5">
            <a:extLst>
              <a:ext uri="{FF2B5EF4-FFF2-40B4-BE49-F238E27FC236}">
                <a16:creationId xmlns:a16="http://schemas.microsoft.com/office/drawing/2014/main" id="{997E589C-D9E3-8670-C480-AE66CAE43786}"/>
              </a:ext>
            </a:extLst>
          </p:cNvPr>
          <p:cNvPicPr>
            <a:picLocks noChangeAspect="1"/>
          </p:cNvPicPr>
          <p:nvPr/>
        </p:nvPicPr>
        <p:blipFill>
          <a:blip r:embed="rId2"/>
          <a:stretch>
            <a:fillRect/>
          </a:stretch>
        </p:blipFill>
        <p:spPr>
          <a:xfrm>
            <a:off x="497646" y="1575459"/>
            <a:ext cx="8327274" cy="4808357"/>
          </a:xfrm>
          <a:prstGeom prst="rect">
            <a:avLst/>
          </a:prstGeom>
          <a:ln>
            <a:solidFill>
              <a:schemeClr val="accent1"/>
            </a:solidFill>
          </a:ln>
        </p:spPr>
      </p:pic>
      <p:sp>
        <p:nvSpPr>
          <p:cNvPr id="7" name="TextBox 6">
            <a:extLst>
              <a:ext uri="{FF2B5EF4-FFF2-40B4-BE49-F238E27FC236}">
                <a16:creationId xmlns:a16="http://schemas.microsoft.com/office/drawing/2014/main" id="{4BF53DB2-6EFF-70D5-D456-EAF59864C1ED}"/>
              </a:ext>
            </a:extLst>
          </p:cNvPr>
          <p:cNvSpPr txBox="1"/>
          <p:nvPr/>
        </p:nvSpPr>
        <p:spPr>
          <a:xfrm>
            <a:off x="742470" y="6384307"/>
            <a:ext cx="8105471" cy="236295"/>
          </a:xfrm>
          <a:prstGeom prst="rect">
            <a:avLst/>
          </a:prstGeom>
          <a:noFill/>
        </p:spPr>
        <p:txBody>
          <a:bodyPr wrap="square">
            <a:spAutoFit/>
          </a:bodyPr>
          <a:lstStyle/>
          <a:p>
            <a:pPr>
              <a:lnSpc>
                <a:spcPct val="107000"/>
              </a:lnSpc>
              <a:spcAft>
                <a:spcPts val="800"/>
              </a:spcAft>
              <a:buNone/>
            </a:pPr>
            <a:r>
              <a:rPr lang="en-IN" sz="1400" i="1" kern="100" dirty="0">
                <a:effectLst/>
                <a:latin typeface="Calibri" panose="020F0502020204030204" pitchFamily="34" charset="0"/>
                <a:ea typeface="Aptos" panose="020B0004020202020204" pitchFamily="34" charset="0"/>
                <a:cs typeface="Mangal" panose="02040503050203030202" pitchFamily="18" charset="0"/>
              </a:rPr>
              <a:t>Note: Consolidated view of financial and productivity impact of Generative AI adoption.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2884438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079453-DAA0-128C-DA42-3EFA5063E3B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153D2-D4A0-B876-C814-F58B878D3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BFCE9F-641D-BCCD-5274-D982F1BF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597781-AB42-FAB2-8341-BE37C9E4B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2CB082-6CB1-95D5-F59B-424B3A1AE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DCBC95-7FED-2912-6D80-56CFCC067823}"/>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Dashboards (Power BI)</a:t>
            </a:r>
          </a:p>
        </p:txBody>
      </p:sp>
      <p:pic>
        <p:nvPicPr>
          <p:cNvPr id="3" name="Picture 2">
            <a:extLst>
              <a:ext uri="{FF2B5EF4-FFF2-40B4-BE49-F238E27FC236}">
                <a16:creationId xmlns:a16="http://schemas.microsoft.com/office/drawing/2014/main" id="{099EC1C3-7D37-1308-F687-1E1ECC17F488}"/>
              </a:ext>
            </a:extLst>
          </p:cNvPr>
          <p:cNvPicPr>
            <a:picLocks noChangeAspect="1"/>
          </p:cNvPicPr>
          <p:nvPr/>
        </p:nvPicPr>
        <p:blipFill>
          <a:blip r:embed="rId2"/>
          <a:stretch>
            <a:fillRect/>
          </a:stretch>
        </p:blipFill>
        <p:spPr>
          <a:xfrm>
            <a:off x="694399" y="1633502"/>
            <a:ext cx="7867315" cy="4753608"/>
          </a:xfrm>
          <a:prstGeom prst="rect">
            <a:avLst/>
          </a:prstGeom>
          <a:ln>
            <a:solidFill>
              <a:schemeClr val="accent1"/>
            </a:solidFill>
          </a:ln>
        </p:spPr>
      </p:pic>
      <p:sp>
        <p:nvSpPr>
          <p:cNvPr id="5" name="TextBox 4">
            <a:extLst>
              <a:ext uri="{FF2B5EF4-FFF2-40B4-BE49-F238E27FC236}">
                <a16:creationId xmlns:a16="http://schemas.microsoft.com/office/drawing/2014/main" id="{6B8D951E-6FA8-5B69-7BDC-18153F0D23E7}"/>
              </a:ext>
            </a:extLst>
          </p:cNvPr>
          <p:cNvSpPr txBox="1"/>
          <p:nvPr/>
        </p:nvSpPr>
        <p:spPr>
          <a:xfrm>
            <a:off x="742470" y="6384307"/>
            <a:ext cx="8105471" cy="314510"/>
          </a:xfrm>
          <a:prstGeom prst="rect">
            <a:avLst/>
          </a:prstGeom>
          <a:noFill/>
        </p:spPr>
        <p:txBody>
          <a:bodyPr wrap="square">
            <a:spAutoFit/>
          </a:bodyPr>
          <a:lstStyle/>
          <a:p>
            <a:pPr>
              <a:lnSpc>
                <a:spcPct val="107000"/>
              </a:lnSpc>
              <a:spcAft>
                <a:spcPts val="800"/>
              </a:spcAft>
              <a:buNone/>
            </a:pPr>
            <a:r>
              <a:rPr lang="en-US" sz="1400" i="1" kern="100" dirty="0">
                <a:effectLst/>
                <a:latin typeface="Calibri" panose="020F0502020204030204" pitchFamily="34" charset="0"/>
                <a:ea typeface="Aptos" panose="020B0004020202020204" pitchFamily="34" charset="0"/>
                <a:cs typeface="Mangal" panose="02040503050203030202" pitchFamily="18" charset="0"/>
              </a:rPr>
              <a:t>Note: Role‑wise comparison of salary structures and savings achieved through AI adoption.</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148485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F2F079-45C0-63DF-5A8C-3B4259112B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BE4F56-E73C-388E-7C2A-711E37595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1E2A97-CC74-76DA-4DE8-CEBFC934B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6CE433-7A1D-07F7-BF32-0857C7921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3E835A-7D4D-8C8F-F49D-9C71711EF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3E155A-E80F-D049-5E33-E4A61616D596}"/>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Dashboards (Power BI)</a:t>
            </a:r>
          </a:p>
        </p:txBody>
      </p:sp>
      <p:pic>
        <p:nvPicPr>
          <p:cNvPr id="4" name="Picture 3">
            <a:extLst>
              <a:ext uri="{FF2B5EF4-FFF2-40B4-BE49-F238E27FC236}">
                <a16:creationId xmlns:a16="http://schemas.microsoft.com/office/drawing/2014/main" id="{203B9B8F-54DE-4789-EBDC-895278131AA9}"/>
              </a:ext>
            </a:extLst>
          </p:cNvPr>
          <p:cNvPicPr>
            <a:picLocks noChangeAspect="1"/>
          </p:cNvPicPr>
          <p:nvPr/>
        </p:nvPicPr>
        <p:blipFill>
          <a:blip r:embed="rId2"/>
          <a:stretch>
            <a:fillRect/>
          </a:stretch>
        </p:blipFill>
        <p:spPr>
          <a:xfrm>
            <a:off x="363794" y="1645902"/>
            <a:ext cx="8391533" cy="4688754"/>
          </a:xfrm>
          <a:prstGeom prst="rect">
            <a:avLst/>
          </a:prstGeom>
          <a:ln>
            <a:solidFill>
              <a:schemeClr val="accent1"/>
            </a:solidFill>
          </a:ln>
        </p:spPr>
      </p:pic>
      <p:sp>
        <p:nvSpPr>
          <p:cNvPr id="7" name="TextBox 6">
            <a:extLst>
              <a:ext uri="{FF2B5EF4-FFF2-40B4-BE49-F238E27FC236}">
                <a16:creationId xmlns:a16="http://schemas.microsoft.com/office/drawing/2014/main" id="{5ED50DCE-9F06-26E5-19DC-ED48251370D7}"/>
              </a:ext>
            </a:extLst>
          </p:cNvPr>
          <p:cNvSpPr txBox="1"/>
          <p:nvPr/>
        </p:nvSpPr>
        <p:spPr>
          <a:xfrm>
            <a:off x="742470" y="6384307"/>
            <a:ext cx="8105471" cy="314510"/>
          </a:xfrm>
          <a:prstGeom prst="rect">
            <a:avLst/>
          </a:prstGeom>
          <a:noFill/>
        </p:spPr>
        <p:txBody>
          <a:bodyPr wrap="square">
            <a:spAutoFit/>
          </a:bodyPr>
          <a:lstStyle/>
          <a:p>
            <a:pPr>
              <a:lnSpc>
                <a:spcPct val="107000"/>
              </a:lnSpc>
              <a:spcAft>
                <a:spcPts val="800"/>
              </a:spcAft>
              <a:buNone/>
            </a:pPr>
            <a:r>
              <a:rPr lang="en-US" sz="1400" i="1" kern="100" dirty="0">
                <a:effectLst/>
                <a:latin typeface="Calibri" panose="020F0502020204030204" pitchFamily="34" charset="0"/>
                <a:ea typeface="Aptos" panose="020B0004020202020204" pitchFamily="34" charset="0"/>
                <a:cs typeface="Mangal" panose="02040503050203030202" pitchFamily="18" charset="0"/>
              </a:rPr>
              <a:t>Note: Survey responses on AI adoption perceptions and role specific usage patterns.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1191970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B265A8-9256-3A49-356E-74B81158D83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088C33-08BC-46C5-FF14-E97C4A996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596A37-0AF0-E013-D09C-B8CE6D3E8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B3CD27-763E-0DE3-08EB-7B6DB8468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3BF477D-5295-5D66-1EF9-68D34593C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E6A246-7A9E-C285-C1B8-5113BD882D9A}"/>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Conclusion</a:t>
            </a:r>
          </a:p>
        </p:txBody>
      </p:sp>
      <p:graphicFrame>
        <p:nvGraphicFramePr>
          <p:cNvPr id="17" name="TextBox 4">
            <a:extLst>
              <a:ext uri="{FF2B5EF4-FFF2-40B4-BE49-F238E27FC236}">
                <a16:creationId xmlns:a16="http://schemas.microsoft.com/office/drawing/2014/main" id="{F1BAD107-0D21-40CB-130E-F0FAC09F3C52}"/>
              </a:ext>
            </a:extLst>
          </p:cNvPr>
          <p:cNvGraphicFramePr/>
          <p:nvPr/>
        </p:nvGraphicFramePr>
        <p:xfrm>
          <a:off x="505406" y="1741259"/>
          <a:ext cx="8056309" cy="448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718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2D17DC-56EF-71E8-07ED-AD5A5F306F2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C2A3C8-BDC2-A72C-B625-7EC4F4BC3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1760DE-31A1-0AAA-E3BB-772D7FAF6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F23D3B1-1E01-C12F-A50D-1C8D668E9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F1B971-E4D7-1ABA-962E-81E4E356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50396D-E716-5DB1-BE3E-58D5A3DFE4D0}"/>
              </a:ext>
            </a:extLst>
          </p:cNvPr>
          <p:cNvSpPr>
            <a:spLocks noGrp="1"/>
          </p:cNvSpPr>
          <p:nvPr>
            <p:ph type="title"/>
          </p:nvPr>
        </p:nvSpPr>
        <p:spPr>
          <a:xfrm>
            <a:off x="1028697" y="348865"/>
            <a:ext cx="7533018" cy="877729"/>
          </a:xfrm>
        </p:spPr>
        <p:txBody>
          <a:bodyPr anchor="ctr">
            <a:normAutofit/>
          </a:bodyPr>
          <a:lstStyle/>
          <a:p>
            <a:r>
              <a:rPr lang="en-IN" sz="3500" dirty="0">
                <a:solidFill>
                  <a:srgbClr val="FFFFFF"/>
                </a:solidFill>
              </a:rPr>
              <a:t>Recommendations</a:t>
            </a:r>
          </a:p>
        </p:txBody>
      </p:sp>
      <p:graphicFrame>
        <p:nvGraphicFramePr>
          <p:cNvPr id="17" name="TextBox 4">
            <a:extLst>
              <a:ext uri="{FF2B5EF4-FFF2-40B4-BE49-F238E27FC236}">
                <a16:creationId xmlns:a16="http://schemas.microsoft.com/office/drawing/2014/main" id="{E31077BC-2BA6-E258-A41C-871A12DF8237}"/>
              </a:ext>
            </a:extLst>
          </p:cNvPr>
          <p:cNvGraphicFramePr/>
          <p:nvPr/>
        </p:nvGraphicFramePr>
        <p:xfrm>
          <a:off x="505406" y="1741259"/>
          <a:ext cx="8056309" cy="448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58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0BF973-743C-C227-C2D9-FDB8D1337E7A}"/>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47B76A-F4F0-D080-0659-77CB6A11D149}"/>
              </a:ext>
            </a:extLst>
          </p:cNvPr>
          <p:cNvSpPr>
            <a:spLocks noGrp="1"/>
          </p:cNvSpPr>
          <p:nvPr>
            <p:ph type="title"/>
          </p:nvPr>
        </p:nvSpPr>
        <p:spPr>
          <a:xfrm>
            <a:off x="1037673" y="348865"/>
            <a:ext cx="7288583" cy="1576446"/>
          </a:xfrm>
        </p:spPr>
        <p:txBody>
          <a:bodyPr vert="horz" lIns="91440" tIns="45720" rIns="91440" bIns="45720" rtlCol="0" anchor="ctr">
            <a:normAutofit/>
          </a:bodyPr>
          <a:lstStyle/>
          <a:p>
            <a:pPr defTabSz="914400"/>
            <a:r>
              <a:rPr lang="en-US" sz="3500" kern="1200">
                <a:solidFill>
                  <a:srgbClr val="FFFFFF"/>
                </a:solidFill>
                <a:latin typeface="+mj-lt"/>
                <a:ea typeface="+mj-ea"/>
                <a:cs typeface="+mj-cs"/>
              </a:rPr>
              <a:t>Future Scope</a:t>
            </a:r>
          </a:p>
        </p:txBody>
      </p:sp>
      <p:graphicFrame>
        <p:nvGraphicFramePr>
          <p:cNvPr id="17" name="TextBox 4">
            <a:extLst>
              <a:ext uri="{FF2B5EF4-FFF2-40B4-BE49-F238E27FC236}">
                <a16:creationId xmlns:a16="http://schemas.microsoft.com/office/drawing/2014/main" id="{698B5BBC-D9D7-05F3-3252-A6D49D304DCB}"/>
              </a:ext>
            </a:extLst>
          </p:cNvPr>
          <p:cNvGraphicFramePr/>
          <p:nvPr>
            <p:extLst>
              <p:ext uri="{D42A27DB-BD31-4B8C-83A1-F6EECF244321}">
                <p14:modId xmlns:p14="http://schemas.microsoft.com/office/powerpoint/2010/main" val="2834227400"/>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156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78BE79-E235-D64D-A4CA-8ABE7E902E50}"/>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932A53-A485-4B45-7D61-EA469BECE761}"/>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defTabSz="914400">
              <a:lnSpc>
                <a:spcPct val="90000"/>
              </a:lnSpc>
            </a:pPr>
            <a:r>
              <a:rPr lang="en-US" sz="3500" kern="1200" dirty="0">
                <a:solidFill>
                  <a:srgbClr val="FFFFFF"/>
                </a:solidFill>
                <a:latin typeface="+mj-lt"/>
                <a:ea typeface="+mj-ea"/>
                <a:cs typeface="+mj-cs"/>
              </a:rPr>
              <a:t>Closer</a:t>
            </a:r>
          </a:p>
        </p:txBody>
      </p:sp>
      <p:sp>
        <p:nvSpPr>
          <p:cNvPr id="5" name="TextBox 4">
            <a:extLst>
              <a:ext uri="{FF2B5EF4-FFF2-40B4-BE49-F238E27FC236}">
                <a16:creationId xmlns:a16="http://schemas.microsoft.com/office/drawing/2014/main" id="{5D971E7C-640F-C02C-E12D-136654F51830}"/>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700" i="1"/>
              <a:t>“Generative AI is not just a technological tool but a strategic enabler of productivity, efficiency, and competitive advantage. This study provides a practical framework for organizations to measure and maximize returns from AI integration. By validating productivity gains through statistical evidence and introducing the AI Productivity Index, the research bridges the gap between individual task savings and organizational outcomes, offering a replicable model for future adoption strategies.”</a:t>
            </a:r>
            <a:endParaRPr lang="en-US" sz="1700"/>
          </a:p>
          <a:p>
            <a:pPr indent="-228600" defTabSz="914400">
              <a:lnSpc>
                <a:spcPct val="90000"/>
              </a:lnSpc>
              <a:spcAft>
                <a:spcPts val="600"/>
              </a:spcAft>
              <a:buFont typeface="Arial" panose="020B0604020202020204" pitchFamily="34" charset="0"/>
              <a:buChar char="•"/>
            </a:pPr>
            <a:r>
              <a:rPr lang="en-US" sz="1700"/>
              <a:t>.</a:t>
            </a:r>
          </a:p>
          <a:p>
            <a:pPr indent="-228600" defTabSz="914400">
              <a:lnSpc>
                <a:spcPct val="90000"/>
              </a:lnSpc>
              <a:spcAft>
                <a:spcPts val="600"/>
              </a:spcAft>
              <a:buFont typeface="Arial" panose="020B0604020202020204" pitchFamily="34" charset="0"/>
              <a:buChar char="•"/>
            </a:pPr>
            <a:endParaRPr lang="en-US" sz="1700"/>
          </a:p>
        </p:txBody>
      </p:sp>
    </p:spTree>
    <p:extLst>
      <p:ext uri="{BB962C8B-B14F-4D97-AF65-F5344CB8AC3E}">
        <p14:creationId xmlns:p14="http://schemas.microsoft.com/office/powerpoint/2010/main" val="792182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8DA98-8664-1607-F4F1-5F153AD5C255}"/>
              </a:ext>
            </a:extLst>
          </p:cNvPr>
          <p:cNvSpPr>
            <a:spLocks noGrp="1"/>
          </p:cNvSpPr>
          <p:nvPr>
            <p:ph type="title"/>
          </p:nvPr>
        </p:nvSpPr>
        <p:spPr>
          <a:xfrm>
            <a:off x="938889" y="1445342"/>
            <a:ext cx="7266222" cy="2694038"/>
          </a:xfrm>
        </p:spPr>
        <p:txBody>
          <a:bodyPr anchor="b">
            <a:normAutofit/>
          </a:bodyPr>
          <a:lstStyle/>
          <a:p>
            <a:r>
              <a:rPr lang="en-US" sz="6600" b="1" dirty="0"/>
              <a:t>Thank You</a:t>
            </a:r>
            <a:br>
              <a:rPr lang="en-IN" sz="3600" b="1" dirty="0"/>
            </a:br>
            <a:endParaRPr lang="en-IN" sz="3500" b="1" dirty="0"/>
          </a:p>
        </p:txBody>
      </p:sp>
      <p:sp>
        <p:nvSpPr>
          <p:cNvPr id="23" name="Rectangle 2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25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591</TotalTime>
  <Words>1705</Words>
  <Application>Microsoft Office PowerPoint</Application>
  <PresentationFormat>On-screen Show (4:3)</PresentationFormat>
  <Paragraphs>163</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Analytics for Competitive Advantage: Measuring Productivity Improvements from Generative AI</vt:lpstr>
      <vt:lpstr>Background</vt:lpstr>
      <vt:lpstr>Objectives &amp; Scope</vt:lpstr>
      <vt:lpstr>Literature Review – Key Themes</vt:lpstr>
      <vt:lpstr>Literature Review – Research Gaps</vt:lpstr>
      <vt:lpstr>Research Methodology – Framework &amp; Approach</vt:lpstr>
      <vt:lpstr>Data Collection &amp; Progress</vt:lpstr>
      <vt:lpstr>Assumptions</vt:lpstr>
      <vt:lpstr>Hypothesis Testing</vt:lpstr>
      <vt:lpstr>Hypothesis Testing Results</vt:lpstr>
      <vt:lpstr>Key Findings</vt:lpstr>
      <vt:lpstr>Key Findings</vt:lpstr>
      <vt:lpstr>Dashboards (Power BI)</vt:lpstr>
      <vt:lpstr>Dashboards (Power BI)</vt:lpstr>
      <vt:lpstr>Dashboards (Power BI)</vt:lpstr>
      <vt:lpstr>Conclusion</vt:lpstr>
      <vt:lpstr>Recommendations</vt:lpstr>
      <vt:lpstr>Future Scope</vt:lpstr>
      <vt:lpstr>Closer</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ANKITA SAHU .</cp:lastModifiedBy>
  <cp:revision>8</cp:revision>
  <dcterms:created xsi:type="dcterms:W3CDTF">2013-01-27T09:14:16Z</dcterms:created>
  <dcterms:modified xsi:type="dcterms:W3CDTF">2026-05-28T13:26:37Z</dcterms:modified>
  <cp:category/>
</cp:coreProperties>
</file>